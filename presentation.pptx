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Poppins" charset="1" panose="00000500000000000000"/>
      <p:regular r:id="rId31"/>
    </p:embeddedFont>
    <p:embeddedFont>
      <p:font typeface="Poppins Bold" charset="1" panose="000008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grpSp>
        <p:nvGrpSpPr>
          <p:cNvPr name="Group 2" id="2"/>
          <p:cNvGrpSpPr/>
          <p:nvPr/>
        </p:nvGrpSpPr>
        <p:grpSpPr>
          <a:xfrm rot="0">
            <a:off x="1364956" y="2011055"/>
            <a:ext cx="15651893" cy="2333403"/>
            <a:chOff x="0" y="0"/>
            <a:chExt cx="2424888" cy="361505"/>
          </a:xfrm>
        </p:grpSpPr>
        <p:sp>
          <p:nvSpPr>
            <p:cNvPr name="Freeform 3" id="3"/>
            <p:cNvSpPr/>
            <p:nvPr/>
          </p:nvSpPr>
          <p:spPr>
            <a:xfrm flipH="false" flipV="false" rot="0">
              <a:off x="0" y="0"/>
              <a:ext cx="2424888" cy="361505"/>
            </a:xfrm>
            <a:custGeom>
              <a:avLst/>
              <a:gdLst/>
              <a:ahLst/>
              <a:cxnLst/>
              <a:rect r="r" b="b" t="t" l="l"/>
              <a:pathLst>
                <a:path h="361505" w="2424888">
                  <a:moveTo>
                    <a:pt x="0" y="0"/>
                  </a:moveTo>
                  <a:lnTo>
                    <a:pt x="2424888" y="0"/>
                  </a:lnTo>
                  <a:lnTo>
                    <a:pt x="2424888" y="361505"/>
                  </a:lnTo>
                  <a:lnTo>
                    <a:pt x="0" y="361505"/>
                  </a:lnTo>
                  <a:close/>
                </a:path>
              </a:pathLst>
            </a:custGeom>
            <a:blipFill>
              <a:blip r:embed="rId2"/>
              <a:stretch>
                <a:fillRect l="0" t="-174404" r="0" b="-174404"/>
              </a:stretch>
            </a:blipFill>
          </p:spPr>
        </p:sp>
      </p:gr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3"/>
            <a:stretch>
              <a:fillRect l="0" t="0" r="0" b="0"/>
            </a:stretch>
          </a:blipFill>
        </p:spPr>
      </p:sp>
      <p:sp>
        <p:nvSpPr>
          <p:cNvPr name="TextBox 5" id="5"/>
          <p:cNvSpPr txBox="true"/>
          <p:nvPr/>
        </p:nvSpPr>
        <p:spPr>
          <a:xfrm rot="0">
            <a:off x="1364956" y="5181600"/>
            <a:ext cx="13412718" cy="1869570"/>
          </a:xfrm>
          <a:prstGeom prst="rect">
            <a:avLst/>
          </a:prstGeom>
        </p:spPr>
        <p:txBody>
          <a:bodyPr anchor="t" rtlCol="false" tIns="0" lIns="0" bIns="0" rIns="0">
            <a:spAutoFit/>
          </a:bodyPr>
          <a:lstStyle/>
          <a:p>
            <a:pPr algn="l">
              <a:lnSpc>
                <a:spcPts val="4794"/>
              </a:lnSpc>
            </a:pPr>
            <a:r>
              <a:rPr lang="en-US" sz="4700">
                <a:solidFill>
                  <a:srgbClr val="333333"/>
                </a:solidFill>
                <a:latin typeface="Poppins"/>
                <a:ea typeface="Poppins"/>
                <a:cs typeface="Poppins"/>
                <a:sym typeface="Poppins"/>
              </a:rPr>
              <a:t>AI-Driven Geospatial Intelligence System</a:t>
            </a:r>
          </a:p>
          <a:p>
            <a:pPr algn="l">
              <a:lnSpc>
                <a:spcPts val="4794"/>
              </a:lnSpc>
            </a:pPr>
            <a:r>
              <a:rPr lang="en-US" sz="4700">
                <a:solidFill>
                  <a:srgbClr val="333333"/>
                </a:solidFill>
                <a:latin typeface="Poppins"/>
                <a:ea typeface="Poppins"/>
                <a:cs typeface="Poppins"/>
                <a:sym typeface="Poppins"/>
              </a:rPr>
              <a:t>Automated Land Feature Segmentation &amp; Analysis</a:t>
            </a:r>
          </a:p>
        </p:txBody>
      </p:sp>
      <p:sp>
        <p:nvSpPr>
          <p:cNvPr name="TextBox 6" id="6"/>
          <p:cNvSpPr txBox="true"/>
          <p:nvPr/>
        </p:nvSpPr>
        <p:spPr>
          <a:xfrm rot="0">
            <a:off x="10713785" y="7360920"/>
            <a:ext cx="6545515" cy="1953895"/>
          </a:xfrm>
          <a:prstGeom prst="rect">
            <a:avLst/>
          </a:prstGeom>
        </p:spPr>
        <p:txBody>
          <a:bodyPr anchor="t" rtlCol="false" tIns="0" lIns="0" bIns="0" rIns="0">
            <a:spAutoFit/>
          </a:bodyPr>
          <a:lstStyle/>
          <a:p>
            <a:pPr algn="r">
              <a:lnSpc>
                <a:spcPts val="3079"/>
              </a:lnSpc>
            </a:pPr>
            <a:r>
              <a:rPr lang="en-US" sz="2199">
                <a:solidFill>
                  <a:srgbClr val="333333"/>
                </a:solidFill>
                <a:latin typeface="Poppins"/>
                <a:ea typeface="Poppins"/>
                <a:cs typeface="Poppins"/>
                <a:sym typeface="Poppins"/>
              </a:rPr>
              <a:t>JASHWANTH B</a:t>
            </a:r>
          </a:p>
          <a:p>
            <a:pPr algn="r">
              <a:lnSpc>
                <a:spcPts val="3079"/>
              </a:lnSpc>
            </a:pPr>
            <a:r>
              <a:rPr lang="en-US" sz="2199">
                <a:solidFill>
                  <a:srgbClr val="333333"/>
                </a:solidFill>
                <a:latin typeface="Poppins"/>
                <a:ea typeface="Poppins"/>
                <a:cs typeface="Poppins"/>
                <a:sym typeface="Poppins"/>
              </a:rPr>
              <a:t>TEJESHWAR SENTHILKUMAR</a:t>
            </a:r>
          </a:p>
          <a:p>
            <a:pPr algn="r">
              <a:lnSpc>
                <a:spcPts val="3079"/>
              </a:lnSpc>
            </a:pPr>
            <a:r>
              <a:rPr lang="en-US" sz="2199">
                <a:solidFill>
                  <a:srgbClr val="333333"/>
                </a:solidFill>
                <a:latin typeface="Poppins"/>
                <a:ea typeface="Poppins"/>
                <a:cs typeface="Poppins"/>
                <a:sym typeface="Poppins"/>
              </a:rPr>
              <a:t>KRISHITA SATISH KUMAR</a:t>
            </a:r>
          </a:p>
          <a:p>
            <a:pPr algn="r">
              <a:lnSpc>
                <a:spcPts val="3079"/>
              </a:lnSpc>
            </a:pPr>
            <a:r>
              <a:rPr lang="en-US" sz="2199">
                <a:solidFill>
                  <a:srgbClr val="333333"/>
                </a:solidFill>
                <a:latin typeface="Poppins"/>
                <a:ea typeface="Poppins"/>
                <a:cs typeface="Poppins"/>
                <a:sym typeface="Poppins"/>
              </a:rPr>
              <a:t>ANUGRAH UPADHYAY</a:t>
            </a:r>
          </a:p>
          <a:p>
            <a:pPr algn="r">
              <a:lnSpc>
                <a:spcPts val="3079"/>
              </a:lnSpc>
            </a:pPr>
            <a:r>
              <a:rPr lang="en-US" sz="2199">
                <a:solidFill>
                  <a:srgbClr val="333333"/>
                </a:solidFill>
                <a:latin typeface="Poppins"/>
                <a:ea typeface="Poppins"/>
                <a:cs typeface="Poppins"/>
                <a:sym typeface="Poppins"/>
              </a:rPr>
              <a:t>SAYANI BHARATH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587150" y="1256700"/>
            <a:ext cx="11795354" cy="1166455"/>
          </a:xfrm>
          <a:prstGeom prst="rect">
            <a:avLst/>
          </a:prstGeom>
        </p:spPr>
        <p:txBody>
          <a:bodyPr anchor="t" rtlCol="false" tIns="0" lIns="0" bIns="0" rIns="0">
            <a:spAutoFit/>
          </a:bodyPr>
          <a:lstStyle/>
          <a:p>
            <a:pPr algn="ctr">
              <a:lnSpc>
                <a:spcPts val="8271"/>
              </a:lnSpc>
            </a:pPr>
            <a:r>
              <a:rPr lang="en-US" sz="8109" b="true">
                <a:solidFill>
                  <a:srgbClr val="333333"/>
                </a:solidFill>
                <a:latin typeface="Poppins Bold"/>
                <a:ea typeface="Poppins Bold"/>
                <a:cs typeface="Poppins Bold"/>
                <a:sym typeface="Poppins Bold"/>
              </a:rPr>
              <a:t> Problem Statement</a:t>
            </a:r>
          </a:p>
        </p:txBody>
      </p:sp>
      <p:sp>
        <p:nvSpPr>
          <p:cNvPr name="TextBox 3" id="3"/>
          <p:cNvSpPr txBox="true"/>
          <p:nvPr/>
        </p:nvSpPr>
        <p:spPr>
          <a:xfrm rot="0">
            <a:off x="1413928" y="2966080"/>
            <a:ext cx="13640104" cy="1224232"/>
          </a:xfrm>
          <a:prstGeom prst="rect">
            <a:avLst/>
          </a:prstGeom>
        </p:spPr>
        <p:txBody>
          <a:bodyPr anchor="t" rtlCol="false" tIns="0" lIns="0" bIns="0" rIns="0">
            <a:spAutoFit/>
          </a:bodyPr>
          <a:lstStyle/>
          <a:p>
            <a:pPr algn="l">
              <a:lnSpc>
                <a:spcPts val="4715"/>
              </a:lnSpc>
            </a:pPr>
            <a:r>
              <a:rPr lang="en-US" sz="3962" b="true">
                <a:solidFill>
                  <a:srgbClr val="333333"/>
                </a:solidFill>
                <a:latin typeface="Poppins Bold"/>
                <a:ea typeface="Poppins Bold"/>
                <a:cs typeface="Poppins Bold"/>
                <a:sym typeface="Poppins Bold"/>
              </a:rPr>
              <a:t>Manual geospatial analysis is slow, inconsistent, and not scalable.</a:t>
            </a:r>
          </a:p>
        </p:txBody>
      </p:sp>
      <p:grpSp>
        <p:nvGrpSpPr>
          <p:cNvPr name="Group 4" id="4"/>
          <p:cNvGrpSpPr/>
          <p:nvPr/>
        </p:nvGrpSpPr>
        <p:grpSpPr>
          <a:xfrm rot="0">
            <a:off x="1413928" y="4773901"/>
            <a:ext cx="7103932" cy="2714678"/>
            <a:chOff x="0" y="0"/>
            <a:chExt cx="2233331" cy="853439"/>
          </a:xfrm>
        </p:grpSpPr>
        <p:sp>
          <p:nvSpPr>
            <p:cNvPr name="Freeform 5" id="5"/>
            <p:cNvSpPr/>
            <p:nvPr/>
          </p:nvSpPr>
          <p:spPr>
            <a:xfrm flipH="false" flipV="false" rot="0">
              <a:off x="0" y="0"/>
              <a:ext cx="2233331" cy="853439"/>
            </a:xfrm>
            <a:custGeom>
              <a:avLst/>
              <a:gdLst/>
              <a:ahLst/>
              <a:cxnLst/>
              <a:rect r="r" b="b" t="t" l="l"/>
              <a:pathLst>
                <a:path h="853439" w="2233331">
                  <a:moveTo>
                    <a:pt x="0" y="0"/>
                  </a:moveTo>
                  <a:lnTo>
                    <a:pt x="2233331" y="0"/>
                  </a:lnTo>
                  <a:lnTo>
                    <a:pt x="2233331" y="853439"/>
                  </a:lnTo>
                  <a:lnTo>
                    <a:pt x="0" y="853439"/>
                  </a:lnTo>
                  <a:close/>
                </a:path>
              </a:pathLst>
            </a:custGeom>
            <a:solidFill>
              <a:srgbClr val="E0E8D1"/>
            </a:solidFill>
            <a:ln w="9525" cap="sq">
              <a:solidFill>
                <a:srgbClr val="333333"/>
              </a:solidFill>
              <a:prstDash val="solid"/>
              <a:miter/>
            </a:ln>
          </p:spPr>
        </p:sp>
        <p:sp>
          <p:nvSpPr>
            <p:cNvPr name="TextBox 6" id="6"/>
            <p:cNvSpPr txBox="true"/>
            <p:nvPr/>
          </p:nvSpPr>
          <p:spPr>
            <a:xfrm>
              <a:off x="0" y="-47625"/>
              <a:ext cx="2233331" cy="901064"/>
            </a:xfrm>
            <a:prstGeom prst="rect">
              <a:avLst/>
            </a:prstGeom>
          </p:spPr>
          <p:txBody>
            <a:bodyPr anchor="ctr" rtlCol="false" tIns="50800" lIns="50800" bIns="50800" rIns="50800"/>
            <a:lstStyle/>
            <a:p>
              <a:pPr algn="ctr">
                <a:lnSpc>
                  <a:spcPts val="3220"/>
                </a:lnSpc>
              </a:pPr>
            </a:p>
          </p:txBody>
        </p:sp>
      </p:grpSp>
      <p:sp>
        <p:nvSpPr>
          <p:cNvPr name="TextBox 7" id="7"/>
          <p:cNvSpPr txBox="true"/>
          <p:nvPr/>
        </p:nvSpPr>
        <p:spPr>
          <a:xfrm rot="0">
            <a:off x="1693137" y="5103175"/>
            <a:ext cx="6545515" cy="1989455"/>
          </a:xfrm>
          <a:prstGeom prst="rect">
            <a:avLst/>
          </a:prstGeom>
        </p:spPr>
        <p:txBody>
          <a:bodyPr anchor="t" rtlCol="false" tIns="0" lIns="0" bIns="0" rIns="0">
            <a:spAutoFit/>
          </a:bodyPr>
          <a:lstStyle/>
          <a:p>
            <a:pPr algn="just">
              <a:lnSpc>
                <a:spcPts val="3359"/>
              </a:lnSpc>
            </a:pPr>
            <a:r>
              <a:rPr lang="en-US" sz="2399" b="true">
                <a:solidFill>
                  <a:srgbClr val="333333"/>
                </a:solidFill>
                <a:latin typeface="Poppins Bold"/>
                <a:ea typeface="Poppins Bold"/>
                <a:cs typeface="Poppins Bold"/>
                <a:sym typeface="Poppins Bold"/>
              </a:rPr>
              <a:t>Satellite imagery is underutilized due to:</a:t>
            </a:r>
          </a:p>
          <a:p>
            <a:pPr algn="just">
              <a:lnSpc>
                <a:spcPts val="3079"/>
              </a:lnSpc>
            </a:pPr>
          </a:p>
          <a:p>
            <a:pPr algn="l" marL="474978" indent="-237489" lvl="1">
              <a:lnSpc>
                <a:spcPts val="3079"/>
              </a:lnSpc>
              <a:buFont typeface="Arial"/>
              <a:buChar char="•"/>
            </a:pPr>
            <a:r>
              <a:rPr lang="en-US" sz="2199">
                <a:solidFill>
                  <a:srgbClr val="333333"/>
                </a:solidFill>
                <a:latin typeface="Poppins"/>
                <a:ea typeface="Poppins"/>
                <a:cs typeface="Poppins"/>
                <a:sym typeface="Poppins"/>
              </a:rPr>
              <a:t>  Heavy reliance on manual interpretation</a:t>
            </a:r>
          </a:p>
          <a:p>
            <a:pPr algn="l" marL="474978" indent="-237489" lvl="1">
              <a:lnSpc>
                <a:spcPts val="3079"/>
              </a:lnSpc>
              <a:buFont typeface="Arial"/>
              <a:buChar char="•"/>
            </a:pPr>
            <a:r>
              <a:rPr lang="en-US" sz="2199">
                <a:solidFill>
                  <a:srgbClr val="333333"/>
                </a:solidFill>
                <a:latin typeface="Poppins"/>
                <a:ea typeface="Poppins"/>
                <a:cs typeface="Poppins"/>
                <a:sym typeface="Poppins"/>
              </a:rPr>
              <a:t>  High time &amp; cost</a:t>
            </a:r>
          </a:p>
          <a:p>
            <a:pPr algn="l" marL="474978" indent="-237489" lvl="1">
              <a:lnSpc>
                <a:spcPts val="3079"/>
              </a:lnSpc>
              <a:buFont typeface="Arial"/>
              <a:buChar char="•"/>
            </a:pPr>
            <a:r>
              <a:rPr lang="en-US" sz="2199">
                <a:solidFill>
                  <a:srgbClr val="333333"/>
                </a:solidFill>
                <a:latin typeface="Poppins"/>
                <a:ea typeface="Poppins"/>
                <a:cs typeface="Poppins"/>
                <a:sym typeface="Poppins"/>
              </a:rPr>
              <a:t>  Lack of automation at scale</a:t>
            </a:r>
          </a:p>
        </p:txBody>
      </p:sp>
      <p:grpSp>
        <p:nvGrpSpPr>
          <p:cNvPr name="Group 8" id="8"/>
          <p:cNvGrpSpPr/>
          <p:nvPr/>
        </p:nvGrpSpPr>
        <p:grpSpPr>
          <a:xfrm rot="0">
            <a:off x="9770140" y="4773901"/>
            <a:ext cx="7103932" cy="2714678"/>
            <a:chOff x="0" y="0"/>
            <a:chExt cx="2233331" cy="853439"/>
          </a:xfrm>
        </p:grpSpPr>
        <p:sp>
          <p:nvSpPr>
            <p:cNvPr name="Freeform 9" id="9"/>
            <p:cNvSpPr/>
            <p:nvPr/>
          </p:nvSpPr>
          <p:spPr>
            <a:xfrm flipH="false" flipV="false" rot="0">
              <a:off x="0" y="0"/>
              <a:ext cx="2233331" cy="853439"/>
            </a:xfrm>
            <a:custGeom>
              <a:avLst/>
              <a:gdLst/>
              <a:ahLst/>
              <a:cxnLst/>
              <a:rect r="r" b="b" t="t" l="l"/>
              <a:pathLst>
                <a:path h="853439" w="2233331">
                  <a:moveTo>
                    <a:pt x="0" y="0"/>
                  </a:moveTo>
                  <a:lnTo>
                    <a:pt x="2233331" y="0"/>
                  </a:lnTo>
                  <a:lnTo>
                    <a:pt x="2233331" y="853439"/>
                  </a:lnTo>
                  <a:lnTo>
                    <a:pt x="0" y="853439"/>
                  </a:lnTo>
                  <a:close/>
                </a:path>
              </a:pathLst>
            </a:custGeom>
            <a:solidFill>
              <a:srgbClr val="E0E8D1"/>
            </a:solidFill>
            <a:ln w="9525" cap="sq">
              <a:solidFill>
                <a:srgbClr val="333333"/>
              </a:solidFill>
              <a:prstDash val="solid"/>
              <a:miter/>
            </a:ln>
          </p:spPr>
        </p:sp>
        <p:sp>
          <p:nvSpPr>
            <p:cNvPr name="TextBox 10" id="10"/>
            <p:cNvSpPr txBox="true"/>
            <p:nvPr/>
          </p:nvSpPr>
          <p:spPr>
            <a:xfrm>
              <a:off x="0" y="-47625"/>
              <a:ext cx="2233331" cy="901064"/>
            </a:xfrm>
            <a:prstGeom prst="rect">
              <a:avLst/>
            </a:prstGeom>
          </p:spPr>
          <p:txBody>
            <a:bodyPr anchor="ctr" rtlCol="false" tIns="50800" lIns="50800" bIns="50800" rIns="50800"/>
            <a:lstStyle/>
            <a:p>
              <a:pPr algn="ctr">
                <a:lnSpc>
                  <a:spcPts val="3220"/>
                </a:lnSpc>
              </a:pPr>
            </a:p>
          </p:txBody>
        </p:sp>
      </p:grpSp>
      <p:sp>
        <p:nvSpPr>
          <p:cNvPr name="TextBox 11" id="11"/>
          <p:cNvSpPr txBox="true"/>
          <p:nvPr/>
        </p:nvSpPr>
        <p:spPr>
          <a:xfrm rot="0">
            <a:off x="10145072" y="5112700"/>
            <a:ext cx="6354068" cy="1563370"/>
          </a:xfrm>
          <a:prstGeom prst="rect">
            <a:avLst/>
          </a:prstGeom>
        </p:spPr>
        <p:txBody>
          <a:bodyPr anchor="t" rtlCol="false" tIns="0" lIns="0" bIns="0" rIns="0">
            <a:spAutoFit/>
          </a:bodyPr>
          <a:lstStyle/>
          <a:p>
            <a:pPr algn="just">
              <a:lnSpc>
                <a:spcPts val="3079"/>
              </a:lnSpc>
              <a:spcBef>
                <a:spcPct val="0"/>
              </a:spcBef>
            </a:pPr>
            <a:r>
              <a:rPr lang="en-US" b="true" sz="2199" strike="noStrike" u="none">
                <a:solidFill>
                  <a:srgbClr val="333333"/>
                </a:solidFill>
                <a:latin typeface="Poppins Bold"/>
                <a:ea typeface="Poppins Bold"/>
                <a:cs typeface="Poppins Bold"/>
                <a:sym typeface="Poppins Bold"/>
              </a:rPr>
              <a:t>Rural &amp; semi-urban regions suffer from:</a:t>
            </a:r>
          </a:p>
          <a:p>
            <a:pPr algn="just">
              <a:lnSpc>
                <a:spcPts val="3079"/>
              </a:lnSpc>
              <a:spcBef>
                <a:spcPct val="0"/>
              </a:spcBef>
            </a:pPr>
          </a:p>
          <a:p>
            <a:pPr algn="just" marL="474978" indent="-237489" lvl="1">
              <a:lnSpc>
                <a:spcPts val="3079"/>
              </a:lnSpc>
              <a:spcBef>
                <a:spcPct val="0"/>
              </a:spcBef>
              <a:buFont typeface="Arial"/>
              <a:buChar char="•"/>
            </a:pPr>
            <a:r>
              <a:rPr lang="en-US" sz="2199" strike="noStrike" u="none">
                <a:solidFill>
                  <a:srgbClr val="333333"/>
                </a:solidFill>
                <a:latin typeface="Poppins"/>
                <a:ea typeface="Poppins"/>
                <a:cs typeface="Poppins"/>
                <a:sym typeface="Poppins"/>
              </a:rPr>
              <a:t>  Poor infrastructure visibility</a:t>
            </a:r>
          </a:p>
          <a:p>
            <a:pPr algn="just" marL="474978" indent="-237489" lvl="1">
              <a:lnSpc>
                <a:spcPts val="3079"/>
              </a:lnSpc>
              <a:spcBef>
                <a:spcPct val="0"/>
              </a:spcBef>
              <a:buFont typeface="Arial"/>
              <a:buChar char="•"/>
            </a:pPr>
            <a:r>
              <a:rPr lang="en-US" sz="2199" strike="noStrike" u="none">
                <a:solidFill>
                  <a:srgbClr val="333333"/>
                </a:solidFill>
                <a:latin typeface="Poppins"/>
                <a:ea typeface="Poppins"/>
                <a:cs typeface="Poppins"/>
                <a:sym typeface="Poppins"/>
              </a:rPr>
              <a:t>  Inefficient planning &amp; resource allocation</a:t>
            </a:r>
          </a:p>
        </p:txBody>
      </p:sp>
      <p:sp>
        <p:nvSpPr>
          <p:cNvPr name="TextBox 12" id="12"/>
          <p:cNvSpPr txBox="true"/>
          <p:nvPr/>
        </p:nvSpPr>
        <p:spPr>
          <a:xfrm rot="0">
            <a:off x="1418600" y="8034068"/>
            <a:ext cx="13640104" cy="1224232"/>
          </a:xfrm>
          <a:prstGeom prst="rect">
            <a:avLst/>
          </a:prstGeom>
        </p:spPr>
        <p:txBody>
          <a:bodyPr anchor="t" rtlCol="false" tIns="0" lIns="0" bIns="0" rIns="0">
            <a:spAutoFit/>
          </a:bodyPr>
          <a:lstStyle/>
          <a:p>
            <a:pPr algn="l">
              <a:lnSpc>
                <a:spcPts val="4715"/>
              </a:lnSpc>
            </a:pPr>
            <a:r>
              <a:rPr lang="en-US" sz="3962" b="true">
                <a:solidFill>
                  <a:srgbClr val="333333"/>
                </a:solidFill>
                <a:latin typeface="Poppins Bold"/>
                <a:ea typeface="Poppins Bold"/>
                <a:cs typeface="Poppins Bold"/>
                <a:sym typeface="Poppins Bold"/>
              </a:rPr>
              <a:t>We cannot scale development if we cannot scale understanding of land.</a:t>
            </a:r>
          </a:p>
        </p:txBody>
      </p:sp>
      <p:sp>
        <p:nvSpPr>
          <p:cNvPr name="Freeform 13" id="1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grpSp>
        <p:nvGrpSpPr>
          <p:cNvPr name="Group 2" id="2"/>
          <p:cNvGrpSpPr/>
          <p:nvPr/>
        </p:nvGrpSpPr>
        <p:grpSpPr>
          <a:xfrm rot="0">
            <a:off x="3959425" y="2842152"/>
            <a:ext cx="4180920" cy="2924618"/>
            <a:chOff x="0" y="0"/>
            <a:chExt cx="1314396" cy="919440"/>
          </a:xfrm>
        </p:grpSpPr>
        <p:sp>
          <p:nvSpPr>
            <p:cNvPr name="Freeform 3" id="3"/>
            <p:cNvSpPr/>
            <p:nvPr/>
          </p:nvSpPr>
          <p:spPr>
            <a:xfrm flipH="false" flipV="false" rot="0">
              <a:off x="0" y="0"/>
              <a:ext cx="1314396" cy="919440"/>
            </a:xfrm>
            <a:custGeom>
              <a:avLst/>
              <a:gdLst/>
              <a:ahLst/>
              <a:cxnLst/>
              <a:rect r="r" b="b" t="t" l="l"/>
              <a:pathLst>
                <a:path h="919440" w="1314396">
                  <a:moveTo>
                    <a:pt x="0" y="0"/>
                  </a:moveTo>
                  <a:lnTo>
                    <a:pt x="1314396" y="0"/>
                  </a:lnTo>
                  <a:lnTo>
                    <a:pt x="1314396" y="919440"/>
                  </a:lnTo>
                  <a:lnTo>
                    <a:pt x="0" y="919440"/>
                  </a:lnTo>
                  <a:close/>
                </a:path>
              </a:pathLst>
            </a:custGeom>
            <a:solidFill>
              <a:srgbClr val="F2ECE2"/>
            </a:solidFill>
            <a:ln w="9525" cap="sq">
              <a:solidFill>
                <a:srgbClr val="333333"/>
              </a:solidFill>
              <a:prstDash val="solid"/>
              <a:miter/>
            </a:ln>
          </p:spPr>
        </p:sp>
        <p:sp>
          <p:nvSpPr>
            <p:cNvPr name="TextBox 4" id="4"/>
            <p:cNvSpPr txBox="true"/>
            <p:nvPr/>
          </p:nvSpPr>
          <p:spPr>
            <a:xfrm>
              <a:off x="0" y="-47625"/>
              <a:ext cx="1314396" cy="967065"/>
            </a:xfrm>
            <a:prstGeom prst="rect">
              <a:avLst/>
            </a:prstGeom>
          </p:spPr>
          <p:txBody>
            <a:bodyPr anchor="ctr" rtlCol="false" tIns="50800" lIns="50800" bIns="50800" rIns="50800"/>
            <a:lstStyle/>
            <a:p>
              <a:pPr algn="ctr">
                <a:lnSpc>
                  <a:spcPts val="3220"/>
                </a:lnSpc>
              </a:pPr>
            </a:p>
          </p:txBody>
        </p:sp>
      </p:grpSp>
      <p:grpSp>
        <p:nvGrpSpPr>
          <p:cNvPr name="Group 5" id="5"/>
          <p:cNvGrpSpPr/>
          <p:nvPr/>
        </p:nvGrpSpPr>
        <p:grpSpPr>
          <a:xfrm rot="0">
            <a:off x="3959425" y="6042995"/>
            <a:ext cx="4180920" cy="2924618"/>
            <a:chOff x="0" y="0"/>
            <a:chExt cx="1314396" cy="919440"/>
          </a:xfrm>
        </p:grpSpPr>
        <p:sp>
          <p:nvSpPr>
            <p:cNvPr name="Freeform 6" id="6"/>
            <p:cNvSpPr/>
            <p:nvPr/>
          </p:nvSpPr>
          <p:spPr>
            <a:xfrm flipH="false" flipV="false" rot="0">
              <a:off x="0" y="0"/>
              <a:ext cx="1314396" cy="919440"/>
            </a:xfrm>
            <a:custGeom>
              <a:avLst/>
              <a:gdLst/>
              <a:ahLst/>
              <a:cxnLst/>
              <a:rect r="r" b="b" t="t" l="l"/>
              <a:pathLst>
                <a:path h="919440" w="1314396">
                  <a:moveTo>
                    <a:pt x="0" y="0"/>
                  </a:moveTo>
                  <a:lnTo>
                    <a:pt x="1314396" y="0"/>
                  </a:lnTo>
                  <a:lnTo>
                    <a:pt x="1314396" y="919440"/>
                  </a:lnTo>
                  <a:lnTo>
                    <a:pt x="0" y="919440"/>
                  </a:lnTo>
                  <a:close/>
                </a:path>
              </a:pathLst>
            </a:custGeom>
            <a:solidFill>
              <a:srgbClr val="F2ECE2"/>
            </a:solidFill>
            <a:ln w="9525" cap="sq">
              <a:solidFill>
                <a:srgbClr val="333333"/>
              </a:solidFill>
              <a:prstDash val="solid"/>
              <a:miter/>
            </a:ln>
          </p:spPr>
        </p:sp>
        <p:sp>
          <p:nvSpPr>
            <p:cNvPr name="TextBox 7" id="7"/>
            <p:cNvSpPr txBox="true"/>
            <p:nvPr/>
          </p:nvSpPr>
          <p:spPr>
            <a:xfrm>
              <a:off x="0" y="-47625"/>
              <a:ext cx="1314396" cy="967065"/>
            </a:xfrm>
            <a:prstGeom prst="rect">
              <a:avLst/>
            </a:prstGeom>
          </p:spPr>
          <p:txBody>
            <a:bodyPr anchor="ctr" rtlCol="false" tIns="50800" lIns="50800" bIns="50800" rIns="50800"/>
            <a:lstStyle/>
            <a:p>
              <a:pPr algn="ctr">
                <a:lnSpc>
                  <a:spcPts val="3220"/>
                </a:lnSpc>
              </a:pPr>
            </a:p>
          </p:txBody>
        </p:sp>
      </p:grpSp>
      <p:grpSp>
        <p:nvGrpSpPr>
          <p:cNvPr name="Group 8" id="8"/>
          <p:cNvGrpSpPr/>
          <p:nvPr/>
        </p:nvGrpSpPr>
        <p:grpSpPr>
          <a:xfrm rot="0">
            <a:off x="10147655" y="2842152"/>
            <a:ext cx="4180920" cy="2924618"/>
            <a:chOff x="0" y="0"/>
            <a:chExt cx="1314396" cy="919440"/>
          </a:xfrm>
        </p:grpSpPr>
        <p:sp>
          <p:nvSpPr>
            <p:cNvPr name="Freeform 9" id="9"/>
            <p:cNvSpPr/>
            <p:nvPr/>
          </p:nvSpPr>
          <p:spPr>
            <a:xfrm flipH="false" flipV="false" rot="0">
              <a:off x="0" y="0"/>
              <a:ext cx="1314396" cy="919440"/>
            </a:xfrm>
            <a:custGeom>
              <a:avLst/>
              <a:gdLst/>
              <a:ahLst/>
              <a:cxnLst/>
              <a:rect r="r" b="b" t="t" l="l"/>
              <a:pathLst>
                <a:path h="919440" w="1314396">
                  <a:moveTo>
                    <a:pt x="0" y="0"/>
                  </a:moveTo>
                  <a:lnTo>
                    <a:pt x="1314396" y="0"/>
                  </a:lnTo>
                  <a:lnTo>
                    <a:pt x="1314396" y="919440"/>
                  </a:lnTo>
                  <a:lnTo>
                    <a:pt x="0" y="919440"/>
                  </a:lnTo>
                  <a:close/>
                </a:path>
              </a:pathLst>
            </a:custGeom>
            <a:solidFill>
              <a:srgbClr val="F2ECE2"/>
            </a:solidFill>
            <a:ln w="9525" cap="sq">
              <a:solidFill>
                <a:srgbClr val="333333"/>
              </a:solidFill>
              <a:prstDash val="solid"/>
              <a:miter/>
            </a:ln>
          </p:spPr>
        </p:sp>
        <p:sp>
          <p:nvSpPr>
            <p:cNvPr name="TextBox 10" id="10"/>
            <p:cNvSpPr txBox="true"/>
            <p:nvPr/>
          </p:nvSpPr>
          <p:spPr>
            <a:xfrm>
              <a:off x="0" y="-47625"/>
              <a:ext cx="1314396" cy="967065"/>
            </a:xfrm>
            <a:prstGeom prst="rect">
              <a:avLst/>
            </a:prstGeom>
          </p:spPr>
          <p:txBody>
            <a:bodyPr anchor="ctr" rtlCol="false" tIns="50800" lIns="50800" bIns="50800" rIns="50800"/>
            <a:lstStyle/>
            <a:p>
              <a:pPr algn="ctr">
                <a:lnSpc>
                  <a:spcPts val="3220"/>
                </a:lnSpc>
              </a:pPr>
            </a:p>
          </p:txBody>
        </p:sp>
      </p:grpSp>
      <p:grpSp>
        <p:nvGrpSpPr>
          <p:cNvPr name="Group 11" id="11"/>
          <p:cNvGrpSpPr/>
          <p:nvPr/>
        </p:nvGrpSpPr>
        <p:grpSpPr>
          <a:xfrm rot="0">
            <a:off x="10147655" y="6042995"/>
            <a:ext cx="4180920" cy="2924618"/>
            <a:chOff x="0" y="0"/>
            <a:chExt cx="1314396" cy="919440"/>
          </a:xfrm>
        </p:grpSpPr>
        <p:sp>
          <p:nvSpPr>
            <p:cNvPr name="Freeform 12" id="12"/>
            <p:cNvSpPr/>
            <p:nvPr/>
          </p:nvSpPr>
          <p:spPr>
            <a:xfrm flipH="false" flipV="false" rot="0">
              <a:off x="0" y="0"/>
              <a:ext cx="1314396" cy="919440"/>
            </a:xfrm>
            <a:custGeom>
              <a:avLst/>
              <a:gdLst/>
              <a:ahLst/>
              <a:cxnLst/>
              <a:rect r="r" b="b" t="t" l="l"/>
              <a:pathLst>
                <a:path h="919440" w="1314396">
                  <a:moveTo>
                    <a:pt x="0" y="0"/>
                  </a:moveTo>
                  <a:lnTo>
                    <a:pt x="1314396" y="0"/>
                  </a:lnTo>
                  <a:lnTo>
                    <a:pt x="1314396" y="919440"/>
                  </a:lnTo>
                  <a:lnTo>
                    <a:pt x="0" y="919440"/>
                  </a:lnTo>
                  <a:close/>
                </a:path>
              </a:pathLst>
            </a:custGeom>
            <a:solidFill>
              <a:srgbClr val="F2ECE2"/>
            </a:solidFill>
            <a:ln w="9525" cap="sq">
              <a:solidFill>
                <a:srgbClr val="333333"/>
              </a:solidFill>
              <a:prstDash val="solid"/>
              <a:miter/>
            </a:ln>
          </p:spPr>
        </p:sp>
        <p:sp>
          <p:nvSpPr>
            <p:cNvPr name="TextBox 13" id="13"/>
            <p:cNvSpPr txBox="true"/>
            <p:nvPr/>
          </p:nvSpPr>
          <p:spPr>
            <a:xfrm>
              <a:off x="0" y="-47625"/>
              <a:ext cx="1314396" cy="967065"/>
            </a:xfrm>
            <a:prstGeom prst="rect">
              <a:avLst/>
            </a:prstGeom>
          </p:spPr>
          <p:txBody>
            <a:bodyPr anchor="ctr" rtlCol="false" tIns="50800" lIns="50800" bIns="50800" rIns="50800"/>
            <a:lstStyle/>
            <a:p>
              <a:pPr algn="ctr">
                <a:lnSpc>
                  <a:spcPts val="3220"/>
                </a:lnSpc>
              </a:pPr>
            </a:p>
          </p:txBody>
        </p:sp>
      </p:grpSp>
      <p:grpSp>
        <p:nvGrpSpPr>
          <p:cNvPr name="Group 14" id="14"/>
          <p:cNvGrpSpPr/>
          <p:nvPr/>
        </p:nvGrpSpPr>
        <p:grpSpPr>
          <a:xfrm rot="0">
            <a:off x="8677798" y="3948686"/>
            <a:ext cx="932404" cy="1026232"/>
            <a:chOff x="0" y="0"/>
            <a:chExt cx="738487" cy="812800"/>
          </a:xfrm>
        </p:grpSpPr>
        <p:sp>
          <p:nvSpPr>
            <p:cNvPr name="Freeform 15" id="15"/>
            <p:cNvSpPr/>
            <p:nvPr/>
          </p:nvSpPr>
          <p:spPr>
            <a:xfrm flipH="false" flipV="false" rot="0">
              <a:off x="0" y="0"/>
              <a:ext cx="738487" cy="812800"/>
            </a:xfrm>
            <a:custGeom>
              <a:avLst/>
              <a:gdLst/>
              <a:ahLst/>
              <a:cxnLst/>
              <a:rect r="r" b="b" t="t" l="l"/>
              <a:pathLst>
                <a:path h="812800" w="738487">
                  <a:moveTo>
                    <a:pt x="738487" y="406400"/>
                  </a:moveTo>
                  <a:lnTo>
                    <a:pt x="332087" y="0"/>
                  </a:lnTo>
                  <a:lnTo>
                    <a:pt x="332087" y="203200"/>
                  </a:lnTo>
                  <a:lnTo>
                    <a:pt x="0" y="203200"/>
                  </a:lnTo>
                  <a:lnTo>
                    <a:pt x="0" y="609600"/>
                  </a:lnTo>
                  <a:lnTo>
                    <a:pt x="332087" y="609600"/>
                  </a:lnTo>
                  <a:lnTo>
                    <a:pt x="332087" y="812800"/>
                  </a:lnTo>
                  <a:lnTo>
                    <a:pt x="738487" y="406400"/>
                  </a:lnTo>
                  <a:close/>
                </a:path>
              </a:pathLst>
            </a:custGeom>
            <a:solidFill>
              <a:srgbClr val="F2ECE2"/>
            </a:solidFill>
            <a:ln w="19050" cap="sq">
              <a:solidFill>
                <a:srgbClr val="333333"/>
              </a:solidFill>
              <a:prstDash val="solid"/>
              <a:miter/>
            </a:ln>
          </p:spPr>
        </p:sp>
        <p:sp>
          <p:nvSpPr>
            <p:cNvPr name="TextBox 16" id="16"/>
            <p:cNvSpPr txBox="true"/>
            <p:nvPr/>
          </p:nvSpPr>
          <p:spPr>
            <a:xfrm>
              <a:off x="0" y="184150"/>
              <a:ext cx="636887" cy="425450"/>
            </a:xfrm>
            <a:prstGeom prst="rect">
              <a:avLst/>
            </a:prstGeom>
          </p:spPr>
          <p:txBody>
            <a:bodyPr anchor="ctr" rtlCol="false" tIns="50800" lIns="50800" bIns="50800" rIns="50800"/>
            <a:lstStyle/>
            <a:p>
              <a:pPr algn="ctr">
                <a:lnSpc>
                  <a:spcPts val="1960"/>
                </a:lnSpc>
              </a:pPr>
            </a:p>
          </p:txBody>
        </p:sp>
      </p:grpSp>
      <p:grpSp>
        <p:nvGrpSpPr>
          <p:cNvPr name="Group 17" id="17"/>
          <p:cNvGrpSpPr/>
          <p:nvPr/>
        </p:nvGrpSpPr>
        <p:grpSpPr>
          <a:xfrm rot="-10800000">
            <a:off x="8677798" y="7007671"/>
            <a:ext cx="932404" cy="1026232"/>
            <a:chOff x="0" y="0"/>
            <a:chExt cx="738487" cy="812800"/>
          </a:xfrm>
        </p:grpSpPr>
        <p:sp>
          <p:nvSpPr>
            <p:cNvPr name="Freeform 18" id="18"/>
            <p:cNvSpPr/>
            <p:nvPr/>
          </p:nvSpPr>
          <p:spPr>
            <a:xfrm flipH="false" flipV="false" rot="0">
              <a:off x="0" y="0"/>
              <a:ext cx="738487" cy="812800"/>
            </a:xfrm>
            <a:custGeom>
              <a:avLst/>
              <a:gdLst/>
              <a:ahLst/>
              <a:cxnLst/>
              <a:rect r="r" b="b" t="t" l="l"/>
              <a:pathLst>
                <a:path h="812800" w="738487">
                  <a:moveTo>
                    <a:pt x="738487" y="406400"/>
                  </a:moveTo>
                  <a:lnTo>
                    <a:pt x="332087" y="0"/>
                  </a:lnTo>
                  <a:lnTo>
                    <a:pt x="332087" y="203200"/>
                  </a:lnTo>
                  <a:lnTo>
                    <a:pt x="0" y="203200"/>
                  </a:lnTo>
                  <a:lnTo>
                    <a:pt x="0" y="609600"/>
                  </a:lnTo>
                  <a:lnTo>
                    <a:pt x="332087" y="609600"/>
                  </a:lnTo>
                  <a:lnTo>
                    <a:pt x="332087" y="812800"/>
                  </a:lnTo>
                  <a:lnTo>
                    <a:pt x="738487" y="406400"/>
                  </a:lnTo>
                  <a:close/>
                </a:path>
              </a:pathLst>
            </a:custGeom>
            <a:solidFill>
              <a:srgbClr val="F2ECE2"/>
            </a:solidFill>
            <a:ln w="19050" cap="sq">
              <a:solidFill>
                <a:srgbClr val="333333"/>
              </a:solidFill>
              <a:prstDash val="solid"/>
              <a:miter/>
            </a:ln>
          </p:spPr>
        </p:sp>
        <p:sp>
          <p:nvSpPr>
            <p:cNvPr name="TextBox 19" id="19"/>
            <p:cNvSpPr txBox="true"/>
            <p:nvPr/>
          </p:nvSpPr>
          <p:spPr>
            <a:xfrm>
              <a:off x="0" y="184150"/>
              <a:ext cx="636887" cy="425450"/>
            </a:xfrm>
            <a:prstGeom prst="rect">
              <a:avLst/>
            </a:prstGeom>
          </p:spPr>
          <p:txBody>
            <a:bodyPr anchor="ctr" rtlCol="false" tIns="50800" lIns="50800" bIns="50800" rIns="50800"/>
            <a:lstStyle/>
            <a:p>
              <a:pPr algn="ctr">
                <a:lnSpc>
                  <a:spcPts val="1960"/>
                </a:lnSpc>
              </a:pPr>
            </a:p>
          </p:txBody>
        </p:sp>
      </p:grpSp>
      <p:sp>
        <p:nvSpPr>
          <p:cNvPr name="TextBox 20" id="20"/>
          <p:cNvSpPr txBox="true"/>
          <p:nvPr/>
        </p:nvSpPr>
        <p:spPr>
          <a:xfrm rot="0">
            <a:off x="4142808" y="3118933"/>
            <a:ext cx="3815947" cy="829753"/>
          </a:xfrm>
          <a:prstGeom prst="rect">
            <a:avLst/>
          </a:prstGeom>
        </p:spPr>
        <p:txBody>
          <a:bodyPr anchor="t" rtlCol="false" tIns="0" lIns="0" bIns="0" rIns="0">
            <a:spAutoFit/>
          </a:bodyPr>
          <a:lstStyle/>
          <a:p>
            <a:pPr algn="ctr">
              <a:lnSpc>
                <a:spcPts val="2101"/>
              </a:lnSpc>
            </a:pPr>
            <a:r>
              <a:rPr lang="en-US" b="true" sz="1945">
                <a:solidFill>
                  <a:srgbClr val="333333"/>
                </a:solidFill>
                <a:latin typeface="Poppins Bold"/>
                <a:ea typeface="Poppins Bold"/>
                <a:cs typeface="Poppins Bold"/>
                <a:sym typeface="Poppins Bold"/>
              </a:rPr>
              <a:t>TO DEVELOP A HIGH-ACCURACY SEMANTIC SEGMENTATION MODEL</a:t>
            </a:r>
          </a:p>
        </p:txBody>
      </p:sp>
      <p:sp>
        <p:nvSpPr>
          <p:cNvPr name="TextBox 21" id="21"/>
          <p:cNvSpPr txBox="true"/>
          <p:nvPr/>
        </p:nvSpPr>
        <p:spPr>
          <a:xfrm rot="0">
            <a:off x="4437299" y="4166819"/>
            <a:ext cx="3199332" cy="1148890"/>
          </a:xfrm>
          <a:prstGeom prst="rect">
            <a:avLst/>
          </a:prstGeom>
        </p:spPr>
        <p:txBody>
          <a:bodyPr anchor="t" rtlCol="false" tIns="0" lIns="0" bIns="0" rIns="0">
            <a:spAutoFit/>
          </a:bodyPr>
          <a:lstStyle/>
          <a:p>
            <a:pPr algn="ctr">
              <a:lnSpc>
                <a:spcPts val="2300"/>
              </a:lnSpc>
            </a:pPr>
            <a:r>
              <a:rPr lang="en-US" sz="1643">
                <a:solidFill>
                  <a:srgbClr val="333333"/>
                </a:solidFill>
                <a:latin typeface="Poppins"/>
                <a:ea typeface="Poppins"/>
                <a:cs typeface="Poppins"/>
                <a:sym typeface="Poppins"/>
              </a:rPr>
              <a:t>for identifying key geospatial features such as roads, roofs, water bodies, and utilities from satellite imagery.</a:t>
            </a:r>
          </a:p>
        </p:txBody>
      </p:sp>
      <p:sp>
        <p:nvSpPr>
          <p:cNvPr name="TextBox 22" id="22"/>
          <p:cNvSpPr txBox="true"/>
          <p:nvPr/>
        </p:nvSpPr>
        <p:spPr>
          <a:xfrm rot="0">
            <a:off x="4387379" y="6514631"/>
            <a:ext cx="3299171" cy="563053"/>
          </a:xfrm>
          <a:prstGeom prst="rect">
            <a:avLst/>
          </a:prstGeom>
        </p:spPr>
        <p:txBody>
          <a:bodyPr anchor="t" rtlCol="false" tIns="0" lIns="0" bIns="0" rIns="0">
            <a:spAutoFit/>
          </a:bodyPr>
          <a:lstStyle/>
          <a:p>
            <a:pPr algn="ctr" marL="0" indent="0" lvl="0">
              <a:lnSpc>
                <a:spcPts val="2101"/>
              </a:lnSpc>
              <a:spcBef>
                <a:spcPct val="0"/>
              </a:spcBef>
            </a:pPr>
            <a:r>
              <a:rPr lang="en-US" b="true" sz="1945" strike="noStrike" u="none">
                <a:solidFill>
                  <a:srgbClr val="333333"/>
                </a:solidFill>
                <a:latin typeface="Poppins Bold"/>
                <a:ea typeface="Poppins Bold"/>
                <a:cs typeface="Poppins Bold"/>
                <a:sym typeface="Poppins Bold"/>
              </a:rPr>
              <a:t>TO DESIGN A SCALABLE AND DEPLOYABLE SYSTEM</a:t>
            </a:r>
          </a:p>
        </p:txBody>
      </p:sp>
      <p:sp>
        <p:nvSpPr>
          <p:cNvPr name="TextBox 23" id="23"/>
          <p:cNvSpPr txBox="true"/>
          <p:nvPr/>
        </p:nvSpPr>
        <p:spPr>
          <a:xfrm rot="0">
            <a:off x="4437299" y="7435645"/>
            <a:ext cx="3199332" cy="1148890"/>
          </a:xfrm>
          <a:prstGeom prst="rect">
            <a:avLst/>
          </a:prstGeom>
        </p:spPr>
        <p:txBody>
          <a:bodyPr anchor="t" rtlCol="false" tIns="0" lIns="0" bIns="0" rIns="0">
            <a:spAutoFit/>
          </a:bodyPr>
          <a:lstStyle/>
          <a:p>
            <a:pPr algn="ctr">
              <a:lnSpc>
                <a:spcPts val="2300"/>
              </a:lnSpc>
            </a:pPr>
            <a:r>
              <a:rPr lang="en-US" sz="1643">
                <a:solidFill>
                  <a:srgbClr val="333333"/>
                </a:solidFill>
                <a:latin typeface="Poppins"/>
                <a:ea typeface="Poppins"/>
                <a:cs typeface="Poppins"/>
                <a:sym typeface="Poppins"/>
              </a:rPr>
              <a:t>that balances performance and efficiency for real-world applications in rural planning and infrastructure mapping.</a:t>
            </a:r>
          </a:p>
        </p:txBody>
      </p:sp>
      <p:sp>
        <p:nvSpPr>
          <p:cNvPr name="TextBox 24" id="24"/>
          <p:cNvSpPr txBox="true"/>
          <p:nvPr/>
        </p:nvSpPr>
        <p:spPr>
          <a:xfrm rot="0">
            <a:off x="10532007" y="3252283"/>
            <a:ext cx="3412216" cy="563053"/>
          </a:xfrm>
          <a:prstGeom prst="rect">
            <a:avLst/>
          </a:prstGeom>
        </p:spPr>
        <p:txBody>
          <a:bodyPr anchor="t" rtlCol="false" tIns="0" lIns="0" bIns="0" rIns="0">
            <a:spAutoFit/>
          </a:bodyPr>
          <a:lstStyle/>
          <a:p>
            <a:pPr algn="ctr" marL="0" indent="0" lvl="0">
              <a:lnSpc>
                <a:spcPts val="2101"/>
              </a:lnSpc>
              <a:spcBef>
                <a:spcPct val="0"/>
              </a:spcBef>
            </a:pPr>
            <a:r>
              <a:rPr lang="en-US" b="true" sz="1945" strike="noStrike" u="none">
                <a:solidFill>
                  <a:srgbClr val="333333"/>
                </a:solidFill>
                <a:latin typeface="Poppins Bold"/>
                <a:ea typeface="Poppins Bold"/>
                <a:cs typeface="Poppins Bold"/>
                <a:sym typeface="Poppins Bold"/>
              </a:rPr>
              <a:t>TO BUILD AN END-TO-END GEOSPATIAL PIPELINE</a:t>
            </a:r>
          </a:p>
        </p:txBody>
      </p:sp>
      <p:sp>
        <p:nvSpPr>
          <p:cNvPr name="TextBox 25" id="25"/>
          <p:cNvSpPr txBox="true"/>
          <p:nvPr/>
        </p:nvSpPr>
        <p:spPr>
          <a:xfrm rot="0">
            <a:off x="10651369" y="4309694"/>
            <a:ext cx="3199332" cy="863140"/>
          </a:xfrm>
          <a:prstGeom prst="rect">
            <a:avLst/>
          </a:prstGeom>
        </p:spPr>
        <p:txBody>
          <a:bodyPr anchor="t" rtlCol="false" tIns="0" lIns="0" bIns="0" rIns="0">
            <a:spAutoFit/>
          </a:bodyPr>
          <a:lstStyle/>
          <a:p>
            <a:pPr algn="ctr">
              <a:lnSpc>
                <a:spcPts val="2300"/>
              </a:lnSpc>
            </a:pPr>
            <a:r>
              <a:rPr lang="en-US" sz="1643">
                <a:solidFill>
                  <a:srgbClr val="333333"/>
                </a:solidFill>
                <a:latin typeface="Poppins"/>
                <a:ea typeface="Poppins"/>
                <a:cs typeface="Poppins"/>
                <a:sym typeface="Poppins"/>
              </a:rPr>
              <a:t>that converts raw orthophoto data into structured, multi-class segmentation outputs.</a:t>
            </a:r>
          </a:p>
        </p:txBody>
      </p:sp>
      <p:sp>
        <p:nvSpPr>
          <p:cNvPr name="TextBox 26" id="26"/>
          <p:cNvSpPr txBox="true"/>
          <p:nvPr/>
        </p:nvSpPr>
        <p:spPr>
          <a:xfrm rot="0">
            <a:off x="10405972" y="6381281"/>
            <a:ext cx="3664287" cy="829753"/>
          </a:xfrm>
          <a:prstGeom prst="rect">
            <a:avLst/>
          </a:prstGeom>
        </p:spPr>
        <p:txBody>
          <a:bodyPr anchor="t" rtlCol="false" tIns="0" lIns="0" bIns="0" rIns="0">
            <a:spAutoFit/>
          </a:bodyPr>
          <a:lstStyle/>
          <a:p>
            <a:pPr algn="ctr" marL="0" indent="0" lvl="0">
              <a:lnSpc>
                <a:spcPts val="2101"/>
              </a:lnSpc>
              <a:spcBef>
                <a:spcPct val="0"/>
              </a:spcBef>
            </a:pPr>
            <a:r>
              <a:rPr lang="en-US" b="true" sz="1945" strike="noStrike" u="none">
                <a:solidFill>
                  <a:srgbClr val="333333"/>
                </a:solidFill>
                <a:latin typeface="Poppins Bold"/>
                <a:ea typeface="Poppins Bold"/>
                <a:cs typeface="Poppins Bold"/>
                <a:sym typeface="Poppins Bold"/>
              </a:rPr>
              <a:t>TO ADDRESS CHALLENGES LIKE CLASS IMBALANCE AND THIN OBJECT DETECTION</a:t>
            </a:r>
          </a:p>
        </p:txBody>
      </p:sp>
      <p:sp>
        <p:nvSpPr>
          <p:cNvPr name="TextBox 27" id="27"/>
          <p:cNvSpPr txBox="true"/>
          <p:nvPr/>
        </p:nvSpPr>
        <p:spPr>
          <a:xfrm rot="0">
            <a:off x="10638449" y="7367662"/>
            <a:ext cx="3199332" cy="1148890"/>
          </a:xfrm>
          <a:prstGeom prst="rect">
            <a:avLst/>
          </a:prstGeom>
        </p:spPr>
        <p:txBody>
          <a:bodyPr anchor="t" rtlCol="false" tIns="0" lIns="0" bIns="0" rIns="0">
            <a:spAutoFit/>
          </a:bodyPr>
          <a:lstStyle/>
          <a:p>
            <a:pPr algn="ctr" marL="0" indent="0" lvl="0">
              <a:lnSpc>
                <a:spcPts val="2300"/>
              </a:lnSpc>
              <a:spcBef>
                <a:spcPct val="0"/>
              </a:spcBef>
            </a:pPr>
            <a:r>
              <a:rPr lang="en-US" sz="1643" strike="noStrike" u="none">
                <a:solidFill>
                  <a:srgbClr val="333333"/>
                </a:solidFill>
                <a:latin typeface="Poppins"/>
                <a:ea typeface="Poppins"/>
                <a:cs typeface="Poppins"/>
                <a:sym typeface="Poppins"/>
              </a:rPr>
              <a:t>using techniques such as hybrid loss functions, data augmentation, and boundary-aware learning.</a:t>
            </a:r>
          </a:p>
        </p:txBody>
      </p:sp>
      <p:sp>
        <p:nvSpPr>
          <p:cNvPr name="TextBox 28" id="28"/>
          <p:cNvSpPr txBox="true"/>
          <p:nvPr/>
        </p:nvSpPr>
        <p:spPr>
          <a:xfrm rot="0">
            <a:off x="452558" y="1316307"/>
            <a:ext cx="9469864" cy="986627"/>
          </a:xfrm>
          <a:prstGeom prst="rect">
            <a:avLst/>
          </a:prstGeom>
        </p:spPr>
        <p:txBody>
          <a:bodyPr anchor="t" rtlCol="false" tIns="0" lIns="0" bIns="0" rIns="0">
            <a:spAutoFit/>
          </a:bodyPr>
          <a:lstStyle/>
          <a:p>
            <a:pPr algn="ctr">
              <a:lnSpc>
                <a:spcPts val="7047"/>
              </a:lnSpc>
            </a:pPr>
            <a:r>
              <a:rPr lang="en-US" sz="6909" b="true">
                <a:solidFill>
                  <a:srgbClr val="333333"/>
                </a:solidFill>
                <a:latin typeface="Poppins Bold"/>
                <a:ea typeface="Poppins Bold"/>
                <a:cs typeface="Poppins Bold"/>
                <a:sym typeface="Poppins Bold"/>
              </a:rPr>
              <a:t>Project Objective</a:t>
            </a:r>
          </a:p>
        </p:txBody>
      </p:sp>
      <p:sp>
        <p:nvSpPr>
          <p:cNvPr name="Freeform 29" id="29"/>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3263349" y="1095375"/>
            <a:ext cx="11795354" cy="1166455"/>
          </a:xfrm>
          <a:prstGeom prst="rect">
            <a:avLst/>
          </a:prstGeom>
        </p:spPr>
        <p:txBody>
          <a:bodyPr anchor="t" rtlCol="false" tIns="0" lIns="0" bIns="0" rIns="0">
            <a:spAutoFit/>
          </a:bodyPr>
          <a:lstStyle/>
          <a:p>
            <a:pPr algn="ctr">
              <a:lnSpc>
                <a:spcPts val="8271"/>
              </a:lnSpc>
            </a:pPr>
            <a:r>
              <a:rPr lang="en-US" sz="8109" b="true">
                <a:solidFill>
                  <a:srgbClr val="333333"/>
                </a:solidFill>
                <a:latin typeface="Poppins Bold"/>
                <a:ea typeface="Poppins Bold"/>
                <a:cs typeface="Poppins Bold"/>
                <a:sym typeface="Poppins Bold"/>
              </a:rPr>
              <a:t>Motivation</a:t>
            </a:r>
          </a:p>
        </p:txBody>
      </p:sp>
      <p:sp>
        <p:nvSpPr>
          <p:cNvPr name="Freeform 3" id="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
        <p:nvSpPr>
          <p:cNvPr name="TextBox 4" id="4"/>
          <p:cNvSpPr txBox="true"/>
          <p:nvPr/>
        </p:nvSpPr>
        <p:spPr>
          <a:xfrm rot="0">
            <a:off x="1896917" y="2444115"/>
            <a:ext cx="14528218" cy="6541770"/>
          </a:xfrm>
          <a:prstGeom prst="rect">
            <a:avLst/>
          </a:prstGeom>
        </p:spPr>
        <p:txBody>
          <a:bodyPr anchor="t" rtlCol="false" tIns="0" lIns="0" bIns="0" rIns="0">
            <a:spAutoFit/>
          </a:bodyPr>
          <a:lstStyle/>
          <a:p>
            <a:pPr algn="just">
              <a:lnSpc>
                <a:spcPts val="5190"/>
              </a:lnSpc>
            </a:pPr>
            <a:r>
              <a:rPr lang="en-US" sz="3000" spc="-36">
                <a:solidFill>
                  <a:srgbClr val="333333"/>
                </a:solidFill>
                <a:latin typeface="Poppins"/>
                <a:ea typeface="Poppins"/>
                <a:cs typeface="Poppins"/>
                <a:sym typeface="Poppins"/>
              </a:rPr>
              <a:t>Rural and semi-urban regions still lack accurate and structured geospatial data for essential infrastructure such as roads, buildings, water bodies, and utilities. Current mapping approaches are largely manual, expensive, and difficult to scale, leading to inefficient planning and resource allocation. Although high-resolution satellite imagery is available, it is not effectively transformed into actionable insights.</a:t>
            </a:r>
            <a:r>
              <a:rPr lang="en-US" sz="3000" spc="-36" strike="noStrike" u="none">
                <a:solidFill>
                  <a:srgbClr val="333333"/>
                </a:solidFill>
                <a:latin typeface="Poppins"/>
                <a:ea typeface="Poppins"/>
                <a:cs typeface="Poppins"/>
                <a:sym typeface="Poppins"/>
              </a:rPr>
              <a:t> </a:t>
            </a:r>
          </a:p>
          <a:p>
            <a:pPr algn="just">
              <a:lnSpc>
                <a:spcPts val="5190"/>
              </a:lnSpc>
            </a:pPr>
          </a:p>
          <a:p>
            <a:pPr algn="just">
              <a:lnSpc>
                <a:spcPts val="5190"/>
              </a:lnSpc>
            </a:pPr>
            <a:r>
              <a:rPr lang="en-US" sz="3000" spc="-36" strike="noStrike" u="none">
                <a:solidFill>
                  <a:srgbClr val="333333"/>
                </a:solidFill>
                <a:latin typeface="Poppins"/>
                <a:ea typeface="Poppins"/>
                <a:cs typeface="Poppins"/>
                <a:sym typeface="Poppins"/>
              </a:rPr>
              <a:t>This project is motivated by the need to bridge this gap by leveraging AI to convert raw imagery into precise, scalable, and intelligent infrastructure maps for better decision-making.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5170514" y="769108"/>
            <a:ext cx="16496323" cy="984339"/>
          </a:xfrm>
          <a:prstGeom prst="rect">
            <a:avLst/>
          </a:prstGeom>
        </p:spPr>
        <p:txBody>
          <a:bodyPr anchor="t" rtlCol="false" tIns="0" lIns="0" bIns="0" rIns="0">
            <a:spAutoFit/>
          </a:bodyPr>
          <a:lstStyle/>
          <a:p>
            <a:pPr algn="l">
              <a:lnSpc>
                <a:spcPts val="6945"/>
              </a:lnSpc>
            </a:pPr>
            <a:r>
              <a:rPr lang="en-US" sz="6809" b="true">
                <a:solidFill>
                  <a:srgbClr val="F2ECE2"/>
                </a:solidFill>
                <a:latin typeface="Poppins Bold"/>
                <a:ea typeface="Poppins Bold"/>
                <a:cs typeface="Poppins Bold"/>
                <a:sym typeface="Poppins Bold"/>
              </a:rPr>
              <a:t>Proposed Solution</a:t>
            </a:r>
          </a:p>
        </p:txBody>
      </p:sp>
      <p:sp>
        <p:nvSpPr>
          <p:cNvPr name="Freeform 3" id="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grpSp>
        <p:nvGrpSpPr>
          <p:cNvPr name="Group 4" id="4"/>
          <p:cNvGrpSpPr/>
          <p:nvPr/>
        </p:nvGrpSpPr>
        <p:grpSpPr>
          <a:xfrm rot="0">
            <a:off x="1551306" y="1974456"/>
            <a:ext cx="4430285" cy="3341253"/>
            <a:chOff x="0" y="0"/>
            <a:chExt cx="1392791" cy="1050422"/>
          </a:xfrm>
        </p:grpSpPr>
        <p:sp>
          <p:nvSpPr>
            <p:cNvPr name="Freeform 5" id="5"/>
            <p:cNvSpPr/>
            <p:nvPr/>
          </p:nvSpPr>
          <p:spPr>
            <a:xfrm flipH="false" flipV="false" rot="0">
              <a:off x="0" y="0"/>
              <a:ext cx="1392791" cy="1050422"/>
            </a:xfrm>
            <a:custGeom>
              <a:avLst/>
              <a:gdLst/>
              <a:ahLst/>
              <a:cxnLst/>
              <a:rect r="r" b="b" t="t" l="l"/>
              <a:pathLst>
                <a:path h="1050422" w="1392791">
                  <a:moveTo>
                    <a:pt x="0" y="0"/>
                  </a:moveTo>
                  <a:lnTo>
                    <a:pt x="1392791" y="0"/>
                  </a:lnTo>
                  <a:lnTo>
                    <a:pt x="1392791" y="1050422"/>
                  </a:lnTo>
                  <a:lnTo>
                    <a:pt x="0" y="1050422"/>
                  </a:lnTo>
                  <a:close/>
                </a:path>
              </a:pathLst>
            </a:custGeom>
            <a:solidFill>
              <a:srgbClr val="F2ECE2"/>
            </a:solidFill>
            <a:ln w="9525" cap="sq">
              <a:solidFill>
                <a:srgbClr val="333333"/>
              </a:solidFill>
              <a:prstDash val="solid"/>
              <a:miter/>
            </a:ln>
          </p:spPr>
        </p:sp>
        <p:sp>
          <p:nvSpPr>
            <p:cNvPr name="TextBox 6" id="6"/>
            <p:cNvSpPr txBox="true"/>
            <p:nvPr/>
          </p:nvSpPr>
          <p:spPr>
            <a:xfrm>
              <a:off x="0" y="-47625"/>
              <a:ext cx="1392791" cy="1098047"/>
            </a:xfrm>
            <a:prstGeom prst="rect">
              <a:avLst/>
            </a:prstGeom>
          </p:spPr>
          <p:txBody>
            <a:bodyPr anchor="ctr" rtlCol="false" tIns="50800" lIns="50800" bIns="50800" rIns="50800"/>
            <a:lstStyle/>
            <a:p>
              <a:pPr algn="ctr">
                <a:lnSpc>
                  <a:spcPts val="3220"/>
                </a:lnSpc>
              </a:pPr>
            </a:p>
          </p:txBody>
        </p:sp>
      </p:grpSp>
      <p:grpSp>
        <p:nvGrpSpPr>
          <p:cNvPr name="Group 7" id="7"/>
          <p:cNvGrpSpPr/>
          <p:nvPr/>
        </p:nvGrpSpPr>
        <p:grpSpPr>
          <a:xfrm rot="0">
            <a:off x="1514306" y="5591934"/>
            <a:ext cx="4467285" cy="3497349"/>
            <a:chOff x="0" y="0"/>
            <a:chExt cx="1404423" cy="1099495"/>
          </a:xfrm>
        </p:grpSpPr>
        <p:sp>
          <p:nvSpPr>
            <p:cNvPr name="Freeform 8" id="8"/>
            <p:cNvSpPr/>
            <p:nvPr/>
          </p:nvSpPr>
          <p:spPr>
            <a:xfrm flipH="false" flipV="false" rot="0">
              <a:off x="0" y="0"/>
              <a:ext cx="1404423" cy="1099495"/>
            </a:xfrm>
            <a:custGeom>
              <a:avLst/>
              <a:gdLst/>
              <a:ahLst/>
              <a:cxnLst/>
              <a:rect r="r" b="b" t="t" l="l"/>
              <a:pathLst>
                <a:path h="1099495" w="1404423">
                  <a:moveTo>
                    <a:pt x="0" y="0"/>
                  </a:moveTo>
                  <a:lnTo>
                    <a:pt x="1404423" y="0"/>
                  </a:lnTo>
                  <a:lnTo>
                    <a:pt x="1404423" y="1099495"/>
                  </a:lnTo>
                  <a:lnTo>
                    <a:pt x="0" y="1099495"/>
                  </a:lnTo>
                  <a:close/>
                </a:path>
              </a:pathLst>
            </a:custGeom>
            <a:solidFill>
              <a:srgbClr val="F2ECE2"/>
            </a:solidFill>
            <a:ln w="9525" cap="sq">
              <a:solidFill>
                <a:srgbClr val="333333"/>
              </a:solidFill>
              <a:prstDash val="solid"/>
              <a:miter/>
            </a:ln>
          </p:spPr>
        </p:sp>
        <p:sp>
          <p:nvSpPr>
            <p:cNvPr name="TextBox 9" id="9"/>
            <p:cNvSpPr txBox="true"/>
            <p:nvPr/>
          </p:nvSpPr>
          <p:spPr>
            <a:xfrm>
              <a:off x="0" y="-47625"/>
              <a:ext cx="1404423" cy="1147120"/>
            </a:xfrm>
            <a:prstGeom prst="rect">
              <a:avLst/>
            </a:prstGeom>
          </p:spPr>
          <p:txBody>
            <a:bodyPr anchor="ctr" rtlCol="false" tIns="50800" lIns="50800" bIns="50800" rIns="50800"/>
            <a:lstStyle/>
            <a:p>
              <a:pPr algn="ctr">
                <a:lnSpc>
                  <a:spcPts val="3220"/>
                </a:lnSpc>
              </a:pPr>
            </a:p>
          </p:txBody>
        </p:sp>
      </p:grpSp>
      <p:grpSp>
        <p:nvGrpSpPr>
          <p:cNvPr name="Group 10" id="10"/>
          <p:cNvGrpSpPr/>
          <p:nvPr/>
        </p:nvGrpSpPr>
        <p:grpSpPr>
          <a:xfrm rot="0">
            <a:off x="6704299" y="1974456"/>
            <a:ext cx="4340427" cy="3341253"/>
            <a:chOff x="0" y="0"/>
            <a:chExt cx="1364542" cy="1050422"/>
          </a:xfrm>
        </p:grpSpPr>
        <p:sp>
          <p:nvSpPr>
            <p:cNvPr name="Freeform 11" id="11"/>
            <p:cNvSpPr/>
            <p:nvPr/>
          </p:nvSpPr>
          <p:spPr>
            <a:xfrm flipH="false" flipV="false" rot="0">
              <a:off x="0" y="0"/>
              <a:ext cx="1364542" cy="1050422"/>
            </a:xfrm>
            <a:custGeom>
              <a:avLst/>
              <a:gdLst/>
              <a:ahLst/>
              <a:cxnLst/>
              <a:rect r="r" b="b" t="t" l="l"/>
              <a:pathLst>
                <a:path h="1050422" w="1364542">
                  <a:moveTo>
                    <a:pt x="0" y="0"/>
                  </a:moveTo>
                  <a:lnTo>
                    <a:pt x="1364542" y="0"/>
                  </a:lnTo>
                  <a:lnTo>
                    <a:pt x="1364542" y="1050422"/>
                  </a:lnTo>
                  <a:lnTo>
                    <a:pt x="0" y="1050422"/>
                  </a:lnTo>
                  <a:close/>
                </a:path>
              </a:pathLst>
            </a:custGeom>
            <a:solidFill>
              <a:srgbClr val="F2ECE2"/>
            </a:solidFill>
            <a:ln w="9525" cap="sq">
              <a:solidFill>
                <a:srgbClr val="333333"/>
              </a:solidFill>
              <a:prstDash val="solid"/>
              <a:miter/>
            </a:ln>
          </p:spPr>
        </p:sp>
        <p:sp>
          <p:nvSpPr>
            <p:cNvPr name="TextBox 12" id="12"/>
            <p:cNvSpPr txBox="true"/>
            <p:nvPr/>
          </p:nvSpPr>
          <p:spPr>
            <a:xfrm>
              <a:off x="0" y="-47625"/>
              <a:ext cx="1364542" cy="1098047"/>
            </a:xfrm>
            <a:prstGeom prst="rect">
              <a:avLst/>
            </a:prstGeom>
          </p:spPr>
          <p:txBody>
            <a:bodyPr anchor="ctr" rtlCol="false" tIns="50800" lIns="50800" bIns="50800" rIns="50800"/>
            <a:lstStyle/>
            <a:p>
              <a:pPr algn="ctr">
                <a:lnSpc>
                  <a:spcPts val="3220"/>
                </a:lnSpc>
              </a:pPr>
            </a:p>
          </p:txBody>
        </p:sp>
      </p:grpSp>
      <p:grpSp>
        <p:nvGrpSpPr>
          <p:cNvPr name="Group 13" id="13"/>
          <p:cNvGrpSpPr/>
          <p:nvPr/>
        </p:nvGrpSpPr>
        <p:grpSpPr>
          <a:xfrm rot="0">
            <a:off x="6704299" y="5591934"/>
            <a:ext cx="4340427" cy="3497349"/>
            <a:chOff x="0" y="0"/>
            <a:chExt cx="1364542" cy="1099495"/>
          </a:xfrm>
        </p:grpSpPr>
        <p:sp>
          <p:nvSpPr>
            <p:cNvPr name="Freeform 14" id="14"/>
            <p:cNvSpPr/>
            <p:nvPr/>
          </p:nvSpPr>
          <p:spPr>
            <a:xfrm flipH="false" flipV="false" rot="0">
              <a:off x="0" y="0"/>
              <a:ext cx="1364542" cy="1099495"/>
            </a:xfrm>
            <a:custGeom>
              <a:avLst/>
              <a:gdLst/>
              <a:ahLst/>
              <a:cxnLst/>
              <a:rect r="r" b="b" t="t" l="l"/>
              <a:pathLst>
                <a:path h="1099495" w="1364542">
                  <a:moveTo>
                    <a:pt x="0" y="0"/>
                  </a:moveTo>
                  <a:lnTo>
                    <a:pt x="1364542" y="0"/>
                  </a:lnTo>
                  <a:lnTo>
                    <a:pt x="1364542" y="1099495"/>
                  </a:lnTo>
                  <a:lnTo>
                    <a:pt x="0" y="1099495"/>
                  </a:lnTo>
                  <a:close/>
                </a:path>
              </a:pathLst>
            </a:custGeom>
            <a:solidFill>
              <a:srgbClr val="F2ECE2"/>
            </a:solidFill>
            <a:ln w="9525" cap="sq">
              <a:solidFill>
                <a:srgbClr val="333333"/>
              </a:solidFill>
              <a:prstDash val="solid"/>
              <a:miter/>
            </a:ln>
          </p:spPr>
        </p:sp>
        <p:sp>
          <p:nvSpPr>
            <p:cNvPr name="TextBox 15" id="15"/>
            <p:cNvSpPr txBox="true"/>
            <p:nvPr/>
          </p:nvSpPr>
          <p:spPr>
            <a:xfrm>
              <a:off x="0" y="-47625"/>
              <a:ext cx="1364542" cy="1147120"/>
            </a:xfrm>
            <a:prstGeom prst="rect">
              <a:avLst/>
            </a:prstGeom>
          </p:spPr>
          <p:txBody>
            <a:bodyPr anchor="ctr" rtlCol="false" tIns="50800" lIns="50800" bIns="50800" rIns="50800"/>
            <a:lstStyle/>
            <a:p>
              <a:pPr algn="ctr">
                <a:lnSpc>
                  <a:spcPts val="3220"/>
                </a:lnSpc>
              </a:pPr>
            </a:p>
          </p:txBody>
        </p:sp>
      </p:grpSp>
      <p:sp>
        <p:nvSpPr>
          <p:cNvPr name="TextBox 16" id="16"/>
          <p:cNvSpPr txBox="true"/>
          <p:nvPr/>
        </p:nvSpPr>
        <p:spPr>
          <a:xfrm rot="0">
            <a:off x="1859874" y="2364547"/>
            <a:ext cx="3815947" cy="563053"/>
          </a:xfrm>
          <a:prstGeom prst="rect">
            <a:avLst/>
          </a:prstGeom>
        </p:spPr>
        <p:txBody>
          <a:bodyPr anchor="t" rtlCol="false" tIns="0" lIns="0" bIns="0" rIns="0">
            <a:spAutoFit/>
          </a:bodyPr>
          <a:lstStyle/>
          <a:p>
            <a:pPr algn="ctr">
              <a:lnSpc>
                <a:spcPts val="2101"/>
              </a:lnSpc>
            </a:pPr>
            <a:r>
              <a:rPr lang="en-US" b="true" sz="1945">
                <a:solidFill>
                  <a:srgbClr val="333333"/>
                </a:solidFill>
                <a:latin typeface="Poppins Bold"/>
                <a:ea typeface="Poppins Bold"/>
                <a:cs typeface="Poppins Bold"/>
                <a:sym typeface="Poppins Bold"/>
              </a:rPr>
              <a:t>AI-POWERED MULTI-CLASS SEGMENTATION</a:t>
            </a:r>
          </a:p>
        </p:txBody>
      </p:sp>
      <p:sp>
        <p:nvSpPr>
          <p:cNvPr name="TextBox 17" id="17"/>
          <p:cNvSpPr txBox="true"/>
          <p:nvPr/>
        </p:nvSpPr>
        <p:spPr>
          <a:xfrm rot="0">
            <a:off x="2050262" y="3069652"/>
            <a:ext cx="3395374" cy="1822890"/>
          </a:xfrm>
          <a:prstGeom prst="rect">
            <a:avLst/>
          </a:prstGeom>
        </p:spPr>
        <p:txBody>
          <a:bodyPr anchor="t" rtlCol="false" tIns="0" lIns="0" bIns="0" rIns="0">
            <a:spAutoFit/>
          </a:bodyPr>
          <a:lstStyle/>
          <a:p>
            <a:pPr algn="ctr">
              <a:lnSpc>
                <a:spcPts val="2441"/>
              </a:lnSpc>
            </a:pPr>
            <a:r>
              <a:rPr lang="en-US" sz="1743">
                <a:solidFill>
                  <a:srgbClr val="333333"/>
                </a:solidFill>
                <a:latin typeface="Poppins"/>
                <a:ea typeface="Poppins"/>
                <a:cs typeface="Poppins"/>
                <a:sym typeface="Poppins"/>
              </a:rPr>
              <a:t>An advanced deep learning system that accurately segments orthophoto imagery into roads, roofs, water bodies, and utilities for structured geospatial understanding.</a:t>
            </a:r>
          </a:p>
        </p:txBody>
      </p:sp>
      <p:sp>
        <p:nvSpPr>
          <p:cNvPr name="TextBox 18" id="18"/>
          <p:cNvSpPr txBox="true"/>
          <p:nvPr/>
        </p:nvSpPr>
        <p:spPr>
          <a:xfrm rot="0">
            <a:off x="1956077" y="5930219"/>
            <a:ext cx="3299171" cy="5630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ROBUST LOSS FUNCTION STRATEGY</a:t>
            </a:r>
          </a:p>
        </p:txBody>
      </p:sp>
      <p:sp>
        <p:nvSpPr>
          <p:cNvPr name="TextBox 19" id="19"/>
          <p:cNvSpPr txBox="true"/>
          <p:nvPr/>
        </p:nvSpPr>
        <p:spPr>
          <a:xfrm rot="0">
            <a:off x="1815203" y="6762980"/>
            <a:ext cx="3653126" cy="1967181"/>
          </a:xfrm>
          <a:prstGeom prst="rect">
            <a:avLst/>
          </a:prstGeom>
        </p:spPr>
        <p:txBody>
          <a:bodyPr anchor="t" rtlCol="false" tIns="0" lIns="0" bIns="0" rIns="0">
            <a:spAutoFit/>
          </a:bodyPr>
          <a:lstStyle/>
          <a:p>
            <a:pPr algn="ctr">
              <a:lnSpc>
                <a:spcPts val="2626"/>
              </a:lnSpc>
            </a:pPr>
            <a:r>
              <a:rPr lang="en-US" sz="1876">
                <a:solidFill>
                  <a:srgbClr val="333333"/>
                </a:solidFill>
                <a:latin typeface="Poppins"/>
                <a:ea typeface="Poppins"/>
                <a:cs typeface="Poppins"/>
                <a:sym typeface="Poppins"/>
              </a:rPr>
              <a:t>Combines Dice Loss with CrossEntropy/Focal Loss to effectively address class imbalance and enhance boundary precision for small and complex structures.</a:t>
            </a:r>
          </a:p>
        </p:txBody>
      </p:sp>
      <p:sp>
        <p:nvSpPr>
          <p:cNvPr name="TextBox 20" id="20"/>
          <p:cNvSpPr txBox="true"/>
          <p:nvPr/>
        </p:nvSpPr>
        <p:spPr>
          <a:xfrm rot="0">
            <a:off x="7112448" y="2220922"/>
            <a:ext cx="3412216" cy="5630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HIGH-FIDELITY GEOSPATIAL PREPROCESSING</a:t>
            </a:r>
          </a:p>
        </p:txBody>
      </p:sp>
      <p:sp>
        <p:nvSpPr>
          <p:cNvPr name="TextBox 21" id="21"/>
          <p:cNvSpPr txBox="true"/>
          <p:nvPr/>
        </p:nvSpPr>
        <p:spPr>
          <a:xfrm rot="0">
            <a:off x="7112448" y="3044889"/>
            <a:ext cx="3442736" cy="1847653"/>
          </a:xfrm>
          <a:prstGeom prst="rect">
            <a:avLst/>
          </a:prstGeom>
        </p:spPr>
        <p:txBody>
          <a:bodyPr anchor="t" rtlCol="false" tIns="0" lIns="0" bIns="0" rIns="0">
            <a:spAutoFit/>
          </a:bodyPr>
          <a:lstStyle/>
          <a:p>
            <a:pPr algn="ctr">
              <a:lnSpc>
                <a:spcPts val="2475"/>
              </a:lnSpc>
            </a:pPr>
            <a:r>
              <a:rPr lang="en-US" sz="1768">
                <a:solidFill>
                  <a:srgbClr val="333333"/>
                </a:solidFill>
                <a:latin typeface="Poppins"/>
                <a:ea typeface="Poppins"/>
                <a:cs typeface="Poppins"/>
                <a:sym typeface="Poppins"/>
              </a:rPr>
              <a:t>Implements CRS standardization (EPSG:32644), rasterization, and 1024×1024 tiling to preserve spatial alignment and capture fine-grained details.</a:t>
            </a:r>
          </a:p>
        </p:txBody>
      </p:sp>
      <p:sp>
        <p:nvSpPr>
          <p:cNvPr name="TextBox 22" id="22"/>
          <p:cNvSpPr txBox="true"/>
          <p:nvPr/>
        </p:nvSpPr>
        <p:spPr>
          <a:xfrm rot="0">
            <a:off x="7001672" y="5930219"/>
            <a:ext cx="3664287" cy="5630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END-TO-END SCALABLE PIPELINE</a:t>
            </a:r>
          </a:p>
        </p:txBody>
      </p:sp>
      <p:sp>
        <p:nvSpPr>
          <p:cNvPr name="TextBox 23" id="23"/>
          <p:cNvSpPr txBox="true"/>
          <p:nvPr/>
        </p:nvSpPr>
        <p:spPr>
          <a:xfrm rot="0">
            <a:off x="7001672" y="6649896"/>
            <a:ext cx="3636157" cy="1911957"/>
          </a:xfrm>
          <a:prstGeom prst="rect">
            <a:avLst/>
          </a:prstGeom>
        </p:spPr>
        <p:txBody>
          <a:bodyPr anchor="t" rtlCol="false" tIns="0" lIns="0" bIns="0" rIns="0">
            <a:spAutoFit/>
          </a:bodyPr>
          <a:lstStyle/>
          <a:p>
            <a:pPr algn="ctr" marL="0" indent="0" lvl="0">
              <a:lnSpc>
                <a:spcPts val="2563"/>
              </a:lnSpc>
              <a:spcBef>
                <a:spcPct val="0"/>
              </a:spcBef>
            </a:pPr>
            <a:r>
              <a:rPr lang="en-US" sz="1831">
                <a:solidFill>
                  <a:srgbClr val="333333"/>
                </a:solidFill>
                <a:latin typeface="Poppins"/>
                <a:ea typeface="Poppins"/>
                <a:cs typeface="Poppins"/>
                <a:sym typeface="Poppins"/>
              </a:rPr>
              <a:t>A complete training and inference pipeline that tiles large images, processes them and reconstructs seamless high-resolution segmentation outputs.</a:t>
            </a:r>
          </a:p>
        </p:txBody>
      </p:sp>
      <p:grpSp>
        <p:nvGrpSpPr>
          <p:cNvPr name="Group 24" id="24"/>
          <p:cNvGrpSpPr/>
          <p:nvPr/>
        </p:nvGrpSpPr>
        <p:grpSpPr>
          <a:xfrm rot="0">
            <a:off x="12149208" y="1974456"/>
            <a:ext cx="4368203" cy="3341253"/>
            <a:chOff x="0" y="0"/>
            <a:chExt cx="1373274" cy="1050422"/>
          </a:xfrm>
        </p:grpSpPr>
        <p:sp>
          <p:nvSpPr>
            <p:cNvPr name="Freeform 25" id="25"/>
            <p:cNvSpPr/>
            <p:nvPr/>
          </p:nvSpPr>
          <p:spPr>
            <a:xfrm flipH="false" flipV="false" rot="0">
              <a:off x="0" y="0"/>
              <a:ext cx="1373274" cy="1050422"/>
            </a:xfrm>
            <a:custGeom>
              <a:avLst/>
              <a:gdLst/>
              <a:ahLst/>
              <a:cxnLst/>
              <a:rect r="r" b="b" t="t" l="l"/>
              <a:pathLst>
                <a:path h="1050422" w="1373274">
                  <a:moveTo>
                    <a:pt x="0" y="0"/>
                  </a:moveTo>
                  <a:lnTo>
                    <a:pt x="1373274" y="0"/>
                  </a:lnTo>
                  <a:lnTo>
                    <a:pt x="1373274" y="1050422"/>
                  </a:lnTo>
                  <a:lnTo>
                    <a:pt x="0" y="1050422"/>
                  </a:lnTo>
                  <a:close/>
                </a:path>
              </a:pathLst>
            </a:custGeom>
            <a:solidFill>
              <a:srgbClr val="F2ECE2"/>
            </a:solidFill>
            <a:ln w="9525" cap="sq">
              <a:solidFill>
                <a:srgbClr val="333333"/>
              </a:solidFill>
              <a:prstDash val="solid"/>
              <a:miter/>
            </a:ln>
          </p:spPr>
        </p:sp>
        <p:sp>
          <p:nvSpPr>
            <p:cNvPr name="TextBox 26" id="26"/>
            <p:cNvSpPr txBox="true"/>
            <p:nvPr/>
          </p:nvSpPr>
          <p:spPr>
            <a:xfrm>
              <a:off x="0" y="-47625"/>
              <a:ext cx="1373274" cy="1098047"/>
            </a:xfrm>
            <a:prstGeom prst="rect">
              <a:avLst/>
            </a:prstGeom>
          </p:spPr>
          <p:txBody>
            <a:bodyPr anchor="ctr" rtlCol="false" tIns="50800" lIns="50800" bIns="50800" rIns="50800"/>
            <a:lstStyle/>
            <a:p>
              <a:pPr algn="ctr">
                <a:lnSpc>
                  <a:spcPts val="3220"/>
                </a:lnSpc>
              </a:pPr>
            </a:p>
          </p:txBody>
        </p:sp>
      </p:grpSp>
      <p:grpSp>
        <p:nvGrpSpPr>
          <p:cNvPr name="Group 27" id="27"/>
          <p:cNvGrpSpPr/>
          <p:nvPr/>
        </p:nvGrpSpPr>
        <p:grpSpPr>
          <a:xfrm rot="0">
            <a:off x="12149208" y="5591934"/>
            <a:ext cx="4368203" cy="3497349"/>
            <a:chOff x="0" y="0"/>
            <a:chExt cx="1373274" cy="1099495"/>
          </a:xfrm>
        </p:grpSpPr>
        <p:sp>
          <p:nvSpPr>
            <p:cNvPr name="Freeform 28" id="28"/>
            <p:cNvSpPr/>
            <p:nvPr/>
          </p:nvSpPr>
          <p:spPr>
            <a:xfrm flipH="false" flipV="false" rot="0">
              <a:off x="0" y="0"/>
              <a:ext cx="1373274" cy="1099495"/>
            </a:xfrm>
            <a:custGeom>
              <a:avLst/>
              <a:gdLst/>
              <a:ahLst/>
              <a:cxnLst/>
              <a:rect r="r" b="b" t="t" l="l"/>
              <a:pathLst>
                <a:path h="1099495" w="1373274">
                  <a:moveTo>
                    <a:pt x="0" y="0"/>
                  </a:moveTo>
                  <a:lnTo>
                    <a:pt x="1373274" y="0"/>
                  </a:lnTo>
                  <a:lnTo>
                    <a:pt x="1373274" y="1099495"/>
                  </a:lnTo>
                  <a:lnTo>
                    <a:pt x="0" y="1099495"/>
                  </a:lnTo>
                  <a:close/>
                </a:path>
              </a:pathLst>
            </a:custGeom>
            <a:solidFill>
              <a:srgbClr val="F2ECE2"/>
            </a:solidFill>
            <a:ln w="9525" cap="sq">
              <a:solidFill>
                <a:srgbClr val="333333"/>
              </a:solidFill>
              <a:prstDash val="solid"/>
              <a:miter/>
            </a:ln>
          </p:spPr>
        </p:sp>
        <p:sp>
          <p:nvSpPr>
            <p:cNvPr name="TextBox 29" id="29"/>
            <p:cNvSpPr txBox="true"/>
            <p:nvPr/>
          </p:nvSpPr>
          <p:spPr>
            <a:xfrm>
              <a:off x="0" y="-47625"/>
              <a:ext cx="1373274" cy="1147120"/>
            </a:xfrm>
            <a:prstGeom prst="rect">
              <a:avLst/>
            </a:prstGeom>
          </p:spPr>
          <p:txBody>
            <a:bodyPr anchor="ctr" rtlCol="false" tIns="50800" lIns="50800" bIns="50800" rIns="50800"/>
            <a:lstStyle/>
            <a:p>
              <a:pPr algn="ctr">
                <a:lnSpc>
                  <a:spcPts val="3220"/>
                </a:lnSpc>
              </a:pPr>
            </a:p>
          </p:txBody>
        </p:sp>
      </p:grpSp>
      <p:sp>
        <p:nvSpPr>
          <p:cNvPr name="TextBox 30" id="30"/>
          <p:cNvSpPr txBox="true"/>
          <p:nvPr/>
        </p:nvSpPr>
        <p:spPr>
          <a:xfrm rot="0">
            <a:off x="12332591" y="2386345"/>
            <a:ext cx="3815947" cy="563053"/>
          </a:xfrm>
          <a:prstGeom prst="rect">
            <a:avLst/>
          </a:prstGeom>
        </p:spPr>
        <p:txBody>
          <a:bodyPr anchor="t" rtlCol="false" tIns="0" lIns="0" bIns="0" rIns="0">
            <a:spAutoFit/>
          </a:bodyPr>
          <a:lstStyle/>
          <a:p>
            <a:pPr algn="ctr">
              <a:lnSpc>
                <a:spcPts val="2101"/>
              </a:lnSpc>
            </a:pPr>
            <a:r>
              <a:rPr lang="en-US" b="true" sz="1945">
                <a:solidFill>
                  <a:srgbClr val="333333"/>
                </a:solidFill>
                <a:latin typeface="Poppins Bold"/>
                <a:ea typeface="Poppins Bold"/>
                <a:cs typeface="Poppins Bold"/>
                <a:sym typeface="Poppins Bold"/>
              </a:rPr>
              <a:t>OPTIMIZED HYBRID MODEL ARCHITECTURE</a:t>
            </a:r>
          </a:p>
        </p:txBody>
      </p:sp>
      <p:sp>
        <p:nvSpPr>
          <p:cNvPr name="TextBox 31" id="31"/>
          <p:cNvSpPr txBox="true"/>
          <p:nvPr/>
        </p:nvSpPr>
        <p:spPr>
          <a:xfrm rot="0">
            <a:off x="12577163" y="3069652"/>
            <a:ext cx="3571375" cy="1914912"/>
          </a:xfrm>
          <a:prstGeom prst="rect">
            <a:avLst/>
          </a:prstGeom>
        </p:spPr>
        <p:txBody>
          <a:bodyPr anchor="t" rtlCol="false" tIns="0" lIns="0" bIns="0" rIns="0">
            <a:spAutoFit/>
          </a:bodyPr>
          <a:lstStyle/>
          <a:p>
            <a:pPr algn="ctr">
              <a:lnSpc>
                <a:spcPts val="2567"/>
              </a:lnSpc>
            </a:pPr>
            <a:r>
              <a:rPr lang="en-US" sz="1834">
                <a:solidFill>
                  <a:srgbClr val="333333"/>
                </a:solidFill>
                <a:latin typeface="Poppins"/>
                <a:ea typeface="Poppins"/>
                <a:cs typeface="Poppins"/>
                <a:sym typeface="Poppins"/>
              </a:rPr>
              <a:t>Utilizes DeepLabV3+ with MobileNetV2 and MIT-B4 encoders to achieve an optimal balance between computational efficiency and high segmentation accuracy.</a:t>
            </a:r>
          </a:p>
        </p:txBody>
      </p:sp>
      <p:sp>
        <p:nvSpPr>
          <p:cNvPr name="TextBox 32" id="32"/>
          <p:cNvSpPr txBox="true"/>
          <p:nvPr/>
        </p:nvSpPr>
        <p:spPr>
          <a:xfrm rot="0">
            <a:off x="12547622" y="5930219"/>
            <a:ext cx="3571375" cy="5630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INT</a:t>
            </a:r>
            <a:r>
              <a:rPr lang="en-US" b="true" sz="1945" strike="noStrike" u="none">
                <a:solidFill>
                  <a:srgbClr val="333333"/>
                </a:solidFill>
                <a:latin typeface="Poppins Bold"/>
                <a:ea typeface="Poppins Bold"/>
                <a:cs typeface="Poppins Bold"/>
                <a:sym typeface="Poppins Bold"/>
              </a:rPr>
              <a:t>E</a:t>
            </a:r>
            <a:r>
              <a:rPr lang="en-US" b="true" sz="1945" strike="noStrike" u="none">
                <a:solidFill>
                  <a:srgbClr val="333333"/>
                </a:solidFill>
                <a:latin typeface="Poppins Bold"/>
                <a:ea typeface="Poppins Bold"/>
                <a:cs typeface="Poppins Bold"/>
                <a:sym typeface="Poppins Bold"/>
              </a:rPr>
              <a:t>LL</a:t>
            </a:r>
            <a:r>
              <a:rPr lang="en-US" b="true" sz="1945" strike="noStrike" u="none">
                <a:solidFill>
                  <a:srgbClr val="333333"/>
                </a:solidFill>
                <a:latin typeface="Poppins Bold"/>
                <a:ea typeface="Poppins Bold"/>
                <a:cs typeface="Poppins Bold"/>
                <a:sym typeface="Poppins Bold"/>
              </a:rPr>
              <a:t>IG</a:t>
            </a:r>
            <a:r>
              <a:rPr lang="en-US" b="true" sz="1945" strike="noStrike" u="none">
                <a:solidFill>
                  <a:srgbClr val="333333"/>
                </a:solidFill>
                <a:latin typeface="Poppins Bold"/>
                <a:ea typeface="Poppins Bold"/>
                <a:cs typeface="Poppins Bold"/>
                <a:sym typeface="Poppins Bold"/>
              </a:rPr>
              <a:t>E</a:t>
            </a:r>
            <a:r>
              <a:rPr lang="en-US" b="true" sz="1945" strike="noStrike" u="none">
                <a:solidFill>
                  <a:srgbClr val="333333"/>
                </a:solidFill>
                <a:latin typeface="Poppins Bold"/>
                <a:ea typeface="Poppins Bold"/>
                <a:cs typeface="Poppins Bold"/>
                <a:sym typeface="Poppins Bold"/>
              </a:rPr>
              <a:t>N</a:t>
            </a:r>
            <a:r>
              <a:rPr lang="en-US" b="true" sz="1945" strike="noStrike" u="none">
                <a:solidFill>
                  <a:srgbClr val="333333"/>
                </a:solidFill>
                <a:latin typeface="Poppins Bold"/>
                <a:ea typeface="Poppins Bold"/>
                <a:cs typeface="Poppins Bold"/>
                <a:sym typeface="Poppins Bold"/>
              </a:rPr>
              <a:t>T</a:t>
            </a:r>
            <a:r>
              <a:rPr lang="en-US" b="true" sz="1945" strike="noStrike" u="none">
                <a:solidFill>
                  <a:srgbClr val="333333"/>
                </a:solidFill>
                <a:latin typeface="Poppins Bold"/>
                <a:ea typeface="Poppins Bold"/>
                <a:cs typeface="Poppins Bold"/>
                <a:sym typeface="Poppins Bold"/>
              </a:rPr>
              <a:t> </a:t>
            </a:r>
            <a:r>
              <a:rPr lang="en-US" b="true" sz="1945" strike="noStrike" u="none">
                <a:solidFill>
                  <a:srgbClr val="333333"/>
                </a:solidFill>
                <a:latin typeface="Poppins Bold"/>
                <a:ea typeface="Poppins Bold"/>
                <a:cs typeface="Poppins Bold"/>
                <a:sym typeface="Poppins Bold"/>
              </a:rPr>
              <a:t>PO</a:t>
            </a:r>
            <a:r>
              <a:rPr lang="en-US" b="true" sz="1945" strike="noStrike" u="none">
                <a:solidFill>
                  <a:srgbClr val="333333"/>
                </a:solidFill>
                <a:latin typeface="Poppins Bold"/>
                <a:ea typeface="Poppins Bold"/>
                <a:cs typeface="Poppins Bold"/>
                <a:sym typeface="Poppins Bold"/>
              </a:rPr>
              <a:t>S</a:t>
            </a:r>
            <a:r>
              <a:rPr lang="en-US" b="true" sz="1945" strike="noStrike" u="none">
                <a:solidFill>
                  <a:srgbClr val="333333"/>
                </a:solidFill>
                <a:latin typeface="Poppins Bold"/>
                <a:ea typeface="Poppins Bold"/>
                <a:cs typeface="Poppins Bold"/>
                <a:sym typeface="Poppins Bold"/>
              </a:rPr>
              <a:t>T-PRO</a:t>
            </a:r>
            <a:r>
              <a:rPr lang="en-US" b="true" sz="1945" strike="noStrike" u="none">
                <a:solidFill>
                  <a:srgbClr val="333333"/>
                </a:solidFill>
                <a:latin typeface="Poppins Bold"/>
                <a:ea typeface="Poppins Bold"/>
                <a:cs typeface="Poppins Bold"/>
                <a:sym typeface="Poppins Bold"/>
              </a:rPr>
              <a:t>CE</a:t>
            </a:r>
            <a:r>
              <a:rPr lang="en-US" b="true" sz="1945" strike="noStrike" u="none">
                <a:solidFill>
                  <a:srgbClr val="333333"/>
                </a:solidFill>
                <a:latin typeface="Poppins Bold"/>
                <a:ea typeface="Poppins Bold"/>
                <a:cs typeface="Poppins Bold"/>
                <a:sym typeface="Poppins Bold"/>
              </a:rPr>
              <a:t>SSI</a:t>
            </a:r>
            <a:r>
              <a:rPr lang="en-US" b="true" sz="1945" strike="noStrike" u="none">
                <a:solidFill>
                  <a:srgbClr val="333333"/>
                </a:solidFill>
                <a:latin typeface="Poppins Bold"/>
                <a:ea typeface="Poppins Bold"/>
                <a:cs typeface="Poppins Bold"/>
                <a:sym typeface="Poppins Bold"/>
              </a:rPr>
              <a:t>N</a:t>
            </a:r>
            <a:r>
              <a:rPr lang="en-US" b="true" sz="1945" strike="noStrike" u="none">
                <a:solidFill>
                  <a:srgbClr val="333333"/>
                </a:solidFill>
                <a:latin typeface="Poppins Bold"/>
                <a:ea typeface="Poppins Bold"/>
                <a:cs typeface="Poppins Bold"/>
                <a:sym typeface="Poppins Bold"/>
              </a:rPr>
              <a:t>G</a:t>
            </a:r>
            <a:r>
              <a:rPr lang="en-US" b="true" sz="1945" strike="noStrike" u="none">
                <a:solidFill>
                  <a:srgbClr val="333333"/>
                </a:solidFill>
                <a:latin typeface="Poppins Bold"/>
                <a:ea typeface="Poppins Bold"/>
                <a:cs typeface="Poppins Bold"/>
                <a:sym typeface="Poppins Bold"/>
              </a:rPr>
              <a:t> </a:t>
            </a:r>
            <a:r>
              <a:rPr lang="en-US" b="true" sz="1945" strike="noStrike" u="none">
                <a:solidFill>
                  <a:srgbClr val="333333"/>
                </a:solidFill>
                <a:latin typeface="Poppins Bold"/>
                <a:ea typeface="Poppins Bold"/>
                <a:cs typeface="Poppins Bold"/>
                <a:sym typeface="Poppins Bold"/>
              </a:rPr>
              <a:t>&amp; D</a:t>
            </a:r>
            <a:r>
              <a:rPr lang="en-US" b="true" sz="1945" strike="noStrike" u="none">
                <a:solidFill>
                  <a:srgbClr val="333333"/>
                </a:solidFill>
                <a:latin typeface="Poppins Bold"/>
                <a:ea typeface="Poppins Bold"/>
                <a:cs typeface="Poppins Bold"/>
                <a:sym typeface="Poppins Bold"/>
              </a:rPr>
              <a:t>EPLOY</a:t>
            </a:r>
            <a:r>
              <a:rPr lang="en-US" b="true" sz="1945" strike="noStrike" u="none">
                <a:solidFill>
                  <a:srgbClr val="333333"/>
                </a:solidFill>
                <a:latin typeface="Poppins Bold"/>
                <a:ea typeface="Poppins Bold"/>
                <a:cs typeface="Poppins Bold"/>
                <a:sym typeface="Poppins Bold"/>
              </a:rPr>
              <a:t>M</a:t>
            </a:r>
            <a:r>
              <a:rPr lang="en-US" b="true" sz="1945" strike="noStrike" u="none">
                <a:solidFill>
                  <a:srgbClr val="333333"/>
                </a:solidFill>
                <a:latin typeface="Poppins Bold"/>
                <a:ea typeface="Poppins Bold"/>
                <a:cs typeface="Poppins Bold"/>
                <a:sym typeface="Poppins Bold"/>
              </a:rPr>
              <a:t>E</a:t>
            </a:r>
            <a:r>
              <a:rPr lang="en-US" b="true" sz="1945" strike="noStrike" u="none">
                <a:solidFill>
                  <a:srgbClr val="333333"/>
                </a:solidFill>
                <a:latin typeface="Poppins Bold"/>
                <a:ea typeface="Poppins Bold"/>
                <a:cs typeface="Poppins Bold"/>
                <a:sym typeface="Poppins Bold"/>
              </a:rPr>
              <a:t>N</a:t>
            </a:r>
            <a:r>
              <a:rPr lang="en-US" b="true" sz="1945" strike="noStrike" u="none">
                <a:solidFill>
                  <a:srgbClr val="333333"/>
                </a:solidFill>
                <a:latin typeface="Poppins Bold"/>
                <a:ea typeface="Poppins Bold"/>
                <a:cs typeface="Poppins Bold"/>
                <a:sym typeface="Poppins Bold"/>
              </a:rPr>
              <a:t>T</a:t>
            </a:r>
          </a:p>
        </p:txBody>
      </p:sp>
      <p:sp>
        <p:nvSpPr>
          <p:cNvPr name="TextBox 33" id="33"/>
          <p:cNvSpPr txBox="true"/>
          <p:nvPr/>
        </p:nvSpPr>
        <p:spPr>
          <a:xfrm rot="0">
            <a:off x="12547622" y="6649896"/>
            <a:ext cx="3571375" cy="1914912"/>
          </a:xfrm>
          <a:prstGeom prst="rect">
            <a:avLst/>
          </a:prstGeom>
        </p:spPr>
        <p:txBody>
          <a:bodyPr anchor="t" rtlCol="false" tIns="0" lIns="0" bIns="0" rIns="0">
            <a:spAutoFit/>
          </a:bodyPr>
          <a:lstStyle/>
          <a:p>
            <a:pPr algn="ctr">
              <a:lnSpc>
                <a:spcPts val="2567"/>
              </a:lnSpc>
            </a:pPr>
            <a:r>
              <a:rPr lang="en-US" sz="1834">
                <a:solidFill>
                  <a:srgbClr val="333333"/>
                </a:solidFill>
                <a:latin typeface="Poppins"/>
                <a:ea typeface="Poppins"/>
                <a:cs typeface="Poppins"/>
                <a:sym typeface="Poppins"/>
              </a:rPr>
              <a:t>Incorporates post-processing and classification to refine predictions and deliver scalable, real-world-ready geospatial insights for rural deployment.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grpSp>
        <p:nvGrpSpPr>
          <p:cNvPr name="Group 2" id="2"/>
          <p:cNvGrpSpPr/>
          <p:nvPr/>
        </p:nvGrpSpPr>
        <p:grpSpPr>
          <a:xfrm rot="0">
            <a:off x="2201428" y="2984777"/>
            <a:ext cx="5342083" cy="819694"/>
            <a:chOff x="0" y="0"/>
            <a:chExt cx="1365109" cy="209464"/>
          </a:xfrm>
        </p:grpSpPr>
        <p:sp>
          <p:nvSpPr>
            <p:cNvPr name="Freeform 3" id="3"/>
            <p:cNvSpPr/>
            <p:nvPr/>
          </p:nvSpPr>
          <p:spPr>
            <a:xfrm flipH="false" flipV="false" rot="0">
              <a:off x="0" y="0"/>
              <a:ext cx="1365109" cy="209464"/>
            </a:xfrm>
            <a:custGeom>
              <a:avLst/>
              <a:gdLst/>
              <a:ahLst/>
              <a:cxnLst/>
              <a:rect r="r" b="b" t="t" l="l"/>
              <a:pathLst>
                <a:path h="209464" w="1365109">
                  <a:moveTo>
                    <a:pt x="0" y="0"/>
                  </a:moveTo>
                  <a:lnTo>
                    <a:pt x="1365109" y="0"/>
                  </a:lnTo>
                  <a:lnTo>
                    <a:pt x="1365109" y="209464"/>
                  </a:lnTo>
                  <a:lnTo>
                    <a:pt x="0" y="209464"/>
                  </a:lnTo>
                  <a:close/>
                </a:path>
              </a:pathLst>
            </a:custGeom>
            <a:solidFill>
              <a:srgbClr val="BEAF9E"/>
            </a:solidFill>
            <a:ln w="19050" cap="sq">
              <a:solidFill>
                <a:srgbClr val="333333"/>
              </a:solidFill>
              <a:prstDash val="solid"/>
              <a:miter/>
            </a:ln>
          </p:spPr>
        </p:sp>
        <p:sp>
          <p:nvSpPr>
            <p:cNvPr name="TextBox 4" id="4"/>
            <p:cNvSpPr txBox="true"/>
            <p:nvPr/>
          </p:nvSpPr>
          <p:spPr>
            <a:xfrm>
              <a:off x="0" y="-114300"/>
              <a:ext cx="1365109" cy="323764"/>
            </a:xfrm>
            <a:prstGeom prst="rect">
              <a:avLst/>
            </a:prstGeom>
          </p:spPr>
          <p:txBody>
            <a:bodyPr anchor="ctr" rtlCol="false" tIns="50800" lIns="50800" bIns="50800" rIns="50800"/>
            <a:lstStyle/>
            <a:p>
              <a:pPr algn="ctr">
                <a:lnSpc>
                  <a:spcPts val="5880"/>
                </a:lnSpc>
              </a:pPr>
            </a:p>
          </p:txBody>
        </p:sp>
      </p:grpSp>
      <p:grpSp>
        <p:nvGrpSpPr>
          <p:cNvPr name="Group 5" id="5"/>
          <p:cNvGrpSpPr/>
          <p:nvPr/>
        </p:nvGrpSpPr>
        <p:grpSpPr>
          <a:xfrm rot="0">
            <a:off x="2198639" y="4713654"/>
            <a:ext cx="5291691" cy="738851"/>
            <a:chOff x="0" y="0"/>
            <a:chExt cx="1433016" cy="200085"/>
          </a:xfrm>
        </p:grpSpPr>
        <p:sp>
          <p:nvSpPr>
            <p:cNvPr name="Freeform 6" id="6"/>
            <p:cNvSpPr/>
            <p:nvPr/>
          </p:nvSpPr>
          <p:spPr>
            <a:xfrm flipH="false" flipV="false" rot="0">
              <a:off x="0" y="0"/>
              <a:ext cx="1433016" cy="200085"/>
            </a:xfrm>
            <a:custGeom>
              <a:avLst/>
              <a:gdLst/>
              <a:ahLst/>
              <a:cxnLst/>
              <a:rect r="r" b="b" t="t" l="l"/>
              <a:pathLst>
                <a:path h="200085" w="1433016">
                  <a:moveTo>
                    <a:pt x="0" y="0"/>
                  </a:moveTo>
                  <a:lnTo>
                    <a:pt x="1433016" y="0"/>
                  </a:lnTo>
                  <a:lnTo>
                    <a:pt x="1433016" y="200085"/>
                  </a:lnTo>
                  <a:lnTo>
                    <a:pt x="0" y="200085"/>
                  </a:lnTo>
                  <a:close/>
                </a:path>
              </a:pathLst>
            </a:custGeom>
            <a:solidFill>
              <a:srgbClr val="BEAF9E"/>
            </a:solidFill>
            <a:ln w="28575" cap="sq">
              <a:solidFill>
                <a:srgbClr val="333333"/>
              </a:solidFill>
              <a:prstDash val="solid"/>
              <a:miter/>
            </a:ln>
          </p:spPr>
        </p:sp>
        <p:sp>
          <p:nvSpPr>
            <p:cNvPr name="TextBox 7" id="7"/>
            <p:cNvSpPr txBox="true"/>
            <p:nvPr/>
          </p:nvSpPr>
          <p:spPr>
            <a:xfrm>
              <a:off x="0" y="-114300"/>
              <a:ext cx="1433016" cy="314385"/>
            </a:xfrm>
            <a:prstGeom prst="rect">
              <a:avLst/>
            </a:prstGeom>
          </p:spPr>
          <p:txBody>
            <a:bodyPr anchor="ctr" rtlCol="false" tIns="50800" lIns="50800" bIns="50800" rIns="50800"/>
            <a:lstStyle/>
            <a:p>
              <a:pPr algn="ctr" marL="0" indent="0" lvl="0">
                <a:lnSpc>
                  <a:spcPts val="5880"/>
                </a:lnSpc>
                <a:spcBef>
                  <a:spcPct val="0"/>
                </a:spcBef>
              </a:pPr>
            </a:p>
          </p:txBody>
        </p:sp>
      </p:grpSp>
      <p:grpSp>
        <p:nvGrpSpPr>
          <p:cNvPr name="Group 8" id="8"/>
          <p:cNvGrpSpPr/>
          <p:nvPr/>
        </p:nvGrpSpPr>
        <p:grpSpPr>
          <a:xfrm rot="0">
            <a:off x="2212869" y="6355755"/>
            <a:ext cx="5277461" cy="822389"/>
            <a:chOff x="0" y="0"/>
            <a:chExt cx="1630752" cy="254121"/>
          </a:xfrm>
        </p:grpSpPr>
        <p:sp>
          <p:nvSpPr>
            <p:cNvPr name="Freeform 9" id="9"/>
            <p:cNvSpPr/>
            <p:nvPr/>
          </p:nvSpPr>
          <p:spPr>
            <a:xfrm flipH="false" flipV="false" rot="0">
              <a:off x="0" y="0"/>
              <a:ext cx="1630752" cy="254121"/>
            </a:xfrm>
            <a:custGeom>
              <a:avLst/>
              <a:gdLst/>
              <a:ahLst/>
              <a:cxnLst/>
              <a:rect r="r" b="b" t="t" l="l"/>
              <a:pathLst>
                <a:path h="254121" w="1630752">
                  <a:moveTo>
                    <a:pt x="0" y="0"/>
                  </a:moveTo>
                  <a:lnTo>
                    <a:pt x="1630752" y="0"/>
                  </a:lnTo>
                  <a:lnTo>
                    <a:pt x="1630752" y="254121"/>
                  </a:lnTo>
                  <a:lnTo>
                    <a:pt x="0" y="254121"/>
                  </a:lnTo>
                  <a:close/>
                </a:path>
              </a:pathLst>
            </a:custGeom>
            <a:solidFill>
              <a:srgbClr val="BEAF9E"/>
            </a:solidFill>
            <a:ln w="28575" cap="sq">
              <a:solidFill>
                <a:srgbClr val="333333"/>
              </a:solidFill>
              <a:prstDash val="solid"/>
              <a:miter/>
            </a:ln>
          </p:spPr>
        </p:sp>
        <p:sp>
          <p:nvSpPr>
            <p:cNvPr name="TextBox 10" id="10"/>
            <p:cNvSpPr txBox="true"/>
            <p:nvPr/>
          </p:nvSpPr>
          <p:spPr>
            <a:xfrm>
              <a:off x="0" y="-114300"/>
              <a:ext cx="1630752" cy="368421"/>
            </a:xfrm>
            <a:prstGeom prst="rect">
              <a:avLst/>
            </a:prstGeom>
          </p:spPr>
          <p:txBody>
            <a:bodyPr anchor="ctr" rtlCol="false" tIns="50800" lIns="50800" bIns="50800" rIns="50800"/>
            <a:lstStyle/>
            <a:p>
              <a:pPr algn="ctr">
                <a:lnSpc>
                  <a:spcPts val="5880"/>
                </a:lnSpc>
              </a:pPr>
            </a:p>
          </p:txBody>
        </p:sp>
      </p:grpSp>
      <p:sp>
        <p:nvSpPr>
          <p:cNvPr name="Freeform 11" id="11"/>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grpSp>
        <p:nvGrpSpPr>
          <p:cNvPr name="Group 12" id="12"/>
          <p:cNvGrpSpPr/>
          <p:nvPr/>
        </p:nvGrpSpPr>
        <p:grpSpPr>
          <a:xfrm rot="0">
            <a:off x="10217634" y="4662493"/>
            <a:ext cx="5473232" cy="738851"/>
            <a:chOff x="0" y="0"/>
            <a:chExt cx="1482178" cy="200085"/>
          </a:xfrm>
        </p:grpSpPr>
        <p:sp>
          <p:nvSpPr>
            <p:cNvPr name="Freeform 13" id="13"/>
            <p:cNvSpPr/>
            <p:nvPr/>
          </p:nvSpPr>
          <p:spPr>
            <a:xfrm flipH="false" flipV="false" rot="0">
              <a:off x="0" y="0"/>
              <a:ext cx="1482178" cy="200085"/>
            </a:xfrm>
            <a:custGeom>
              <a:avLst/>
              <a:gdLst/>
              <a:ahLst/>
              <a:cxnLst/>
              <a:rect r="r" b="b" t="t" l="l"/>
              <a:pathLst>
                <a:path h="200085" w="1482178">
                  <a:moveTo>
                    <a:pt x="0" y="0"/>
                  </a:moveTo>
                  <a:lnTo>
                    <a:pt x="1482178" y="0"/>
                  </a:lnTo>
                  <a:lnTo>
                    <a:pt x="1482178" y="200085"/>
                  </a:lnTo>
                  <a:lnTo>
                    <a:pt x="0" y="200085"/>
                  </a:lnTo>
                  <a:close/>
                </a:path>
              </a:pathLst>
            </a:custGeom>
            <a:solidFill>
              <a:srgbClr val="BEAF9E"/>
            </a:solidFill>
            <a:ln w="28575" cap="sq">
              <a:solidFill>
                <a:srgbClr val="333333"/>
              </a:solidFill>
              <a:prstDash val="solid"/>
              <a:miter/>
            </a:ln>
          </p:spPr>
        </p:sp>
        <p:sp>
          <p:nvSpPr>
            <p:cNvPr name="TextBox 14" id="14"/>
            <p:cNvSpPr txBox="true"/>
            <p:nvPr/>
          </p:nvSpPr>
          <p:spPr>
            <a:xfrm>
              <a:off x="0" y="-114300"/>
              <a:ext cx="1482178" cy="314385"/>
            </a:xfrm>
            <a:prstGeom prst="rect">
              <a:avLst/>
            </a:prstGeom>
          </p:spPr>
          <p:txBody>
            <a:bodyPr anchor="ctr" rtlCol="false" tIns="50800" lIns="50800" bIns="50800" rIns="50800"/>
            <a:lstStyle/>
            <a:p>
              <a:pPr algn="ctr" marL="0" indent="0" lvl="0">
                <a:lnSpc>
                  <a:spcPts val="5880"/>
                </a:lnSpc>
                <a:spcBef>
                  <a:spcPct val="0"/>
                </a:spcBef>
              </a:pPr>
            </a:p>
          </p:txBody>
        </p:sp>
      </p:grpSp>
      <p:grpSp>
        <p:nvGrpSpPr>
          <p:cNvPr name="Group 15" id="15"/>
          <p:cNvGrpSpPr/>
          <p:nvPr/>
        </p:nvGrpSpPr>
        <p:grpSpPr>
          <a:xfrm rot="0">
            <a:off x="10231864" y="6304594"/>
            <a:ext cx="5277461" cy="822389"/>
            <a:chOff x="0" y="0"/>
            <a:chExt cx="1630752" cy="254121"/>
          </a:xfrm>
        </p:grpSpPr>
        <p:sp>
          <p:nvSpPr>
            <p:cNvPr name="Freeform 16" id="16"/>
            <p:cNvSpPr/>
            <p:nvPr/>
          </p:nvSpPr>
          <p:spPr>
            <a:xfrm flipH="false" flipV="false" rot="0">
              <a:off x="0" y="0"/>
              <a:ext cx="1630752" cy="254121"/>
            </a:xfrm>
            <a:custGeom>
              <a:avLst/>
              <a:gdLst/>
              <a:ahLst/>
              <a:cxnLst/>
              <a:rect r="r" b="b" t="t" l="l"/>
              <a:pathLst>
                <a:path h="254121" w="1630752">
                  <a:moveTo>
                    <a:pt x="0" y="0"/>
                  </a:moveTo>
                  <a:lnTo>
                    <a:pt x="1630752" y="0"/>
                  </a:lnTo>
                  <a:lnTo>
                    <a:pt x="1630752" y="254121"/>
                  </a:lnTo>
                  <a:lnTo>
                    <a:pt x="0" y="254121"/>
                  </a:lnTo>
                  <a:close/>
                </a:path>
              </a:pathLst>
            </a:custGeom>
            <a:solidFill>
              <a:srgbClr val="BEAF9E"/>
            </a:solidFill>
            <a:ln w="28575" cap="sq">
              <a:solidFill>
                <a:srgbClr val="333333"/>
              </a:solidFill>
              <a:prstDash val="solid"/>
              <a:miter/>
            </a:ln>
          </p:spPr>
        </p:sp>
        <p:sp>
          <p:nvSpPr>
            <p:cNvPr name="TextBox 17" id="17"/>
            <p:cNvSpPr txBox="true"/>
            <p:nvPr/>
          </p:nvSpPr>
          <p:spPr>
            <a:xfrm>
              <a:off x="0" y="-114300"/>
              <a:ext cx="1630752" cy="368421"/>
            </a:xfrm>
            <a:prstGeom prst="rect">
              <a:avLst/>
            </a:prstGeom>
          </p:spPr>
          <p:txBody>
            <a:bodyPr anchor="ctr" rtlCol="false" tIns="50800" lIns="50800" bIns="50800" rIns="50800"/>
            <a:lstStyle/>
            <a:p>
              <a:pPr algn="ctr">
                <a:lnSpc>
                  <a:spcPts val="5880"/>
                </a:lnSpc>
              </a:pPr>
            </a:p>
          </p:txBody>
        </p:sp>
      </p:grpSp>
      <p:grpSp>
        <p:nvGrpSpPr>
          <p:cNvPr name="Group 18" id="18"/>
          <p:cNvGrpSpPr/>
          <p:nvPr/>
        </p:nvGrpSpPr>
        <p:grpSpPr>
          <a:xfrm rot="0">
            <a:off x="10200257" y="8041546"/>
            <a:ext cx="5277461" cy="1350313"/>
            <a:chOff x="0" y="0"/>
            <a:chExt cx="1630752" cy="417251"/>
          </a:xfrm>
        </p:grpSpPr>
        <p:sp>
          <p:nvSpPr>
            <p:cNvPr name="Freeform 19" id="19"/>
            <p:cNvSpPr/>
            <p:nvPr/>
          </p:nvSpPr>
          <p:spPr>
            <a:xfrm flipH="false" flipV="false" rot="0">
              <a:off x="0" y="0"/>
              <a:ext cx="1630752" cy="417251"/>
            </a:xfrm>
            <a:custGeom>
              <a:avLst/>
              <a:gdLst/>
              <a:ahLst/>
              <a:cxnLst/>
              <a:rect r="r" b="b" t="t" l="l"/>
              <a:pathLst>
                <a:path h="417251" w="1630752">
                  <a:moveTo>
                    <a:pt x="0" y="0"/>
                  </a:moveTo>
                  <a:lnTo>
                    <a:pt x="1630752" y="0"/>
                  </a:lnTo>
                  <a:lnTo>
                    <a:pt x="1630752" y="417251"/>
                  </a:lnTo>
                  <a:lnTo>
                    <a:pt x="0" y="417251"/>
                  </a:lnTo>
                  <a:close/>
                </a:path>
              </a:pathLst>
            </a:custGeom>
            <a:solidFill>
              <a:srgbClr val="BEAF9E"/>
            </a:solidFill>
            <a:ln w="28575" cap="sq">
              <a:solidFill>
                <a:srgbClr val="333333"/>
              </a:solidFill>
              <a:prstDash val="solid"/>
              <a:miter/>
            </a:ln>
          </p:spPr>
        </p:sp>
        <p:sp>
          <p:nvSpPr>
            <p:cNvPr name="TextBox 20" id="20"/>
            <p:cNvSpPr txBox="true"/>
            <p:nvPr/>
          </p:nvSpPr>
          <p:spPr>
            <a:xfrm>
              <a:off x="0" y="-114300"/>
              <a:ext cx="1630752" cy="531551"/>
            </a:xfrm>
            <a:prstGeom prst="rect">
              <a:avLst/>
            </a:prstGeom>
          </p:spPr>
          <p:txBody>
            <a:bodyPr anchor="ctr" rtlCol="false" tIns="50800" lIns="50800" bIns="50800" rIns="50800"/>
            <a:lstStyle/>
            <a:p>
              <a:pPr algn="ctr">
                <a:lnSpc>
                  <a:spcPts val="5880"/>
                </a:lnSpc>
              </a:pPr>
            </a:p>
          </p:txBody>
        </p:sp>
      </p:grpSp>
      <p:grpSp>
        <p:nvGrpSpPr>
          <p:cNvPr name="Group 21" id="21"/>
          <p:cNvGrpSpPr/>
          <p:nvPr/>
        </p:nvGrpSpPr>
        <p:grpSpPr>
          <a:xfrm rot="0">
            <a:off x="10220423" y="2933616"/>
            <a:ext cx="5470443" cy="842339"/>
            <a:chOff x="0" y="0"/>
            <a:chExt cx="1397910" cy="215250"/>
          </a:xfrm>
        </p:grpSpPr>
        <p:sp>
          <p:nvSpPr>
            <p:cNvPr name="Freeform 22" id="22"/>
            <p:cNvSpPr/>
            <p:nvPr/>
          </p:nvSpPr>
          <p:spPr>
            <a:xfrm flipH="false" flipV="false" rot="0">
              <a:off x="0" y="0"/>
              <a:ext cx="1397910" cy="215250"/>
            </a:xfrm>
            <a:custGeom>
              <a:avLst/>
              <a:gdLst/>
              <a:ahLst/>
              <a:cxnLst/>
              <a:rect r="r" b="b" t="t" l="l"/>
              <a:pathLst>
                <a:path h="215250" w="1397910">
                  <a:moveTo>
                    <a:pt x="0" y="0"/>
                  </a:moveTo>
                  <a:lnTo>
                    <a:pt x="1397910" y="0"/>
                  </a:lnTo>
                  <a:lnTo>
                    <a:pt x="1397910" y="215250"/>
                  </a:lnTo>
                  <a:lnTo>
                    <a:pt x="0" y="215250"/>
                  </a:lnTo>
                  <a:close/>
                </a:path>
              </a:pathLst>
            </a:custGeom>
            <a:solidFill>
              <a:srgbClr val="BEAF9E"/>
            </a:solidFill>
            <a:ln w="28575" cap="sq">
              <a:solidFill>
                <a:srgbClr val="333333"/>
              </a:solidFill>
              <a:prstDash val="solid"/>
              <a:miter/>
            </a:ln>
          </p:spPr>
        </p:sp>
        <p:sp>
          <p:nvSpPr>
            <p:cNvPr name="TextBox 23" id="23"/>
            <p:cNvSpPr txBox="true"/>
            <p:nvPr/>
          </p:nvSpPr>
          <p:spPr>
            <a:xfrm>
              <a:off x="0" y="-114300"/>
              <a:ext cx="1397910" cy="329550"/>
            </a:xfrm>
            <a:prstGeom prst="rect">
              <a:avLst/>
            </a:prstGeom>
          </p:spPr>
          <p:txBody>
            <a:bodyPr anchor="ctr" rtlCol="false" tIns="50800" lIns="50800" bIns="50800" rIns="50800"/>
            <a:lstStyle/>
            <a:p>
              <a:pPr algn="ctr">
                <a:lnSpc>
                  <a:spcPts val="5880"/>
                </a:lnSpc>
              </a:pPr>
            </a:p>
          </p:txBody>
        </p:sp>
      </p:grpSp>
      <p:grpSp>
        <p:nvGrpSpPr>
          <p:cNvPr name="Group 24" id="24"/>
          <p:cNvGrpSpPr/>
          <p:nvPr/>
        </p:nvGrpSpPr>
        <p:grpSpPr>
          <a:xfrm rot="0">
            <a:off x="2181262" y="8092707"/>
            <a:ext cx="5277461" cy="1299152"/>
            <a:chOff x="0" y="0"/>
            <a:chExt cx="1630752" cy="401442"/>
          </a:xfrm>
        </p:grpSpPr>
        <p:sp>
          <p:nvSpPr>
            <p:cNvPr name="Freeform 25" id="25"/>
            <p:cNvSpPr/>
            <p:nvPr/>
          </p:nvSpPr>
          <p:spPr>
            <a:xfrm flipH="false" flipV="false" rot="0">
              <a:off x="0" y="0"/>
              <a:ext cx="1630752" cy="401442"/>
            </a:xfrm>
            <a:custGeom>
              <a:avLst/>
              <a:gdLst/>
              <a:ahLst/>
              <a:cxnLst/>
              <a:rect r="r" b="b" t="t" l="l"/>
              <a:pathLst>
                <a:path h="401442" w="1630752">
                  <a:moveTo>
                    <a:pt x="0" y="0"/>
                  </a:moveTo>
                  <a:lnTo>
                    <a:pt x="1630752" y="0"/>
                  </a:lnTo>
                  <a:lnTo>
                    <a:pt x="1630752" y="401442"/>
                  </a:lnTo>
                  <a:lnTo>
                    <a:pt x="0" y="401442"/>
                  </a:lnTo>
                  <a:close/>
                </a:path>
              </a:pathLst>
            </a:custGeom>
            <a:solidFill>
              <a:srgbClr val="BEAF9E"/>
            </a:solidFill>
            <a:ln w="28575" cap="sq">
              <a:solidFill>
                <a:srgbClr val="333333"/>
              </a:solidFill>
              <a:prstDash val="solid"/>
              <a:miter/>
            </a:ln>
          </p:spPr>
        </p:sp>
        <p:sp>
          <p:nvSpPr>
            <p:cNvPr name="TextBox 26" id="26"/>
            <p:cNvSpPr txBox="true"/>
            <p:nvPr/>
          </p:nvSpPr>
          <p:spPr>
            <a:xfrm>
              <a:off x="0" y="-114300"/>
              <a:ext cx="1630752" cy="515742"/>
            </a:xfrm>
            <a:prstGeom prst="rect">
              <a:avLst/>
            </a:prstGeom>
          </p:spPr>
          <p:txBody>
            <a:bodyPr anchor="ctr" rtlCol="false" tIns="50800" lIns="50800" bIns="50800" rIns="50800"/>
            <a:lstStyle/>
            <a:p>
              <a:pPr algn="ctr">
                <a:lnSpc>
                  <a:spcPts val="5880"/>
                </a:lnSpc>
              </a:pPr>
            </a:p>
          </p:txBody>
        </p:sp>
      </p:grpSp>
      <p:sp>
        <p:nvSpPr>
          <p:cNvPr name="Freeform 27" id="27"/>
          <p:cNvSpPr/>
          <p:nvPr/>
        </p:nvSpPr>
        <p:spPr>
          <a:xfrm flipH="true" flipV="false" rot="0">
            <a:off x="8845293" y="3017062"/>
            <a:ext cx="915135" cy="901824"/>
          </a:xfrm>
          <a:custGeom>
            <a:avLst/>
            <a:gdLst/>
            <a:ahLst/>
            <a:cxnLst/>
            <a:rect r="r" b="b" t="t" l="l"/>
            <a:pathLst>
              <a:path h="901824" w="915135">
                <a:moveTo>
                  <a:pt x="915135" y="0"/>
                </a:moveTo>
                <a:lnTo>
                  <a:pt x="0" y="0"/>
                </a:lnTo>
                <a:lnTo>
                  <a:pt x="0" y="901824"/>
                </a:lnTo>
                <a:lnTo>
                  <a:pt x="915135" y="901824"/>
                </a:lnTo>
                <a:lnTo>
                  <a:pt x="91513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true" rot="0">
            <a:off x="7956750" y="8627701"/>
            <a:ext cx="915135" cy="901824"/>
          </a:xfrm>
          <a:custGeom>
            <a:avLst/>
            <a:gdLst/>
            <a:ahLst/>
            <a:cxnLst/>
            <a:rect r="r" b="b" t="t" l="l"/>
            <a:pathLst>
              <a:path h="901824" w="915135">
                <a:moveTo>
                  <a:pt x="0" y="901823"/>
                </a:moveTo>
                <a:lnTo>
                  <a:pt x="915134" y="901823"/>
                </a:lnTo>
                <a:lnTo>
                  <a:pt x="915134" y="0"/>
                </a:lnTo>
                <a:lnTo>
                  <a:pt x="0" y="0"/>
                </a:lnTo>
                <a:lnTo>
                  <a:pt x="0" y="90182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9" id="29"/>
          <p:cNvSpPr/>
          <p:nvPr/>
        </p:nvSpPr>
        <p:spPr>
          <a:xfrm>
            <a:off x="8871884" y="3713128"/>
            <a:ext cx="0" cy="5033024"/>
          </a:xfrm>
          <a:prstGeom prst="line">
            <a:avLst/>
          </a:prstGeom>
          <a:ln cap="flat" w="38100">
            <a:solidFill>
              <a:srgbClr val="000000"/>
            </a:solidFill>
            <a:prstDash val="solid"/>
            <a:headEnd type="none" len="sm" w="sm"/>
            <a:tailEnd type="none" len="sm" w="sm"/>
          </a:ln>
        </p:spPr>
      </p:sp>
      <p:sp>
        <p:nvSpPr>
          <p:cNvPr name="Freeform 30" id="30"/>
          <p:cNvSpPr/>
          <p:nvPr/>
        </p:nvSpPr>
        <p:spPr>
          <a:xfrm flipH="false" flipV="false" rot="5400000">
            <a:off x="4425570" y="4010323"/>
            <a:ext cx="757238" cy="497023"/>
          </a:xfrm>
          <a:custGeom>
            <a:avLst/>
            <a:gdLst/>
            <a:ahLst/>
            <a:cxnLst/>
            <a:rect r="r" b="b" t="t" l="l"/>
            <a:pathLst>
              <a:path h="497023" w="757238">
                <a:moveTo>
                  <a:pt x="0" y="0"/>
                </a:moveTo>
                <a:lnTo>
                  <a:pt x="757238" y="0"/>
                </a:lnTo>
                <a:lnTo>
                  <a:pt x="757238" y="497023"/>
                </a:lnTo>
                <a:lnTo>
                  <a:pt x="0" y="4970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1623811" y="3198034"/>
            <a:ext cx="6598103"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Satellite Image (GeoTIFF)</a:t>
            </a:r>
          </a:p>
        </p:txBody>
      </p:sp>
      <p:sp>
        <p:nvSpPr>
          <p:cNvPr name="TextBox 32" id="32"/>
          <p:cNvSpPr txBox="true"/>
          <p:nvPr/>
        </p:nvSpPr>
        <p:spPr>
          <a:xfrm rot="0">
            <a:off x="2181262" y="4857021"/>
            <a:ext cx="5309068"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Tiling (1024x1024)</a:t>
            </a:r>
          </a:p>
        </p:txBody>
      </p:sp>
      <p:sp>
        <p:nvSpPr>
          <p:cNvPr name="TextBox 33" id="33"/>
          <p:cNvSpPr txBox="true"/>
          <p:nvPr/>
        </p:nvSpPr>
        <p:spPr>
          <a:xfrm rot="0">
            <a:off x="2509409" y="6533015"/>
            <a:ext cx="4652774"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Segmentation Model</a:t>
            </a:r>
          </a:p>
        </p:txBody>
      </p:sp>
      <p:sp>
        <p:nvSpPr>
          <p:cNvPr name="TextBox 34" id="34"/>
          <p:cNvSpPr txBox="true"/>
          <p:nvPr/>
        </p:nvSpPr>
        <p:spPr>
          <a:xfrm rot="0">
            <a:off x="1028700" y="1095375"/>
            <a:ext cx="12514343" cy="1165618"/>
          </a:xfrm>
          <a:prstGeom prst="rect">
            <a:avLst/>
          </a:prstGeom>
        </p:spPr>
        <p:txBody>
          <a:bodyPr anchor="t" rtlCol="false" tIns="0" lIns="0" bIns="0" rIns="0">
            <a:spAutoFit/>
          </a:bodyPr>
          <a:lstStyle/>
          <a:p>
            <a:pPr algn="l">
              <a:lnSpc>
                <a:spcPts val="8271"/>
              </a:lnSpc>
            </a:pPr>
            <a:r>
              <a:rPr lang="en-US" sz="8109" b="true">
                <a:solidFill>
                  <a:srgbClr val="333333"/>
                </a:solidFill>
                <a:latin typeface="Poppins Bold"/>
                <a:ea typeface="Poppins Bold"/>
                <a:cs typeface="Poppins Bold"/>
                <a:sym typeface="Poppins Bold"/>
              </a:rPr>
              <a:t>Workflow Pipeline</a:t>
            </a:r>
          </a:p>
        </p:txBody>
      </p:sp>
      <p:sp>
        <p:nvSpPr>
          <p:cNvPr name="TextBox 35" id="35"/>
          <p:cNvSpPr txBox="true"/>
          <p:nvPr/>
        </p:nvSpPr>
        <p:spPr>
          <a:xfrm rot="0">
            <a:off x="10273125" y="4800461"/>
            <a:ext cx="5362250" cy="482271"/>
          </a:xfrm>
          <a:prstGeom prst="rect">
            <a:avLst/>
          </a:prstGeom>
        </p:spPr>
        <p:txBody>
          <a:bodyPr anchor="t" rtlCol="false" tIns="0" lIns="0" bIns="0" rIns="0">
            <a:spAutoFit/>
          </a:bodyPr>
          <a:lstStyle/>
          <a:p>
            <a:pPr algn="ctr">
              <a:lnSpc>
                <a:spcPts val="3490"/>
              </a:lnSpc>
            </a:pPr>
            <a:r>
              <a:rPr lang="en-US" sz="3232">
                <a:solidFill>
                  <a:srgbClr val="333333"/>
                </a:solidFill>
                <a:latin typeface="Poppins"/>
                <a:ea typeface="Poppins"/>
                <a:cs typeface="Poppins"/>
                <a:sym typeface="Poppins"/>
              </a:rPr>
              <a:t>Roof-Type Segmentation</a:t>
            </a:r>
          </a:p>
        </p:txBody>
      </p:sp>
      <p:sp>
        <p:nvSpPr>
          <p:cNvPr name="TextBox 36" id="36"/>
          <p:cNvSpPr txBox="true"/>
          <p:nvPr/>
        </p:nvSpPr>
        <p:spPr>
          <a:xfrm rot="0">
            <a:off x="10528404" y="6481854"/>
            <a:ext cx="4652774"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Overlay Visualization</a:t>
            </a:r>
          </a:p>
        </p:txBody>
      </p:sp>
      <p:sp>
        <p:nvSpPr>
          <p:cNvPr name="TextBox 37" id="37"/>
          <p:cNvSpPr txBox="true"/>
          <p:nvPr/>
        </p:nvSpPr>
        <p:spPr>
          <a:xfrm rot="0">
            <a:off x="10512601" y="8482768"/>
            <a:ext cx="4652774"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GeoJSON Export</a:t>
            </a:r>
          </a:p>
        </p:txBody>
      </p:sp>
      <p:sp>
        <p:nvSpPr>
          <p:cNvPr name="TextBox 38" id="38"/>
          <p:cNvSpPr txBox="true"/>
          <p:nvPr/>
        </p:nvSpPr>
        <p:spPr>
          <a:xfrm rot="0">
            <a:off x="9697104" y="3146873"/>
            <a:ext cx="6598103" cy="47739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Post Processing (Cleanup)</a:t>
            </a:r>
          </a:p>
        </p:txBody>
      </p:sp>
      <p:sp>
        <p:nvSpPr>
          <p:cNvPr name="TextBox 39" id="39"/>
          <p:cNvSpPr txBox="true"/>
          <p:nvPr/>
        </p:nvSpPr>
        <p:spPr>
          <a:xfrm rot="0">
            <a:off x="2477802" y="8269967"/>
            <a:ext cx="4652774" cy="915543"/>
          </a:xfrm>
          <a:prstGeom prst="rect">
            <a:avLst/>
          </a:prstGeom>
        </p:spPr>
        <p:txBody>
          <a:bodyPr anchor="t" rtlCol="false" tIns="0" lIns="0" bIns="0" rIns="0">
            <a:spAutoFit/>
          </a:bodyPr>
          <a:lstStyle/>
          <a:p>
            <a:pPr algn="ctr">
              <a:lnSpc>
                <a:spcPts val="3456"/>
              </a:lnSpc>
            </a:pPr>
            <a:r>
              <a:rPr lang="en-US" sz="3200">
                <a:solidFill>
                  <a:srgbClr val="333333"/>
                </a:solidFill>
                <a:latin typeface="Poppins"/>
                <a:ea typeface="Poppins"/>
                <a:cs typeface="Poppins"/>
                <a:sym typeface="Poppins"/>
              </a:rPr>
              <a:t>Tile Stitching (Full Map)</a:t>
            </a:r>
          </a:p>
        </p:txBody>
      </p:sp>
      <p:sp>
        <p:nvSpPr>
          <p:cNvPr name="Freeform 40" id="40"/>
          <p:cNvSpPr/>
          <p:nvPr/>
        </p:nvSpPr>
        <p:spPr>
          <a:xfrm flipH="false" flipV="false" rot="5400000">
            <a:off x="4425570" y="5655618"/>
            <a:ext cx="757238" cy="497023"/>
          </a:xfrm>
          <a:custGeom>
            <a:avLst/>
            <a:gdLst/>
            <a:ahLst/>
            <a:cxnLst/>
            <a:rect r="r" b="b" t="t" l="l"/>
            <a:pathLst>
              <a:path h="497023" w="757238">
                <a:moveTo>
                  <a:pt x="0" y="0"/>
                </a:moveTo>
                <a:lnTo>
                  <a:pt x="757238" y="0"/>
                </a:lnTo>
                <a:lnTo>
                  <a:pt x="757238" y="497024"/>
                </a:lnTo>
                <a:lnTo>
                  <a:pt x="0" y="49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1" id="41"/>
          <p:cNvSpPr/>
          <p:nvPr/>
        </p:nvSpPr>
        <p:spPr>
          <a:xfrm flipH="false" flipV="false" rot="5400000">
            <a:off x="4425570" y="7384451"/>
            <a:ext cx="757238" cy="497023"/>
          </a:xfrm>
          <a:custGeom>
            <a:avLst/>
            <a:gdLst/>
            <a:ahLst/>
            <a:cxnLst/>
            <a:rect r="r" b="b" t="t" l="l"/>
            <a:pathLst>
              <a:path h="497023" w="757238">
                <a:moveTo>
                  <a:pt x="0" y="0"/>
                </a:moveTo>
                <a:lnTo>
                  <a:pt x="757238" y="0"/>
                </a:lnTo>
                <a:lnTo>
                  <a:pt x="757238" y="497023"/>
                </a:lnTo>
                <a:lnTo>
                  <a:pt x="0" y="4970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2" id="42"/>
          <p:cNvSpPr/>
          <p:nvPr/>
        </p:nvSpPr>
        <p:spPr>
          <a:xfrm flipH="false" flipV="false" rot="5400000">
            <a:off x="12369025" y="3970712"/>
            <a:ext cx="757238" cy="497023"/>
          </a:xfrm>
          <a:custGeom>
            <a:avLst/>
            <a:gdLst/>
            <a:ahLst/>
            <a:cxnLst/>
            <a:rect r="r" b="b" t="t" l="l"/>
            <a:pathLst>
              <a:path h="497023" w="757238">
                <a:moveTo>
                  <a:pt x="0" y="0"/>
                </a:moveTo>
                <a:lnTo>
                  <a:pt x="757238" y="0"/>
                </a:lnTo>
                <a:lnTo>
                  <a:pt x="757238" y="497024"/>
                </a:lnTo>
                <a:lnTo>
                  <a:pt x="0" y="49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3" id="43"/>
          <p:cNvSpPr/>
          <p:nvPr/>
        </p:nvSpPr>
        <p:spPr>
          <a:xfrm flipH="false" flipV="false" rot="5400000">
            <a:off x="12369025" y="5582612"/>
            <a:ext cx="757238" cy="497023"/>
          </a:xfrm>
          <a:custGeom>
            <a:avLst/>
            <a:gdLst/>
            <a:ahLst/>
            <a:cxnLst/>
            <a:rect r="r" b="b" t="t" l="l"/>
            <a:pathLst>
              <a:path h="497023" w="757238">
                <a:moveTo>
                  <a:pt x="0" y="0"/>
                </a:moveTo>
                <a:lnTo>
                  <a:pt x="757238" y="0"/>
                </a:lnTo>
                <a:lnTo>
                  <a:pt x="757238" y="497024"/>
                </a:lnTo>
                <a:lnTo>
                  <a:pt x="0" y="49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4" id="44"/>
          <p:cNvSpPr/>
          <p:nvPr/>
        </p:nvSpPr>
        <p:spPr>
          <a:xfrm flipH="false" flipV="false" rot="5400000">
            <a:off x="12369025" y="7384451"/>
            <a:ext cx="757238" cy="497023"/>
          </a:xfrm>
          <a:custGeom>
            <a:avLst/>
            <a:gdLst/>
            <a:ahLst/>
            <a:cxnLst/>
            <a:rect r="r" b="b" t="t" l="l"/>
            <a:pathLst>
              <a:path h="497023" w="757238">
                <a:moveTo>
                  <a:pt x="0" y="0"/>
                </a:moveTo>
                <a:lnTo>
                  <a:pt x="757238" y="0"/>
                </a:lnTo>
                <a:lnTo>
                  <a:pt x="757238" y="497023"/>
                </a:lnTo>
                <a:lnTo>
                  <a:pt x="0" y="4970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grpSp>
        <p:nvGrpSpPr>
          <p:cNvPr name="Group 2" id="2"/>
          <p:cNvGrpSpPr/>
          <p:nvPr/>
        </p:nvGrpSpPr>
        <p:grpSpPr>
          <a:xfrm rot="0">
            <a:off x="799491" y="2928370"/>
            <a:ext cx="7629068" cy="2673610"/>
            <a:chOff x="0" y="0"/>
            <a:chExt cx="10172091" cy="3564814"/>
          </a:xfrm>
        </p:grpSpPr>
        <p:grpSp>
          <p:nvGrpSpPr>
            <p:cNvPr name="Group 3" id="3"/>
            <p:cNvGrpSpPr/>
            <p:nvPr/>
          </p:nvGrpSpPr>
          <p:grpSpPr>
            <a:xfrm rot="0">
              <a:off x="0" y="0"/>
              <a:ext cx="10172091" cy="3564814"/>
              <a:chOff x="0" y="0"/>
              <a:chExt cx="2042303" cy="715726"/>
            </a:xfrm>
          </p:grpSpPr>
          <p:sp>
            <p:nvSpPr>
              <p:cNvPr name="Freeform 4" id="4"/>
              <p:cNvSpPr/>
              <p:nvPr/>
            </p:nvSpPr>
            <p:spPr>
              <a:xfrm flipH="false" flipV="false" rot="0">
                <a:off x="0" y="0"/>
                <a:ext cx="2042303" cy="715726"/>
              </a:xfrm>
              <a:custGeom>
                <a:avLst/>
                <a:gdLst/>
                <a:ahLst/>
                <a:cxnLst/>
                <a:rect r="r" b="b" t="t" l="l"/>
                <a:pathLst>
                  <a:path h="715726" w="2042303">
                    <a:moveTo>
                      <a:pt x="0" y="0"/>
                    </a:moveTo>
                    <a:lnTo>
                      <a:pt x="2042303" y="0"/>
                    </a:lnTo>
                    <a:lnTo>
                      <a:pt x="2042303" y="715726"/>
                    </a:lnTo>
                    <a:lnTo>
                      <a:pt x="0" y="715726"/>
                    </a:lnTo>
                    <a:close/>
                  </a:path>
                </a:pathLst>
              </a:custGeom>
              <a:solidFill>
                <a:srgbClr val="F2ECE2"/>
              </a:solidFill>
              <a:ln w="9525" cap="sq">
                <a:solidFill>
                  <a:srgbClr val="333333"/>
                </a:solidFill>
                <a:prstDash val="solid"/>
                <a:miter/>
              </a:ln>
            </p:spPr>
          </p:sp>
          <p:sp>
            <p:nvSpPr>
              <p:cNvPr name="TextBox 5" id="5"/>
              <p:cNvSpPr txBox="true"/>
              <p:nvPr/>
            </p:nvSpPr>
            <p:spPr>
              <a:xfrm>
                <a:off x="0" y="-114300"/>
                <a:ext cx="2042303" cy="830026"/>
              </a:xfrm>
              <a:prstGeom prst="rect">
                <a:avLst/>
              </a:prstGeom>
            </p:spPr>
            <p:txBody>
              <a:bodyPr anchor="ctr" rtlCol="false" tIns="50800" lIns="50800" bIns="50800" rIns="50800"/>
              <a:lstStyle/>
              <a:p>
                <a:pPr algn="ctr">
                  <a:lnSpc>
                    <a:spcPts val="5879"/>
                  </a:lnSpc>
                </a:pPr>
              </a:p>
            </p:txBody>
          </p:sp>
        </p:grpSp>
        <p:sp>
          <p:nvSpPr>
            <p:cNvPr name="TextBox 6" id="6"/>
            <p:cNvSpPr txBox="true"/>
            <p:nvPr/>
          </p:nvSpPr>
          <p:spPr>
            <a:xfrm rot="0">
              <a:off x="28938" y="404944"/>
              <a:ext cx="10143153" cy="2764452"/>
            </a:xfrm>
            <a:prstGeom prst="rect">
              <a:avLst/>
            </a:prstGeom>
          </p:spPr>
          <p:txBody>
            <a:bodyPr anchor="t" rtlCol="false" tIns="0" lIns="0" bIns="0" rIns="0">
              <a:spAutoFit/>
            </a:bodyPr>
            <a:lstStyle/>
            <a:p>
              <a:pPr algn="ctr">
                <a:lnSpc>
                  <a:spcPts val="4329"/>
                </a:lnSpc>
              </a:pPr>
              <a:r>
                <a:rPr lang="en-US" sz="4009" b="true">
                  <a:solidFill>
                    <a:srgbClr val="333333"/>
                  </a:solidFill>
                  <a:latin typeface="Poppins Bold"/>
                  <a:ea typeface="Poppins Bold"/>
                  <a:cs typeface="Poppins Bold"/>
                  <a:sym typeface="Poppins Bold"/>
                </a:rPr>
                <a:t>Geospatial Processing:</a:t>
              </a:r>
            </a:p>
            <a:p>
              <a:pPr algn="l" marL="598042" indent="-299021" lvl="1">
                <a:lnSpc>
                  <a:spcPts val="2991"/>
                </a:lnSpc>
                <a:buFont typeface="Arial"/>
                <a:buChar char="•"/>
              </a:pPr>
              <a:r>
                <a:rPr lang="en-US" sz="2769">
                  <a:solidFill>
                    <a:srgbClr val="333333"/>
                  </a:solidFill>
                  <a:latin typeface="Poppins"/>
                  <a:ea typeface="Poppins"/>
                  <a:cs typeface="Poppins"/>
                  <a:sym typeface="Poppins"/>
                </a:rPr>
                <a:t>QGIS / GDAL for CRS alignment and raster operations</a:t>
              </a:r>
            </a:p>
            <a:p>
              <a:pPr algn="l" marL="598042" indent="-299021" lvl="1">
                <a:lnSpc>
                  <a:spcPts val="2991"/>
                </a:lnSpc>
                <a:buFont typeface="Arial"/>
                <a:buChar char="•"/>
              </a:pPr>
              <a:r>
                <a:rPr lang="en-US" sz="2769">
                  <a:solidFill>
                    <a:srgbClr val="333333"/>
                  </a:solidFill>
                  <a:latin typeface="Poppins"/>
                  <a:ea typeface="Poppins"/>
                  <a:cs typeface="Poppins"/>
                  <a:sym typeface="Poppins"/>
                </a:rPr>
                <a:t>Shapefile rasterization for mask generation</a:t>
              </a:r>
            </a:p>
          </p:txBody>
        </p:sp>
      </p:grpSp>
      <p:sp>
        <p:nvSpPr>
          <p:cNvPr name="TextBox 7" id="7"/>
          <p:cNvSpPr txBox="true"/>
          <p:nvPr/>
        </p:nvSpPr>
        <p:spPr>
          <a:xfrm rot="0">
            <a:off x="864733" y="1009482"/>
            <a:ext cx="8575347" cy="1166455"/>
          </a:xfrm>
          <a:prstGeom prst="rect">
            <a:avLst/>
          </a:prstGeom>
        </p:spPr>
        <p:txBody>
          <a:bodyPr anchor="t" rtlCol="false" tIns="0" lIns="0" bIns="0" rIns="0">
            <a:spAutoFit/>
          </a:bodyPr>
          <a:lstStyle/>
          <a:p>
            <a:pPr algn="l">
              <a:lnSpc>
                <a:spcPts val="8271"/>
              </a:lnSpc>
            </a:pPr>
            <a:r>
              <a:rPr lang="en-US" sz="8109" b="true">
                <a:solidFill>
                  <a:srgbClr val="F2ECE2"/>
                </a:solidFill>
                <a:latin typeface="Poppins Bold"/>
                <a:ea typeface="Poppins Bold"/>
                <a:cs typeface="Poppins Bold"/>
                <a:sym typeface="Poppins Bold"/>
              </a:rPr>
              <a:t>Tech Stack</a:t>
            </a:r>
          </a:p>
        </p:txBody>
      </p:sp>
      <p:grpSp>
        <p:nvGrpSpPr>
          <p:cNvPr name="Group 8" id="8"/>
          <p:cNvGrpSpPr/>
          <p:nvPr/>
        </p:nvGrpSpPr>
        <p:grpSpPr>
          <a:xfrm rot="0">
            <a:off x="799491" y="6380217"/>
            <a:ext cx="7629068" cy="2878083"/>
            <a:chOff x="0" y="0"/>
            <a:chExt cx="10172091" cy="3837443"/>
          </a:xfrm>
        </p:grpSpPr>
        <p:grpSp>
          <p:nvGrpSpPr>
            <p:cNvPr name="Group 9" id="9"/>
            <p:cNvGrpSpPr/>
            <p:nvPr/>
          </p:nvGrpSpPr>
          <p:grpSpPr>
            <a:xfrm rot="0">
              <a:off x="0" y="0"/>
              <a:ext cx="10172091" cy="3837443"/>
              <a:chOff x="0" y="0"/>
              <a:chExt cx="2390416" cy="901789"/>
            </a:xfrm>
          </p:grpSpPr>
          <p:sp>
            <p:nvSpPr>
              <p:cNvPr name="Freeform 10" id="10"/>
              <p:cNvSpPr/>
              <p:nvPr/>
            </p:nvSpPr>
            <p:spPr>
              <a:xfrm flipH="false" flipV="false" rot="0">
                <a:off x="0" y="0"/>
                <a:ext cx="2390416" cy="901789"/>
              </a:xfrm>
              <a:custGeom>
                <a:avLst/>
                <a:gdLst/>
                <a:ahLst/>
                <a:cxnLst/>
                <a:rect r="r" b="b" t="t" l="l"/>
                <a:pathLst>
                  <a:path h="901789" w="2390416">
                    <a:moveTo>
                      <a:pt x="0" y="0"/>
                    </a:moveTo>
                    <a:lnTo>
                      <a:pt x="2390416" y="0"/>
                    </a:lnTo>
                    <a:lnTo>
                      <a:pt x="2390416" y="901789"/>
                    </a:lnTo>
                    <a:lnTo>
                      <a:pt x="0" y="901789"/>
                    </a:lnTo>
                    <a:close/>
                  </a:path>
                </a:pathLst>
              </a:custGeom>
              <a:solidFill>
                <a:srgbClr val="F2ECE2"/>
              </a:solidFill>
              <a:ln w="9525" cap="sq">
                <a:solidFill>
                  <a:srgbClr val="333333"/>
                </a:solidFill>
                <a:prstDash val="solid"/>
                <a:miter/>
              </a:ln>
            </p:spPr>
          </p:sp>
          <p:sp>
            <p:nvSpPr>
              <p:cNvPr name="TextBox 11" id="11"/>
              <p:cNvSpPr txBox="true"/>
              <p:nvPr/>
            </p:nvSpPr>
            <p:spPr>
              <a:xfrm>
                <a:off x="0" y="-114300"/>
                <a:ext cx="2390416" cy="1016089"/>
              </a:xfrm>
              <a:prstGeom prst="rect">
                <a:avLst/>
              </a:prstGeom>
            </p:spPr>
            <p:txBody>
              <a:bodyPr anchor="ctr" rtlCol="false" tIns="50800" lIns="50800" bIns="50800" rIns="50800"/>
              <a:lstStyle/>
              <a:p>
                <a:pPr algn="ctr">
                  <a:lnSpc>
                    <a:spcPts val="5880"/>
                  </a:lnSpc>
                </a:pPr>
              </a:p>
            </p:txBody>
          </p:sp>
        </p:grpSp>
        <p:sp>
          <p:nvSpPr>
            <p:cNvPr name="TextBox 12" id="12"/>
            <p:cNvSpPr txBox="true"/>
            <p:nvPr/>
          </p:nvSpPr>
          <p:spPr>
            <a:xfrm rot="0">
              <a:off x="28938" y="337835"/>
              <a:ext cx="10143153" cy="3161774"/>
            </a:xfrm>
            <a:prstGeom prst="rect">
              <a:avLst/>
            </a:prstGeom>
          </p:spPr>
          <p:txBody>
            <a:bodyPr anchor="t" rtlCol="false" tIns="0" lIns="0" bIns="0" rIns="0">
              <a:spAutoFit/>
            </a:bodyPr>
            <a:lstStyle/>
            <a:p>
              <a:pPr algn="ctr">
                <a:lnSpc>
                  <a:spcPts val="3699"/>
                </a:lnSpc>
              </a:pPr>
              <a:r>
                <a:rPr lang="en-US" sz="3425" b="true">
                  <a:solidFill>
                    <a:srgbClr val="333333"/>
                  </a:solidFill>
                  <a:latin typeface="Poppins Bold"/>
                  <a:ea typeface="Poppins Bold"/>
                  <a:cs typeface="Poppins Bold"/>
                  <a:sym typeface="Poppins Bold"/>
                </a:rPr>
                <a:t>OpenCV, AlbDeep Learning:</a:t>
              </a:r>
            </a:p>
            <a:p>
              <a:pPr algn="l" marL="598672" indent="-299336" lvl="1">
                <a:lnSpc>
                  <a:spcPts val="2994"/>
                </a:lnSpc>
                <a:buFont typeface="Arial"/>
                <a:buChar char="•"/>
              </a:pPr>
              <a:r>
                <a:rPr lang="en-US" sz="2772">
                  <a:solidFill>
                    <a:srgbClr val="333333"/>
                  </a:solidFill>
                  <a:latin typeface="Poppins"/>
                  <a:ea typeface="Poppins"/>
                  <a:cs typeface="Poppins"/>
                  <a:sym typeface="Poppins"/>
                </a:rPr>
                <a:t>PyTorch for model development</a:t>
              </a:r>
            </a:p>
            <a:p>
              <a:pPr algn="l" marL="598672" indent="-299336" lvl="1">
                <a:lnSpc>
                  <a:spcPts val="2994"/>
                </a:lnSpc>
                <a:buFont typeface="Arial"/>
                <a:buChar char="•"/>
              </a:pPr>
              <a:r>
                <a:rPr lang="en-US" sz="2772">
                  <a:solidFill>
                    <a:srgbClr val="333333"/>
                  </a:solidFill>
                  <a:latin typeface="Poppins"/>
                  <a:ea typeface="Poppins"/>
                  <a:cs typeface="Poppins"/>
                  <a:sym typeface="Poppins"/>
                </a:rPr>
                <a:t>segmentation_models_pytorch (DeepLabV3+)</a:t>
              </a:r>
            </a:p>
            <a:p>
              <a:pPr algn="l" marL="598672" indent="-299336" lvl="1">
                <a:lnSpc>
                  <a:spcPts val="2994"/>
                </a:lnSpc>
                <a:buFont typeface="Arial"/>
                <a:buChar char="•"/>
              </a:pPr>
              <a:r>
                <a:rPr lang="en-US" sz="2772">
                  <a:solidFill>
                    <a:srgbClr val="333333"/>
                  </a:solidFill>
                  <a:latin typeface="Poppins"/>
                  <a:ea typeface="Poppins"/>
                  <a:cs typeface="Poppins"/>
                  <a:sym typeface="Poppins"/>
                </a:rPr>
                <a:t>Encoders: MIT-B4 (SegFormer backbone)</a:t>
              </a:r>
            </a:p>
          </p:txBody>
        </p:sp>
      </p:grpSp>
      <p:sp>
        <p:nvSpPr>
          <p:cNvPr name="Freeform 13" id="1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grpSp>
        <p:nvGrpSpPr>
          <p:cNvPr name="Group 14" id="14"/>
          <p:cNvGrpSpPr/>
          <p:nvPr/>
        </p:nvGrpSpPr>
        <p:grpSpPr>
          <a:xfrm rot="0">
            <a:off x="9440080" y="2267566"/>
            <a:ext cx="7629068" cy="2527198"/>
            <a:chOff x="0" y="0"/>
            <a:chExt cx="10172091" cy="3369597"/>
          </a:xfrm>
        </p:grpSpPr>
        <p:grpSp>
          <p:nvGrpSpPr>
            <p:cNvPr name="Group 15" id="15"/>
            <p:cNvGrpSpPr/>
            <p:nvPr/>
          </p:nvGrpSpPr>
          <p:grpSpPr>
            <a:xfrm rot="0">
              <a:off x="0" y="0"/>
              <a:ext cx="10172091" cy="3369597"/>
              <a:chOff x="0" y="0"/>
              <a:chExt cx="2260418" cy="748784"/>
            </a:xfrm>
          </p:grpSpPr>
          <p:sp>
            <p:nvSpPr>
              <p:cNvPr name="Freeform 16" id="16"/>
              <p:cNvSpPr/>
              <p:nvPr/>
            </p:nvSpPr>
            <p:spPr>
              <a:xfrm flipH="false" flipV="false" rot="0">
                <a:off x="0" y="0"/>
                <a:ext cx="2260418" cy="748784"/>
              </a:xfrm>
              <a:custGeom>
                <a:avLst/>
                <a:gdLst/>
                <a:ahLst/>
                <a:cxnLst/>
                <a:rect r="r" b="b" t="t" l="l"/>
                <a:pathLst>
                  <a:path h="748784" w="2260418">
                    <a:moveTo>
                      <a:pt x="0" y="0"/>
                    </a:moveTo>
                    <a:lnTo>
                      <a:pt x="2260418" y="0"/>
                    </a:lnTo>
                    <a:lnTo>
                      <a:pt x="2260418" y="748784"/>
                    </a:lnTo>
                    <a:lnTo>
                      <a:pt x="0" y="748784"/>
                    </a:lnTo>
                    <a:close/>
                  </a:path>
                </a:pathLst>
              </a:custGeom>
              <a:solidFill>
                <a:srgbClr val="F2ECE2"/>
              </a:solidFill>
              <a:ln w="9525" cap="sq">
                <a:solidFill>
                  <a:srgbClr val="333333"/>
                </a:solidFill>
                <a:prstDash val="solid"/>
                <a:miter/>
              </a:ln>
            </p:spPr>
          </p:sp>
          <p:sp>
            <p:nvSpPr>
              <p:cNvPr name="TextBox 17" id="17"/>
              <p:cNvSpPr txBox="true"/>
              <p:nvPr/>
            </p:nvSpPr>
            <p:spPr>
              <a:xfrm>
                <a:off x="0" y="-114300"/>
                <a:ext cx="2260418" cy="863084"/>
              </a:xfrm>
              <a:prstGeom prst="rect">
                <a:avLst/>
              </a:prstGeom>
            </p:spPr>
            <p:txBody>
              <a:bodyPr anchor="ctr" rtlCol="false" tIns="50800" lIns="50800" bIns="50800" rIns="50800"/>
              <a:lstStyle/>
              <a:p>
                <a:pPr algn="ctr">
                  <a:lnSpc>
                    <a:spcPts val="5879"/>
                  </a:lnSpc>
                </a:pPr>
              </a:p>
            </p:txBody>
          </p:sp>
        </p:grpSp>
        <p:sp>
          <p:nvSpPr>
            <p:cNvPr name="TextBox 18" id="18"/>
            <p:cNvSpPr txBox="true"/>
            <p:nvPr/>
          </p:nvSpPr>
          <p:spPr>
            <a:xfrm rot="0">
              <a:off x="28938" y="366789"/>
              <a:ext cx="10143153" cy="2645545"/>
            </a:xfrm>
            <a:prstGeom prst="rect">
              <a:avLst/>
            </a:prstGeom>
          </p:spPr>
          <p:txBody>
            <a:bodyPr anchor="t" rtlCol="false" tIns="0" lIns="0" bIns="0" rIns="0">
              <a:spAutoFit/>
            </a:bodyPr>
            <a:lstStyle/>
            <a:p>
              <a:pPr algn="ctr">
                <a:lnSpc>
                  <a:spcPts val="3912"/>
                </a:lnSpc>
                <a:spcBef>
                  <a:spcPct val="0"/>
                </a:spcBef>
              </a:pPr>
              <a:r>
                <a:rPr lang="en-US" b="true" sz="3623" strike="noStrike" u="none">
                  <a:solidFill>
                    <a:srgbClr val="333333"/>
                  </a:solidFill>
                  <a:latin typeface="Poppins Bold"/>
                  <a:ea typeface="Poppins Bold"/>
                  <a:cs typeface="Poppins Bold"/>
                  <a:sym typeface="Poppins Bold"/>
                </a:rPr>
                <a:t>Data Processing:</a:t>
              </a:r>
            </a:p>
            <a:p>
              <a:pPr algn="l" marL="583515" indent="-291757" lvl="1">
                <a:lnSpc>
                  <a:spcPts val="2918"/>
                </a:lnSpc>
                <a:spcBef>
                  <a:spcPct val="0"/>
                </a:spcBef>
                <a:buFont typeface="Arial"/>
                <a:buChar char="•"/>
              </a:pPr>
              <a:r>
                <a:rPr lang="en-US" sz="2702" strike="noStrike" u="none">
                  <a:solidFill>
                    <a:srgbClr val="333333"/>
                  </a:solidFill>
                  <a:latin typeface="Poppins"/>
                  <a:ea typeface="Poppins"/>
                  <a:cs typeface="Poppins"/>
                  <a:sym typeface="Poppins"/>
                </a:rPr>
                <a:t>OpenCV for image handling</a:t>
              </a:r>
            </a:p>
            <a:p>
              <a:pPr algn="l" marL="583515" indent="-291757" lvl="1">
                <a:lnSpc>
                  <a:spcPts val="2918"/>
                </a:lnSpc>
                <a:spcBef>
                  <a:spcPct val="0"/>
                </a:spcBef>
                <a:buFont typeface="Arial"/>
                <a:buChar char="•"/>
              </a:pPr>
              <a:r>
                <a:rPr lang="en-US" sz="2702" strike="noStrike" u="none">
                  <a:solidFill>
                    <a:srgbClr val="333333"/>
                  </a:solidFill>
                  <a:latin typeface="Poppins"/>
                  <a:ea typeface="Poppins"/>
                  <a:cs typeface="Poppins"/>
                  <a:sym typeface="Poppins"/>
                </a:rPr>
                <a:t>NumPy for numerical operations</a:t>
              </a:r>
            </a:p>
            <a:p>
              <a:pPr algn="l" marL="583515" indent="-291757" lvl="1">
                <a:lnSpc>
                  <a:spcPts val="2918"/>
                </a:lnSpc>
                <a:spcBef>
                  <a:spcPct val="0"/>
                </a:spcBef>
                <a:buFont typeface="Arial"/>
                <a:buChar char="•"/>
              </a:pPr>
              <a:r>
                <a:rPr lang="en-US" sz="2702" strike="noStrike" u="none">
                  <a:solidFill>
                    <a:srgbClr val="333333"/>
                  </a:solidFill>
                  <a:latin typeface="Poppins"/>
                  <a:ea typeface="Poppins"/>
                  <a:cs typeface="Poppins"/>
                  <a:sym typeface="Poppins"/>
                </a:rPr>
                <a:t> Albumentations for data   </a:t>
              </a:r>
            </a:p>
            <a:p>
              <a:pPr algn="l">
                <a:lnSpc>
                  <a:spcPts val="2918"/>
                </a:lnSpc>
                <a:spcBef>
                  <a:spcPct val="0"/>
                </a:spcBef>
              </a:pPr>
              <a:r>
                <a:rPr lang="en-US" sz="2702" strike="noStrike" u="none">
                  <a:solidFill>
                    <a:srgbClr val="333333"/>
                  </a:solidFill>
                  <a:latin typeface="Poppins"/>
                  <a:ea typeface="Poppins"/>
                  <a:cs typeface="Poppins"/>
                  <a:sym typeface="Poppins"/>
                </a:rPr>
                <a:t>       </a:t>
              </a:r>
              <a:r>
                <a:rPr lang="en-US" sz="2702" strike="noStrike" u="none">
                  <a:solidFill>
                    <a:srgbClr val="333333"/>
                  </a:solidFill>
                  <a:latin typeface="Poppins"/>
                  <a:ea typeface="Poppins"/>
                  <a:cs typeface="Poppins"/>
                  <a:sym typeface="Poppins"/>
                </a:rPr>
                <a:t>augmentation</a:t>
              </a:r>
            </a:p>
          </p:txBody>
        </p:sp>
      </p:grpSp>
      <p:grpSp>
        <p:nvGrpSpPr>
          <p:cNvPr name="Group 19" id="19"/>
          <p:cNvGrpSpPr/>
          <p:nvPr/>
        </p:nvGrpSpPr>
        <p:grpSpPr>
          <a:xfrm rot="0">
            <a:off x="9440080" y="5045722"/>
            <a:ext cx="7629068" cy="2135133"/>
            <a:chOff x="0" y="0"/>
            <a:chExt cx="10172091" cy="2846843"/>
          </a:xfrm>
        </p:grpSpPr>
        <p:grpSp>
          <p:nvGrpSpPr>
            <p:cNvPr name="Group 20" id="20"/>
            <p:cNvGrpSpPr/>
            <p:nvPr/>
          </p:nvGrpSpPr>
          <p:grpSpPr>
            <a:xfrm rot="0">
              <a:off x="0" y="0"/>
              <a:ext cx="10172091" cy="2846843"/>
              <a:chOff x="0" y="0"/>
              <a:chExt cx="2390416" cy="669001"/>
            </a:xfrm>
          </p:grpSpPr>
          <p:sp>
            <p:nvSpPr>
              <p:cNvPr name="Freeform 21" id="21"/>
              <p:cNvSpPr/>
              <p:nvPr/>
            </p:nvSpPr>
            <p:spPr>
              <a:xfrm flipH="false" flipV="false" rot="0">
                <a:off x="0" y="0"/>
                <a:ext cx="2390416" cy="669001"/>
              </a:xfrm>
              <a:custGeom>
                <a:avLst/>
                <a:gdLst/>
                <a:ahLst/>
                <a:cxnLst/>
                <a:rect r="r" b="b" t="t" l="l"/>
                <a:pathLst>
                  <a:path h="669001" w="2390416">
                    <a:moveTo>
                      <a:pt x="0" y="0"/>
                    </a:moveTo>
                    <a:lnTo>
                      <a:pt x="2390416" y="0"/>
                    </a:lnTo>
                    <a:lnTo>
                      <a:pt x="2390416" y="669001"/>
                    </a:lnTo>
                    <a:lnTo>
                      <a:pt x="0" y="669001"/>
                    </a:lnTo>
                    <a:close/>
                  </a:path>
                </a:pathLst>
              </a:custGeom>
              <a:solidFill>
                <a:srgbClr val="F2ECE2"/>
              </a:solidFill>
              <a:ln w="9525" cap="sq">
                <a:solidFill>
                  <a:srgbClr val="333333"/>
                </a:solidFill>
                <a:prstDash val="solid"/>
                <a:miter/>
              </a:ln>
            </p:spPr>
          </p:sp>
          <p:sp>
            <p:nvSpPr>
              <p:cNvPr name="TextBox 22" id="22"/>
              <p:cNvSpPr txBox="true"/>
              <p:nvPr/>
            </p:nvSpPr>
            <p:spPr>
              <a:xfrm>
                <a:off x="0" y="-114300"/>
                <a:ext cx="2390416" cy="783301"/>
              </a:xfrm>
              <a:prstGeom prst="rect">
                <a:avLst/>
              </a:prstGeom>
            </p:spPr>
            <p:txBody>
              <a:bodyPr anchor="ctr" rtlCol="false" tIns="50800" lIns="50800" bIns="50800" rIns="50800"/>
              <a:lstStyle/>
              <a:p>
                <a:pPr algn="ctr">
                  <a:lnSpc>
                    <a:spcPts val="5880"/>
                  </a:lnSpc>
                </a:pPr>
              </a:p>
            </p:txBody>
          </p:sp>
        </p:grpSp>
        <p:sp>
          <p:nvSpPr>
            <p:cNvPr name="TextBox 23" id="23"/>
            <p:cNvSpPr txBox="true"/>
            <p:nvPr/>
          </p:nvSpPr>
          <p:spPr>
            <a:xfrm rot="0">
              <a:off x="28938" y="337835"/>
              <a:ext cx="10143153" cy="2171174"/>
            </a:xfrm>
            <a:prstGeom prst="rect">
              <a:avLst/>
            </a:prstGeom>
          </p:spPr>
          <p:txBody>
            <a:bodyPr anchor="t" rtlCol="false" tIns="0" lIns="0" bIns="0" rIns="0">
              <a:spAutoFit/>
            </a:bodyPr>
            <a:lstStyle/>
            <a:p>
              <a:pPr algn="ctr">
                <a:lnSpc>
                  <a:spcPts val="3699"/>
                </a:lnSpc>
              </a:pPr>
              <a:r>
                <a:rPr lang="en-US" sz="3425" b="true">
                  <a:solidFill>
                    <a:srgbClr val="333333"/>
                  </a:solidFill>
                  <a:latin typeface="Poppins Bold"/>
                  <a:ea typeface="Poppins Bold"/>
                  <a:cs typeface="Poppins Bold"/>
                  <a:sym typeface="Poppins Bold"/>
                </a:rPr>
                <a:t>Training Techniques:</a:t>
              </a:r>
            </a:p>
            <a:p>
              <a:pPr algn="l" marL="598672" indent="-299336" lvl="1">
                <a:lnSpc>
                  <a:spcPts val="2994"/>
                </a:lnSpc>
                <a:buFont typeface="Arial"/>
                <a:buChar char="•"/>
              </a:pPr>
              <a:r>
                <a:rPr lang="en-US" sz="2772">
                  <a:solidFill>
                    <a:srgbClr val="333333"/>
                  </a:solidFill>
                  <a:latin typeface="Poppins"/>
                  <a:ea typeface="Poppins"/>
                  <a:cs typeface="Poppins"/>
                  <a:sym typeface="Poppins"/>
                </a:rPr>
                <a:t>Mix</a:t>
              </a:r>
              <a:r>
                <a:rPr lang="en-US" sz="2772">
                  <a:solidFill>
                    <a:srgbClr val="333333"/>
                  </a:solidFill>
                  <a:latin typeface="Poppins"/>
                  <a:ea typeface="Poppins"/>
                  <a:cs typeface="Poppins"/>
                  <a:sym typeface="Poppins"/>
                </a:rPr>
                <a:t>ed Precision Training (AMP)</a:t>
              </a:r>
            </a:p>
            <a:p>
              <a:pPr algn="l" marL="598672" indent="-299336" lvl="1">
                <a:lnSpc>
                  <a:spcPts val="2994"/>
                </a:lnSpc>
                <a:buFont typeface="Arial"/>
                <a:buChar char="•"/>
              </a:pPr>
              <a:r>
                <a:rPr lang="en-US" sz="2772">
                  <a:solidFill>
                    <a:srgbClr val="333333"/>
                  </a:solidFill>
                  <a:latin typeface="Poppins"/>
                  <a:ea typeface="Poppins"/>
                  <a:cs typeface="Poppins"/>
                  <a:sym typeface="Poppins"/>
                </a:rPr>
                <a:t>Gradient Accumulation</a:t>
              </a:r>
            </a:p>
            <a:p>
              <a:pPr algn="l" marL="598672" indent="-299336" lvl="1">
                <a:lnSpc>
                  <a:spcPts val="2994"/>
                </a:lnSpc>
                <a:buFont typeface="Arial"/>
                <a:buChar char="•"/>
              </a:pPr>
              <a:r>
                <a:rPr lang="en-US" sz="2772">
                  <a:solidFill>
                    <a:srgbClr val="333333"/>
                  </a:solidFill>
                  <a:latin typeface="Poppins"/>
                  <a:ea typeface="Poppins"/>
                  <a:cs typeface="Poppins"/>
                  <a:sym typeface="Poppins"/>
                </a:rPr>
                <a:t> Cosine Annealing Scheduler</a:t>
              </a:r>
            </a:p>
          </p:txBody>
        </p:sp>
      </p:grpSp>
      <p:grpSp>
        <p:nvGrpSpPr>
          <p:cNvPr name="Group 24" id="24"/>
          <p:cNvGrpSpPr/>
          <p:nvPr/>
        </p:nvGrpSpPr>
        <p:grpSpPr>
          <a:xfrm rot="0">
            <a:off x="9440080" y="7431814"/>
            <a:ext cx="7629068" cy="2135133"/>
            <a:chOff x="0" y="0"/>
            <a:chExt cx="10172091" cy="2846843"/>
          </a:xfrm>
        </p:grpSpPr>
        <p:grpSp>
          <p:nvGrpSpPr>
            <p:cNvPr name="Group 25" id="25"/>
            <p:cNvGrpSpPr/>
            <p:nvPr/>
          </p:nvGrpSpPr>
          <p:grpSpPr>
            <a:xfrm rot="0">
              <a:off x="0" y="0"/>
              <a:ext cx="10172091" cy="2846843"/>
              <a:chOff x="0" y="0"/>
              <a:chExt cx="2390416" cy="669001"/>
            </a:xfrm>
          </p:grpSpPr>
          <p:sp>
            <p:nvSpPr>
              <p:cNvPr name="Freeform 26" id="26"/>
              <p:cNvSpPr/>
              <p:nvPr/>
            </p:nvSpPr>
            <p:spPr>
              <a:xfrm flipH="false" flipV="false" rot="0">
                <a:off x="0" y="0"/>
                <a:ext cx="2390416" cy="669001"/>
              </a:xfrm>
              <a:custGeom>
                <a:avLst/>
                <a:gdLst/>
                <a:ahLst/>
                <a:cxnLst/>
                <a:rect r="r" b="b" t="t" l="l"/>
                <a:pathLst>
                  <a:path h="669001" w="2390416">
                    <a:moveTo>
                      <a:pt x="0" y="0"/>
                    </a:moveTo>
                    <a:lnTo>
                      <a:pt x="2390416" y="0"/>
                    </a:lnTo>
                    <a:lnTo>
                      <a:pt x="2390416" y="669001"/>
                    </a:lnTo>
                    <a:lnTo>
                      <a:pt x="0" y="669001"/>
                    </a:lnTo>
                    <a:close/>
                  </a:path>
                </a:pathLst>
              </a:custGeom>
              <a:solidFill>
                <a:srgbClr val="F2ECE2"/>
              </a:solidFill>
              <a:ln w="9525" cap="sq">
                <a:solidFill>
                  <a:srgbClr val="333333"/>
                </a:solidFill>
                <a:prstDash val="solid"/>
                <a:miter/>
              </a:ln>
            </p:spPr>
          </p:sp>
          <p:sp>
            <p:nvSpPr>
              <p:cNvPr name="TextBox 27" id="27"/>
              <p:cNvSpPr txBox="true"/>
              <p:nvPr/>
            </p:nvSpPr>
            <p:spPr>
              <a:xfrm>
                <a:off x="0" y="-114300"/>
                <a:ext cx="2390416" cy="783301"/>
              </a:xfrm>
              <a:prstGeom prst="rect">
                <a:avLst/>
              </a:prstGeom>
            </p:spPr>
            <p:txBody>
              <a:bodyPr anchor="ctr" rtlCol="false" tIns="50800" lIns="50800" bIns="50800" rIns="50800"/>
              <a:lstStyle/>
              <a:p>
                <a:pPr algn="ctr">
                  <a:lnSpc>
                    <a:spcPts val="5880"/>
                  </a:lnSpc>
                </a:pPr>
              </a:p>
            </p:txBody>
          </p:sp>
        </p:grpSp>
        <p:sp>
          <p:nvSpPr>
            <p:cNvPr name="TextBox 28" id="28"/>
            <p:cNvSpPr txBox="true"/>
            <p:nvPr/>
          </p:nvSpPr>
          <p:spPr>
            <a:xfrm rot="0">
              <a:off x="28938" y="337835"/>
              <a:ext cx="10143153" cy="2171174"/>
            </a:xfrm>
            <a:prstGeom prst="rect">
              <a:avLst/>
            </a:prstGeom>
          </p:spPr>
          <p:txBody>
            <a:bodyPr anchor="t" rtlCol="false" tIns="0" lIns="0" bIns="0" rIns="0">
              <a:spAutoFit/>
            </a:bodyPr>
            <a:lstStyle/>
            <a:p>
              <a:pPr algn="ctr">
                <a:lnSpc>
                  <a:spcPts val="3699"/>
                </a:lnSpc>
              </a:pPr>
              <a:r>
                <a:rPr lang="en-US" sz="3425" b="true">
                  <a:solidFill>
                    <a:srgbClr val="333333"/>
                  </a:solidFill>
                  <a:latin typeface="Poppins Bold"/>
                  <a:ea typeface="Poppins Bold"/>
                  <a:cs typeface="Poppins Bold"/>
                  <a:sym typeface="Poppins Bold"/>
                </a:rPr>
                <a:t>Deployment &amp; Extensions:</a:t>
              </a:r>
            </a:p>
            <a:p>
              <a:pPr algn="l" marL="598672" indent="-299336" lvl="1">
                <a:lnSpc>
                  <a:spcPts val="2994"/>
                </a:lnSpc>
                <a:buFont typeface="Arial"/>
                <a:buChar char="•"/>
              </a:pPr>
              <a:r>
                <a:rPr lang="en-US" sz="2772">
                  <a:solidFill>
                    <a:srgbClr val="333333"/>
                  </a:solidFill>
                  <a:latin typeface="Poppins"/>
                  <a:ea typeface="Poppins"/>
                  <a:cs typeface="Poppins"/>
                  <a:sym typeface="Poppins"/>
                </a:rPr>
                <a:t>T</a:t>
              </a:r>
              <a:r>
                <a:rPr lang="en-US" sz="2772">
                  <a:solidFill>
                    <a:srgbClr val="333333"/>
                  </a:solidFill>
                  <a:latin typeface="Poppins"/>
                  <a:ea typeface="Poppins"/>
                  <a:cs typeface="Poppins"/>
                  <a:sym typeface="Poppins"/>
                </a:rPr>
                <a:t>ensorFlow Lite / ONNX (future)</a:t>
              </a:r>
            </a:p>
            <a:p>
              <a:pPr algn="l" marL="598672" indent="-299336" lvl="1">
                <a:lnSpc>
                  <a:spcPts val="2994"/>
                </a:lnSpc>
                <a:buFont typeface="Arial"/>
                <a:buChar char="•"/>
              </a:pPr>
              <a:r>
                <a:rPr lang="en-US" sz="2772">
                  <a:solidFill>
                    <a:srgbClr val="333333"/>
                  </a:solidFill>
                  <a:latin typeface="Poppins"/>
                  <a:ea typeface="Poppins"/>
                  <a:cs typeface="Poppins"/>
                  <a:sym typeface="Poppins"/>
                </a:rPr>
                <a:t>Knowledge Distillation for lightweight models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sp>
        <p:nvSpPr>
          <p:cNvPr name="Freeform 2" id="2"/>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
        <p:nvSpPr>
          <p:cNvPr name="Freeform 3" id="3"/>
          <p:cNvSpPr/>
          <p:nvPr/>
        </p:nvSpPr>
        <p:spPr>
          <a:xfrm flipH="false" flipV="false" rot="0">
            <a:off x="699444"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192474" y="4957680"/>
            <a:ext cx="14262457" cy="982855"/>
          </a:xfrm>
          <a:prstGeom prst="rect">
            <a:avLst/>
          </a:prstGeom>
        </p:spPr>
        <p:txBody>
          <a:bodyPr anchor="t" rtlCol="false" tIns="0" lIns="0" bIns="0" rIns="0">
            <a:spAutoFit/>
          </a:bodyPr>
          <a:lstStyle/>
          <a:p>
            <a:pPr algn="l" marL="0" indent="0" lvl="0">
              <a:lnSpc>
                <a:spcPts val="6936"/>
              </a:lnSpc>
              <a:spcBef>
                <a:spcPct val="0"/>
              </a:spcBef>
            </a:pPr>
            <a:r>
              <a:rPr lang="en-US" b="true" sz="6800">
                <a:solidFill>
                  <a:srgbClr val="333333"/>
                </a:solidFill>
                <a:latin typeface="Poppins Bold"/>
                <a:ea typeface="Poppins Bold"/>
                <a:cs typeface="Poppins Bold"/>
                <a:sym typeface="Poppins Bold"/>
              </a:rPr>
              <a:t>Data Processing </a:t>
            </a:r>
          </a:p>
        </p:txBody>
      </p:sp>
      <p:sp>
        <p:nvSpPr>
          <p:cNvPr name="TextBox 5" id="5"/>
          <p:cNvSpPr txBox="true"/>
          <p:nvPr/>
        </p:nvSpPr>
        <p:spPr>
          <a:xfrm rot="0">
            <a:off x="771670" y="2579439"/>
            <a:ext cx="3326752" cy="1124029"/>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Input: High-resolution GeoTIFF images + shapefiles</a:t>
            </a:r>
          </a:p>
        </p:txBody>
      </p:sp>
      <p:sp>
        <p:nvSpPr>
          <p:cNvPr name="Freeform 6" id="6"/>
          <p:cNvSpPr/>
          <p:nvPr/>
        </p:nvSpPr>
        <p:spPr>
          <a:xfrm flipH="false" flipV="false" rot="0">
            <a:off x="5323173"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5395399" y="2579439"/>
            <a:ext cx="3326752" cy="1124029"/>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CRS</a:t>
            </a:r>
            <a:r>
              <a:rPr lang="en-US" sz="2111">
                <a:solidFill>
                  <a:srgbClr val="333333"/>
                </a:solidFill>
                <a:latin typeface="Poppins"/>
                <a:ea typeface="Poppins"/>
                <a:cs typeface="Poppins"/>
                <a:sym typeface="Poppins"/>
              </a:rPr>
              <a:t> standardized to EPSG:32644 for spatial alignment</a:t>
            </a:r>
          </a:p>
        </p:txBody>
      </p:sp>
      <p:sp>
        <p:nvSpPr>
          <p:cNvPr name="Freeform 8" id="8"/>
          <p:cNvSpPr/>
          <p:nvPr/>
        </p:nvSpPr>
        <p:spPr>
          <a:xfrm flipH="false" flipV="false" rot="0">
            <a:off x="9570808"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9868710" y="2579439"/>
            <a:ext cx="2762082" cy="1124029"/>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Shapefiles</a:t>
            </a:r>
            <a:r>
              <a:rPr lang="en-US" sz="2111">
                <a:solidFill>
                  <a:srgbClr val="333333"/>
                </a:solidFill>
                <a:latin typeface="Poppins"/>
                <a:ea typeface="Poppins"/>
                <a:cs typeface="Poppins"/>
                <a:sym typeface="Poppins"/>
              </a:rPr>
              <a:t> rasterized into pixel-wise masks</a:t>
            </a:r>
          </a:p>
        </p:txBody>
      </p:sp>
      <p:sp>
        <p:nvSpPr>
          <p:cNvPr name="Freeform 10" id="10"/>
          <p:cNvSpPr/>
          <p:nvPr/>
        </p:nvSpPr>
        <p:spPr>
          <a:xfrm flipH="false" flipV="false" rot="0">
            <a:off x="13889737" y="1941482"/>
            <a:ext cx="3603885" cy="2240961"/>
          </a:xfrm>
          <a:custGeom>
            <a:avLst/>
            <a:gdLst/>
            <a:ahLst/>
            <a:cxnLst/>
            <a:rect r="r" b="b" t="t" l="l"/>
            <a:pathLst>
              <a:path h="2240961" w="3603885">
                <a:moveTo>
                  <a:pt x="0" y="0"/>
                </a:moveTo>
                <a:lnTo>
                  <a:pt x="3603885" y="0"/>
                </a:lnTo>
                <a:lnTo>
                  <a:pt x="3603885" y="2240961"/>
                </a:lnTo>
                <a:lnTo>
                  <a:pt x="0" y="2240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199026" y="2450983"/>
            <a:ext cx="2867658" cy="1164809"/>
          </a:xfrm>
          <a:prstGeom prst="rect">
            <a:avLst/>
          </a:prstGeom>
        </p:spPr>
        <p:txBody>
          <a:bodyPr anchor="t" rtlCol="false" tIns="0" lIns="0" bIns="0" rIns="0">
            <a:spAutoFit/>
          </a:bodyPr>
          <a:lstStyle/>
          <a:p>
            <a:pPr algn="ctr">
              <a:lnSpc>
                <a:spcPts val="3069"/>
              </a:lnSpc>
              <a:spcBef>
                <a:spcPct val="0"/>
              </a:spcBef>
            </a:pPr>
            <a:r>
              <a:rPr lang="en-US" sz="2192">
                <a:solidFill>
                  <a:srgbClr val="333333"/>
                </a:solidFill>
                <a:latin typeface="Poppins"/>
                <a:ea typeface="Poppins"/>
                <a:cs typeface="Poppins"/>
                <a:sym typeface="Poppins"/>
              </a:rPr>
              <a:t>Images</a:t>
            </a:r>
            <a:r>
              <a:rPr lang="en-US" sz="2192">
                <a:solidFill>
                  <a:srgbClr val="333333"/>
                </a:solidFill>
                <a:latin typeface="Poppins"/>
                <a:ea typeface="Poppins"/>
                <a:cs typeface="Poppins"/>
                <a:sym typeface="Poppins"/>
              </a:rPr>
              <a:t> divided into 1024×1024 tiles for training</a:t>
            </a:r>
          </a:p>
        </p:txBody>
      </p:sp>
      <p:sp>
        <p:nvSpPr>
          <p:cNvPr name="Freeform 12" id="12"/>
          <p:cNvSpPr/>
          <p:nvPr/>
        </p:nvSpPr>
        <p:spPr>
          <a:xfrm flipH="false" flipV="false" rot="0">
            <a:off x="11857372" y="6664877"/>
            <a:ext cx="3482667" cy="2165586"/>
          </a:xfrm>
          <a:custGeom>
            <a:avLst/>
            <a:gdLst/>
            <a:ahLst/>
            <a:cxnLst/>
            <a:rect r="r" b="b" t="t" l="l"/>
            <a:pathLst>
              <a:path h="2165586" w="3482667">
                <a:moveTo>
                  <a:pt x="0" y="0"/>
                </a:moveTo>
                <a:lnTo>
                  <a:pt x="3482667" y="0"/>
                </a:lnTo>
                <a:lnTo>
                  <a:pt x="3482667" y="2165586"/>
                </a:lnTo>
                <a:lnTo>
                  <a:pt x="0" y="2165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2323702" y="7031495"/>
            <a:ext cx="2771203" cy="1127552"/>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Remo</a:t>
            </a:r>
            <a:r>
              <a:rPr lang="en-US" sz="2118">
                <a:solidFill>
                  <a:srgbClr val="333333"/>
                </a:solidFill>
                <a:latin typeface="Poppins"/>
                <a:ea typeface="Poppins"/>
                <a:cs typeface="Poppins"/>
                <a:sym typeface="Poppins"/>
              </a:rPr>
              <a:t>ved empty/low-information tiles</a:t>
            </a:r>
          </a:p>
        </p:txBody>
      </p:sp>
      <p:sp>
        <p:nvSpPr>
          <p:cNvPr name="Freeform 14" id="14"/>
          <p:cNvSpPr/>
          <p:nvPr/>
        </p:nvSpPr>
        <p:spPr>
          <a:xfrm flipH="false" flipV="false" rot="0">
            <a:off x="7532711" y="6601332"/>
            <a:ext cx="3482667" cy="2165586"/>
          </a:xfrm>
          <a:custGeom>
            <a:avLst/>
            <a:gdLst/>
            <a:ahLst/>
            <a:cxnLst/>
            <a:rect r="r" b="b" t="t" l="l"/>
            <a:pathLst>
              <a:path h="2165586" w="3482667">
                <a:moveTo>
                  <a:pt x="0" y="0"/>
                </a:moveTo>
                <a:lnTo>
                  <a:pt x="3482667" y="0"/>
                </a:lnTo>
                <a:lnTo>
                  <a:pt x="3482667" y="2165585"/>
                </a:lnTo>
                <a:lnTo>
                  <a:pt x="0" y="2165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7999042" y="6967950"/>
            <a:ext cx="2771203" cy="1502289"/>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Ensur</a:t>
            </a:r>
            <a:r>
              <a:rPr lang="en-US" sz="2118">
                <a:solidFill>
                  <a:srgbClr val="333333"/>
                </a:solidFill>
                <a:latin typeface="Poppins"/>
                <a:ea typeface="Poppins"/>
                <a:cs typeface="Poppins"/>
                <a:sym typeface="Poppins"/>
              </a:rPr>
              <a:t>ed image–mask alignment and consistent dimensions</a:t>
            </a:r>
          </a:p>
        </p:txBody>
      </p:sp>
      <p:sp>
        <p:nvSpPr>
          <p:cNvPr name="Freeform 16" id="16"/>
          <p:cNvSpPr/>
          <p:nvPr/>
        </p:nvSpPr>
        <p:spPr>
          <a:xfrm flipH="false" flipV="false" rot="0">
            <a:off x="2947961" y="6601332"/>
            <a:ext cx="3482667" cy="2165586"/>
          </a:xfrm>
          <a:custGeom>
            <a:avLst/>
            <a:gdLst/>
            <a:ahLst/>
            <a:cxnLst/>
            <a:rect r="r" b="b" t="t" l="l"/>
            <a:pathLst>
              <a:path h="2165586" w="3482667">
                <a:moveTo>
                  <a:pt x="0" y="0"/>
                </a:moveTo>
                <a:lnTo>
                  <a:pt x="3482667" y="0"/>
                </a:lnTo>
                <a:lnTo>
                  <a:pt x="3482667" y="2165585"/>
                </a:lnTo>
                <a:lnTo>
                  <a:pt x="0" y="2165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303693" y="7087107"/>
            <a:ext cx="2771203" cy="1127552"/>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Retain</a:t>
            </a:r>
            <a:r>
              <a:rPr lang="en-US" sz="2118">
                <a:solidFill>
                  <a:srgbClr val="333333"/>
                </a:solidFill>
                <a:latin typeface="Poppins"/>
                <a:ea typeface="Poppins"/>
                <a:cs typeface="Poppins"/>
                <a:sym typeface="Poppins"/>
              </a:rPr>
              <a:t>ed some background tiles for dataset balance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Freeform 2" id="2"/>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
        <p:nvSpPr>
          <p:cNvPr name="Freeform 3" id="3"/>
          <p:cNvSpPr/>
          <p:nvPr/>
        </p:nvSpPr>
        <p:spPr>
          <a:xfrm flipH="false" flipV="false" rot="0">
            <a:off x="699444"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599720" y="4957680"/>
            <a:ext cx="14262457" cy="982855"/>
          </a:xfrm>
          <a:prstGeom prst="rect">
            <a:avLst/>
          </a:prstGeom>
        </p:spPr>
        <p:txBody>
          <a:bodyPr anchor="t" rtlCol="false" tIns="0" lIns="0" bIns="0" rIns="0">
            <a:spAutoFit/>
          </a:bodyPr>
          <a:lstStyle/>
          <a:p>
            <a:pPr algn="l" marL="0" indent="0" lvl="0">
              <a:lnSpc>
                <a:spcPts val="6936"/>
              </a:lnSpc>
              <a:spcBef>
                <a:spcPct val="0"/>
              </a:spcBef>
            </a:pPr>
            <a:r>
              <a:rPr lang="en-US" b="true" sz="6800">
                <a:solidFill>
                  <a:srgbClr val="333333"/>
                </a:solidFill>
                <a:latin typeface="Poppins Bold"/>
                <a:ea typeface="Poppins Bold"/>
                <a:cs typeface="Poppins Bold"/>
                <a:sym typeface="Poppins Bold"/>
              </a:rPr>
              <a:t>Data Cleaning</a:t>
            </a:r>
          </a:p>
        </p:txBody>
      </p:sp>
      <p:sp>
        <p:nvSpPr>
          <p:cNvPr name="TextBox 5" id="5"/>
          <p:cNvSpPr txBox="true"/>
          <p:nvPr/>
        </p:nvSpPr>
        <p:spPr>
          <a:xfrm rot="0">
            <a:off x="771670" y="2658125"/>
            <a:ext cx="3326752" cy="750526"/>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Elimi</a:t>
            </a:r>
            <a:r>
              <a:rPr lang="en-US" sz="2111">
                <a:solidFill>
                  <a:srgbClr val="333333"/>
                </a:solidFill>
                <a:latin typeface="Poppins"/>
                <a:ea typeface="Poppins"/>
                <a:cs typeface="Poppins"/>
                <a:sym typeface="Poppins"/>
              </a:rPr>
              <a:t>nated empty and low-information tiles</a:t>
            </a:r>
          </a:p>
        </p:txBody>
      </p:sp>
      <p:sp>
        <p:nvSpPr>
          <p:cNvPr name="Freeform 6" id="6"/>
          <p:cNvSpPr/>
          <p:nvPr/>
        </p:nvSpPr>
        <p:spPr>
          <a:xfrm flipH="false" flipV="false" rot="0">
            <a:off x="5323173"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5599720" y="2585875"/>
            <a:ext cx="2918109" cy="1124029"/>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Appl</a:t>
            </a:r>
            <a:r>
              <a:rPr lang="en-US" sz="2111">
                <a:solidFill>
                  <a:srgbClr val="333333"/>
                </a:solidFill>
                <a:latin typeface="Poppins"/>
                <a:ea typeface="Poppins"/>
                <a:cs typeface="Poppins"/>
                <a:sym typeface="Poppins"/>
              </a:rPr>
              <a:t>ied threshold: &gt;40% background → removed</a:t>
            </a:r>
          </a:p>
        </p:txBody>
      </p:sp>
      <p:sp>
        <p:nvSpPr>
          <p:cNvPr name="Freeform 8" id="8"/>
          <p:cNvSpPr/>
          <p:nvPr/>
        </p:nvSpPr>
        <p:spPr>
          <a:xfrm flipH="false" flipV="false" rot="0">
            <a:off x="9570808" y="2090800"/>
            <a:ext cx="3471204" cy="2158458"/>
          </a:xfrm>
          <a:custGeom>
            <a:avLst/>
            <a:gdLst/>
            <a:ahLst/>
            <a:cxnLst/>
            <a:rect r="r" b="b" t="t" l="l"/>
            <a:pathLst>
              <a:path h="2158458" w="3471204">
                <a:moveTo>
                  <a:pt x="0" y="0"/>
                </a:moveTo>
                <a:lnTo>
                  <a:pt x="3471204" y="0"/>
                </a:lnTo>
                <a:lnTo>
                  <a:pt x="3471204" y="2158458"/>
                </a:lnTo>
                <a:lnTo>
                  <a:pt x="0" y="21584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9868710" y="2579439"/>
            <a:ext cx="2762082" cy="1124029"/>
          </a:xfrm>
          <a:prstGeom prst="rect">
            <a:avLst/>
          </a:prstGeom>
        </p:spPr>
        <p:txBody>
          <a:bodyPr anchor="t" rtlCol="false" tIns="0" lIns="0" bIns="0" rIns="0">
            <a:spAutoFit/>
          </a:bodyPr>
          <a:lstStyle/>
          <a:p>
            <a:pPr algn="ctr">
              <a:lnSpc>
                <a:spcPts val="2956"/>
              </a:lnSpc>
              <a:spcBef>
                <a:spcPct val="0"/>
              </a:spcBef>
            </a:pPr>
            <a:r>
              <a:rPr lang="en-US" sz="2111">
                <a:solidFill>
                  <a:srgbClr val="333333"/>
                </a:solidFill>
                <a:latin typeface="Poppins"/>
                <a:ea typeface="Poppins"/>
                <a:cs typeface="Poppins"/>
                <a:sym typeface="Poppins"/>
              </a:rPr>
              <a:t>Ensured high-quality tiles</a:t>
            </a:r>
            <a:r>
              <a:rPr lang="en-US" sz="2111">
                <a:solidFill>
                  <a:srgbClr val="333333"/>
                </a:solidFill>
                <a:latin typeface="Poppins"/>
                <a:ea typeface="Poppins"/>
                <a:cs typeface="Poppins"/>
                <a:sym typeface="Poppins"/>
              </a:rPr>
              <a:t> (≥60% useful content)</a:t>
            </a:r>
          </a:p>
        </p:txBody>
      </p:sp>
      <p:sp>
        <p:nvSpPr>
          <p:cNvPr name="Freeform 10" id="10"/>
          <p:cNvSpPr/>
          <p:nvPr/>
        </p:nvSpPr>
        <p:spPr>
          <a:xfrm flipH="false" flipV="false" rot="0">
            <a:off x="13889737" y="1941482"/>
            <a:ext cx="3603885" cy="2240961"/>
          </a:xfrm>
          <a:custGeom>
            <a:avLst/>
            <a:gdLst/>
            <a:ahLst/>
            <a:cxnLst/>
            <a:rect r="r" b="b" t="t" l="l"/>
            <a:pathLst>
              <a:path h="2240961" w="3603885">
                <a:moveTo>
                  <a:pt x="0" y="0"/>
                </a:moveTo>
                <a:lnTo>
                  <a:pt x="3603885" y="0"/>
                </a:lnTo>
                <a:lnTo>
                  <a:pt x="3603885" y="2240961"/>
                </a:lnTo>
                <a:lnTo>
                  <a:pt x="0" y="2240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4199026" y="2450983"/>
            <a:ext cx="2867658" cy="1164809"/>
          </a:xfrm>
          <a:prstGeom prst="rect">
            <a:avLst/>
          </a:prstGeom>
        </p:spPr>
        <p:txBody>
          <a:bodyPr anchor="t" rtlCol="false" tIns="0" lIns="0" bIns="0" rIns="0">
            <a:spAutoFit/>
          </a:bodyPr>
          <a:lstStyle/>
          <a:p>
            <a:pPr algn="ctr">
              <a:lnSpc>
                <a:spcPts val="3069"/>
              </a:lnSpc>
              <a:spcBef>
                <a:spcPct val="0"/>
              </a:spcBef>
            </a:pPr>
            <a:r>
              <a:rPr lang="en-US" sz="2192">
                <a:solidFill>
                  <a:srgbClr val="333333"/>
                </a:solidFill>
                <a:latin typeface="Poppins"/>
                <a:ea typeface="Poppins"/>
                <a:cs typeface="Poppins"/>
                <a:sym typeface="Poppins"/>
              </a:rPr>
              <a:t>Ma</a:t>
            </a:r>
            <a:r>
              <a:rPr lang="en-US" sz="2192">
                <a:solidFill>
                  <a:srgbClr val="333333"/>
                </a:solidFill>
                <a:latin typeface="Poppins"/>
                <a:ea typeface="Poppins"/>
                <a:cs typeface="Poppins"/>
                <a:sym typeface="Poppins"/>
              </a:rPr>
              <a:t>intained strict image–mask alignment</a:t>
            </a:r>
          </a:p>
        </p:txBody>
      </p:sp>
      <p:sp>
        <p:nvSpPr>
          <p:cNvPr name="Freeform 12" id="12"/>
          <p:cNvSpPr/>
          <p:nvPr/>
        </p:nvSpPr>
        <p:spPr>
          <a:xfrm flipH="false" flipV="false" rot="0">
            <a:off x="11857372" y="6664877"/>
            <a:ext cx="3482667" cy="2165586"/>
          </a:xfrm>
          <a:custGeom>
            <a:avLst/>
            <a:gdLst/>
            <a:ahLst/>
            <a:cxnLst/>
            <a:rect r="r" b="b" t="t" l="l"/>
            <a:pathLst>
              <a:path h="2165586" w="3482667">
                <a:moveTo>
                  <a:pt x="0" y="0"/>
                </a:moveTo>
                <a:lnTo>
                  <a:pt x="3482667" y="0"/>
                </a:lnTo>
                <a:lnTo>
                  <a:pt x="3482667" y="2165586"/>
                </a:lnTo>
                <a:lnTo>
                  <a:pt x="0" y="2165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2213104" y="7155319"/>
            <a:ext cx="2771203" cy="1127552"/>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Impro</a:t>
            </a:r>
            <a:r>
              <a:rPr lang="en-US" sz="2118">
                <a:solidFill>
                  <a:srgbClr val="333333"/>
                </a:solidFill>
                <a:latin typeface="Poppins"/>
                <a:ea typeface="Poppins"/>
                <a:cs typeface="Poppins"/>
                <a:sym typeface="Poppins"/>
              </a:rPr>
              <a:t>ved dataset reliability and model generalization</a:t>
            </a:r>
          </a:p>
        </p:txBody>
      </p:sp>
      <p:sp>
        <p:nvSpPr>
          <p:cNvPr name="Freeform 14" id="14"/>
          <p:cNvSpPr/>
          <p:nvPr/>
        </p:nvSpPr>
        <p:spPr>
          <a:xfrm flipH="false" flipV="false" rot="0">
            <a:off x="7532711" y="6601332"/>
            <a:ext cx="3482667" cy="2165586"/>
          </a:xfrm>
          <a:custGeom>
            <a:avLst/>
            <a:gdLst/>
            <a:ahLst/>
            <a:cxnLst/>
            <a:rect r="r" b="b" t="t" l="l"/>
            <a:pathLst>
              <a:path h="2165586" w="3482667">
                <a:moveTo>
                  <a:pt x="0" y="0"/>
                </a:moveTo>
                <a:lnTo>
                  <a:pt x="3482667" y="0"/>
                </a:lnTo>
                <a:lnTo>
                  <a:pt x="3482667" y="2165585"/>
                </a:lnTo>
                <a:lnTo>
                  <a:pt x="0" y="2165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7888443" y="6967950"/>
            <a:ext cx="2771203" cy="1502289"/>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Balanc</a:t>
            </a:r>
            <a:r>
              <a:rPr lang="en-US" sz="2118">
                <a:solidFill>
                  <a:srgbClr val="333333"/>
                </a:solidFill>
                <a:latin typeface="Poppins"/>
                <a:ea typeface="Poppins"/>
                <a:cs typeface="Poppins"/>
                <a:sym typeface="Poppins"/>
              </a:rPr>
              <a:t>ed dataset with controlled background samples</a:t>
            </a:r>
          </a:p>
        </p:txBody>
      </p:sp>
      <p:sp>
        <p:nvSpPr>
          <p:cNvPr name="Freeform 16" id="16"/>
          <p:cNvSpPr/>
          <p:nvPr/>
        </p:nvSpPr>
        <p:spPr>
          <a:xfrm flipH="false" flipV="false" rot="0">
            <a:off x="2947961" y="6601332"/>
            <a:ext cx="3482667" cy="2165586"/>
          </a:xfrm>
          <a:custGeom>
            <a:avLst/>
            <a:gdLst/>
            <a:ahLst/>
            <a:cxnLst/>
            <a:rect r="r" b="b" t="t" l="l"/>
            <a:pathLst>
              <a:path h="2165586" w="3482667">
                <a:moveTo>
                  <a:pt x="0" y="0"/>
                </a:moveTo>
                <a:lnTo>
                  <a:pt x="3482667" y="0"/>
                </a:lnTo>
                <a:lnTo>
                  <a:pt x="3482667" y="2165585"/>
                </a:lnTo>
                <a:lnTo>
                  <a:pt x="0" y="2165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3303693" y="7087107"/>
            <a:ext cx="2771203" cy="1127552"/>
          </a:xfrm>
          <a:prstGeom prst="rect">
            <a:avLst/>
          </a:prstGeom>
        </p:spPr>
        <p:txBody>
          <a:bodyPr anchor="t" rtlCol="false" tIns="0" lIns="0" bIns="0" rIns="0">
            <a:spAutoFit/>
          </a:bodyPr>
          <a:lstStyle/>
          <a:p>
            <a:pPr algn="ctr">
              <a:lnSpc>
                <a:spcPts val="2965"/>
              </a:lnSpc>
              <a:spcBef>
                <a:spcPct val="0"/>
              </a:spcBef>
            </a:pPr>
            <a:r>
              <a:rPr lang="en-US" sz="2118">
                <a:solidFill>
                  <a:srgbClr val="333333"/>
                </a:solidFill>
                <a:latin typeface="Poppins"/>
                <a:ea typeface="Poppins"/>
                <a:cs typeface="Poppins"/>
                <a:sym typeface="Poppins"/>
              </a:rPr>
              <a:t>Remov</a:t>
            </a:r>
            <a:r>
              <a:rPr lang="en-US" sz="2118">
                <a:solidFill>
                  <a:srgbClr val="333333"/>
                </a:solidFill>
                <a:latin typeface="Poppins"/>
                <a:ea typeface="Poppins"/>
                <a:cs typeface="Poppins"/>
                <a:sym typeface="Poppins"/>
              </a:rPr>
              <a:t>ed edge artifacts and size inconsistencies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1440089" y="604074"/>
            <a:ext cx="15407822" cy="984340"/>
          </a:xfrm>
          <a:prstGeom prst="rect">
            <a:avLst/>
          </a:prstGeom>
        </p:spPr>
        <p:txBody>
          <a:bodyPr anchor="t" rtlCol="false" tIns="0" lIns="0" bIns="0" rIns="0">
            <a:spAutoFit/>
          </a:bodyPr>
          <a:lstStyle/>
          <a:p>
            <a:pPr algn="ctr" marL="0" indent="0" lvl="0">
              <a:lnSpc>
                <a:spcPts val="6945"/>
              </a:lnSpc>
              <a:spcBef>
                <a:spcPct val="0"/>
              </a:spcBef>
            </a:pPr>
            <a:r>
              <a:rPr lang="en-US" b="true" sz="6809" strike="noStrike" u="none">
                <a:solidFill>
                  <a:srgbClr val="F2ECE2"/>
                </a:solidFill>
                <a:latin typeface="Poppins Bold"/>
                <a:ea typeface="Poppins Bold"/>
                <a:cs typeface="Poppins Bold"/>
                <a:sym typeface="Poppins Bold"/>
              </a:rPr>
              <a:t>Label Encoding &amp; Classes</a:t>
            </a:r>
          </a:p>
        </p:txBody>
      </p:sp>
      <p:sp>
        <p:nvSpPr>
          <p:cNvPr name="Freeform 3" id="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graphicFrame>
        <p:nvGraphicFramePr>
          <p:cNvPr name="Table 4" id="4"/>
          <p:cNvGraphicFramePr>
            <a:graphicFrameLocks noGrp="true"/>
          </p:cNvGraphicFramePr>
          <p:nvPr/>
        </p:nvGraphicFramePr>
        <p:xfrm>
          <a:off x="1028700" y="4886325"/>
          <a:ext cx="6806406" cy="4438650"/>
        </p:xfrm>
        <a:graphic>
          <a:graphicData uri="http://schemas.openxmlformats.org/drawingml/2006/table">
            <a:tbl>
              <a:tblPr/>
              <a:tblGrid>
                <a:gridCol w="3405274"/>
                <a:gridCol w="3401132"/>
              </a:tblGrid>
              <a:tr h="739775">
                <a:tc>
                  <a:txBody>
                    <a:bodyPr anchor="t" rtlCol="false"/>
                    <a:lstStyle/>
                    <a:p>
                      <a:pPr algn="ctr">
                        <a:lnSpc>
                          <a:spcPts val="3919"/>
                        </a:lnSpc>
                        <a:defRPr/>
                      </a:pPr>
                      <a:r>
                        <a:rPr lang="en-US" sz="2799" b="true">
                          <a:solidFill>
                            <a:srgbClr val="FFFFFF"/>
                          </a:solidFill>
                          <a:latin typeface="Poppins Bold"/>
                          <a:ea typeface="Poppins Bold"/>
                          <a:cs typeface="Poppins Bold"/>
                          <a:sym typeface="Poppins Bold"/>
                        </a:rPr>
                        <a:t>Class ID</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1399"/>
                        </a:lnSpc>
                        <a:defRPr/>
                      </a:pPr>
                      <a:r>
                        <a:rPr lang="en-US" b="true" sz="2799" strike="noStrike" u="none">
                          <a:solidFill>
                            <a:srgbClr val="FFFFFF"/>
                          </a:solidFill>
                          <a:latin typeface="Poppins Bold"/>
                          <a:ea typeface="Poppins Bold"/>
                          <a:cs typeface="Poppins Bold"/>
                          <a:sym typeface="Poppins Bold"/>
                        </a:rPr>
                        <a:t>Category</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39775">
                <a:tc>
                  <a:txBody>
                    <a:bodyPr anchor="t" rtlCol="false"/>
                    <a:lstStyle/>
                    <a:p>
                      <a:pPr algn="ctr">
                        <a:lnSpc>
                          <a:spcPts val="3919"/>
                        </a:lnSpc>
                        <a:defRPr/>
                      </a:pPr>
                      <a:r>
                        <a:rPr lang="en-US" sz="2799" b="true">
                          <a:solidFill>
                            <a:srgbClr val="FFFFFF"/>
                          </a:solidFill>
                          <a:latin typeface="Poppins Bold"/>
                          <a:ea typeface="Poppins Bold"/>
                          <a:cs typeface="Poppins Bold"/>
                          <a:sym typeface="Poppins Bold"/>
                        </a:rPr>
                        <a:t>0</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Background</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3977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1</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Road</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3977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2</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Roof</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3977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3</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Water Bodies</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3977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4</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Utility</a:t>
                      </a:r>
                      <a:endParaRPr lang="en-US" sz="1100"/>
                    </a:p>
                  </a:txBody>
                  <a:tcPr marL="0" marR="0" marT="0" marB="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graphicFrame>
        <p:nvGraphicFramePr>
          <p:cNvPr name="Table 5" id="5"/>
          <p:cNvGraphicFramePr>
            <a:graphicFrameLocks noGrp="true"/>
          </p:cNvGraphicFramePr>
          <p:nvPr/>
        </p:nvGraphicFramePr>
        <p:xfrm>
          <a:off x="9922437" y="5143500"/>
          <a:ext cx="6806406" cy="4181475"/>
        </p:xfrm>
        <a:graphic>
          <a:graphicData uri="http://schemas.openxmlformats.org/drawingml/2006/table">
            <a:tbl>
              <a:tblPr/>
              <a:tblGrid>
                <a:gridCol w="3405274"/>
                <a:gridCol w="3401132"/>
              </a:tblGrid>
              <a:tr h="836295">
                <a:tc>
                  <a:txBody>
                    <a:bodyPr anchor="t" rtlCol="false"/>
                    <a:lstStyle/>
                    <a:p>
                      <a:pPr algn="ctr">
                        <a:lnSpc>
                          <a:spcPts val="3919"/>
                        </a:lnSpc>
                        <a:defRPr/>
                      </a:pPr>
                      <a:r>
                        <a:rPr lang="en-US" sz="2799" b="true">
                          <a:solidFill>
                            <a:srgbClr val="FFFFFF"/>
                          </a:solidFill>
                          <a:latin typeface="Poppins Bold"/>
                          <a:ea typeface="Poppins Bold"/>
                          <a:cs typeface="Poppins Bold"/>
                          <a:sym typeface="Poppins Bold"/>
                        </a:rPr>
                        <a:t>Class ID</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1399"/>
                        </a:lnSpc>
                        <a:defRPr/>
                      </a:pPr>
                      <a:r>
                        <a:rPr lang="en-US" b="true" sz="2799" strike="noStrike" u="none">
                          <a:solidFill>
                            <a:srgbClr val="FFFFFF"/>
                          </a:solidFill>
                          <a:latin typeface="Poppins Bold"/>
                          <a:ea typeface="Poppins Bold"/>
                          <a:cs typeface="Poppins Bold"/>
                          <a:sym typeface="Poppins Bold"/>
                        </a:rPr>
                        <a:t>Category</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36295">
                <a:tc>
                  <a:txBody>
                    <a:bodyPr anchor="t" rtlCol="false"/>
                    <a:lstStyle/>
                    <a:p>
                      <a:pPr algn="ctr">
                        <a:lnSpc>
                          <a:spcPts val="3919"/>
                        </a:lnSpc>
                        <a:defRPr/>
                      </a:pPr>
                      <a:r>
                        <a:rPr lang="en-US" sz="2799" b="true">
                          <a:solidFill>
                            <a:srgbClr val="FFFFFF"/>
                          </a:solidFill>
                          <a:latin typeface="Poppins Bold"/>
                          <a:ea typeface="Poppins Bold"/>
                          <a:cs typeface="Poppins Bold"/>
                          <a:sym typeface="Poppins Bold"/>
                        </a:rPr>
                        <a:t>0</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Background</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3629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1</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RCC Roof</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3629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2</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Tiled Roof</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36295">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3</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0" indent="0" lvl="0">
                        <a:lnSpc>
                          <a:spcPts val="3919"/>
                        </a:lnSpc>
                        <a:spcBef>
                          <a:spcPct val="0"/>
                        </a:spcBef>
                        <a:defRPr/>
                      </a:pPr>
                      <a:r>
                        <a:rPr lang="en-US" b="true" sz="2799" strike="noStrike" u="none">
                          <a:solidFill>
                            <a:srgbClr val="FFFFFF"/>
                          </a:solidFill>
                          <a:latin typeface="Poppins Bold"/>
                          <a:ea typeface="Poppins Bold"/>
                          <a:cs typeface="Poppins Bold"/>
                          <a:sym typeface="Poppins Bold"/>
                        </a:rPr>
                        <a:t>Asbestos</a:t>
                      </a:r>
                      <a:endParaRPr lang="en-US" sz="1100"/>
                    </a:p>
                  </a:txBody>
                  <a:tcPr marL="47625" marR="47625" marT="47625" marB="476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6" id="6"/>
          <p:cNvSpPr txBox="true"/>
          <p:nvPr/>
        </p:nvSpPr>
        <p:spPr>
          <a:xfrm rot="0">
            <a:off x="828630" y="1864120"/>
            <a:ext cx="15900213" cy="2565525"/>
          </a:xfrm>
          <a:prstGeom prst="rect">
            <a:avLst/>
          </a:prstGeom>
        </p:spPr>
        <p:txBody>
          <a:bodyPr anchor="t" rtlCol="false" tIns="0" lIns="0" bIns="0" rIns="0">
            <a:spAutoFit/>
          </a:bodyPr>
          <a:lstStyle/>
          <a:p>
            <a:pPr algn="l" marL="626117" indent="-313059" lvl="1">
              <a:lnSpc>
                <a:spcPts val="5104"/>
              </a:lnSpc>
              <a:spcBef>
                <a:spcPct val="0"/>
              </a:spcBef>
              <a:buFont typeface="Arial"/>
              <a:buChar char="•"/>
            </a:pPr>
            <a:r>
              <a:rPr lang="en-US" sz="2900" spc="-188" strike="noStrike" u="none">
                <a:solidFill>
                  <a:srgbClr val="FFFFFF"/>
                </a:solidFill>
                <a:latin typeface="Poppins"/>
                <a:ea typeface="Poppins"/>
                <a:cs typeface="Poppins"/>
                <a:sym typeface="Poppins"/>
              </a:rPr>
              <a:t>Pixel-wise label encoding applied to masks</a:t>
            </a:r>
          </a:p>
          <a:p>
            <a:pPr algn="l" marL="626117" indent="-313059" lvl="1">
              <a:lnSpc>
                <a:spcPts val="5104"/>
              </a:lnSpc>
              <a:spcBef>
                <a:spcPct val="0"/>
              </a:spcBef>
              <a:buFont typeface="Arial"/>
              <a:buChar char="•"/>
            </a:pPr>
            <a:r>
              <a:rPr lang="en-US" sz="2900" spc="-188" strike="noStrike" u="none">
                <a:solidFill>
                  <a:srgbClr val="FFFFFF"/>
                </a:solidFill>
                <a:latin typeface="Poppins"/>
                <a:ea typeface="Poppins"/>
                <a:cs typeface="Poppins"/>
                <a:sym typeface="Poppins"/>
              </a:rPr>
              <a:t>Priority-based conflict handling:</a:t>
            </a:r>
          </a:p>
          <a:p>
            <a:pPr algn="l" marL="626117" indent="-313059" lvl="1">
              <a:lnSpc>
                <a:spcPts val="5104"/>
              </a:lnSpc>
              <a:spcBef>
                <a:spcPct val="0"/>
              </a:spcBef>
              <a:buFont typeface="Arial"/>
              <a:buChar char="•"/>
            </a:pPr>
            <a:r>
              <a:rPr lang="en-US" sz="2900" spc="-188" strike="noStrike" u="none">
                <a:solidFill>
                  <a:srgbClr val="FFFFFF"/>
                </a:solidFill>
                <a:latin typeface="Poppins"/>
                <a:ea typeface="Poppins"/>
                <a:cs typeface="Poppins"/>
                <a:sym typeface="Poppins"/>
              </a:rPr>
              <a:t>Utility &gt; Water &gt; Roof &gt; Road &gt; Background</a:t>
            </a:r>
          </a:p>
          <a:p>
            <a:pPr algn="l" marL="626117" indent="-313059" lvl="1">
              <a:lnSpc>
                <a:spcPts val="5104"/>
              </a:lnSpc>
              <a:spcBef>
                <a:spcPct val="0"/>
              </a:spcBef>
              <a:buFont typeface="Arial"/>
              <a:buChar char="•"/>
            </a:pPr>
            <a:r>
              <a:rPr lang="en-US" sz="2900" spc="-188" strike="noStrike" u="none">
                <a:solidFill>
                  <a:srgbClr val="FFFFFF"/>
                </a:solidFill>
                <a:latin typeface="Poppins"/>
                <a:ea typeface="Poppins"/>
                <a:cs typeface="Poppins"/>
                <a:sym typeface="Poppins"/>
              </a:rPr>
              <a:t>Ensures consistent and accurate class assignment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1028700" y="1664249"/>
            <a:ext cx="16496323" cy="984339"/>
          </a:xfrm>
          <a:prstGeom prst="rect">
            <a:avLst/>
          </a:prstGeom>
        </p:spPr>
        <p:txBody>
          <a:bodyPr anchor="t" rtlCol="false" tIns="0" lIns="0" bIns="0" rIns="0">
            <a:spAutoFit/>
          </a:bodyPr>
          <a:lstStyle/>
          <a:p>
            <a:pPr algn="l">
              <a:lnSpc>
                <a:spcPts val="6945"/>
              </a:lnSpc>
            </a:pPr>
            <a:r>
              <a:rPr lang="en-US" sz="6809" b="true">
                <a:solidFill>
                  <a:srgbClr val="F2ECE2"/>
                </a:solidFill>
                <a:latin typeface="Poppins Bold"/>
                <a:ea typeface="Poppins Bold"/>
                <a:cs typeface="Poppins Bold"/>
                <a:sym typeface="Poppins Bold"/>
              </a:rPr>
              <a:t>Model Architecture (Overview)</a:t>
            </a:r>
          </a:p>
        </p:txBody>
      </p:sp>
      <p:sp>
        <p:nvSpPr>
          <p:cNvPr name="TextBox 3" id="3"/>
          <p:cNvSpPr txBox="true"/>
          <p:nvPr/>
        </p:nvSpPr>
        <p:spPr>
          <a:xfrm rot="0">
            <a:off x="1028700" y="2836705"/>
            <a:ext cx="19162446" cy="5244590"/>
          </a:xfrm>
          <a:prstGeom prst="rect">
            <a:avLst/>
          </a:prstGeom>
        </p:spPr>
        <p:txBody>
          <a:bodyPr anchor="t" rtlCol="false" tIns="0" lIns="0" bIns="0" rIns="0">
            <a:spAutoFit/>
          </a:bodyPr>
          <a:lstStyle/>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Architecture: DeepLabV3+ for multi-class semantic segmentation</a:t>
            </a:r>
            <a:r>
              <a:rPr lang="en-US" sz="3400" spc="-221" strike="noStrike" u="none">
                <a:solidFill>
                  <a:srgbClr val="FFFFFF"/>
                </a:solidFill>
                <a:latin typeface="Poppins"/>
                <a:ea typeface="Poppins"/>
                <a:cs typeface="Poppins"/>
                <a:sym typeface="Poppins"/>
              </a:rPr>
              <a:t> </a:t>
            </a:r>
          </a:p>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Encoders: MIT-B</a:t>
            </a:r>
            <a:r>
              <a:rPr lang="en-US" sz="3400" spc="-221" strike="noStrike" u="none">
                <a:solidFill>
                  <a:srgbClr val="FFFFFF"/>
                </a:solidFill>
                <a:latin typeface="Poppins"/>
                <a:ea typeface="Poppins"/>
                <a:cs typeface="Poppins"/>
                <a:sym typeface="Poppins"/>
              </a:rPr>
              <a:t>4</a:t>
            </a:r>
            <a:r>
              <a:rPr lang="en-US" sz="3400" spc="-221" strike="noStrike" u="none">
                <a:solidFill>
                  <a:srgbClr val="FFFFFF"/>
                </a:solidFill>
                <a:latin typeface="Poppins"/>
                <a:ea typeface="Poppins"/>
                <a:cs typeface="Poppins"/>
                <a:sym typeface="Poppins"/>
              </a:rPr>
              <a:t> → </a:t>
            </a:r>
            <a:r>
              <a:rPr lang="en-US" sz="3400" spc="-221" strike="noStrike" u="none">
                <a:solidFill>
                  <a:srgbClr val="FFFFFF"/>
                </a:solidFill>
                <a:latin typeface="Poppins"/>
                <a:ea typeface="Poppins"/>
                <a:cs typeface="Poppins"/>
                <a:sym typeface="Poppins"/>
              </a:rPr>
              <a:t>h</a:t>
            </a:r>
            <a:r>
              <a:rPr lang="en-US" sz="3400" spc="-221" strike="noStrike" u="none">
                <a:solidFill>
                  <a:srgbClr val="FFFFFF"/>
                </a:solidFill>
                <a:latin typeface="Poppins"/>
                <a:ea typeface="Poppins"/>
                <a:cs typeface="Poppins"/>
                <a:sym typeface="Poppins"/>
              </a:rPr>
              <a:t>i</a:t>
            </a:r>
            <a:r>
              <a:rPr lang="en-US" sz="3400" spc="-221" strike="noStrike" u="none">
                <a:solidFill>
                  <a:srgbClr val="FFFFFF"/>
                </a:solidFill>
                <a:latin typeface="Poppins"/>
                <a:ea typeface="Poppins"/>
                <a:cs typeface="Poppins"/>
                <a:sym typeface="Poppins"/>
              </a:rPr>
              <a:t>gh-capa</a:t>
            </a:r>
            <a:r>
              <a:rPr lang="en-US" sz="3400" spc="-221" strike="noStrike" u="none">
                <a:solidFill>
                  <a:srgbClr val="FFFFFF"/>
                </a:solidFill>
                <a:latin typeface="Poppins"/>
                <a:ea typeface="Poppins"/>
                <a:cs typeface="Poppins"/>
                <a:sym typeface="Poppins"/>
              </a:rPr>
              <a:t>cit</a:t>
            </a:r>
            <a:r>
              <a:rPr lang="en-US" sz="3400" spc="-221" strike="noStrike" u="none">
                <a:solidFill>
                  <a:srgbClr val="FFFFFF"/>
                </a:solidFill>
                <a:latin typeface="Poppins"/>
                <a:ea typeface="Poppins"/>
                <a:cs typeface="Poppins"/>
                <a:sym typeface="Poppins"/>
              </a:rPr>
              <a:t>y</a:t>
            </a:r>
            <a:r>
              <a:rPr lang="en-US" sz="3400" spc="-221" strike="noStrike" u="none">
                <a:solidFill>
                  <a:srgbClr val="FFFFFF"/>
                </a:solidFill>
                <a:latin typeface="Poppins"/>
                <a:ea typeface="Poppins"/>
                <a:cs typeface="Poppins"/>
                <a:sym typeface="Poppins"/>
              </a:rPr>
              <a:t> encoder with strong </a:t>
            </a:r>
            <a:r>
              <a:rPr lang="en-US" sz="3400" spc="-221" strike="noStrike" u="none">
                <a:solidFill>
                  <a:srgbClr val="FFFFFF"/>
                </a:solidFill>
                <a:latin typeface="Poppins"/>
                <a:ea typeface="Poppins"/>
                <a:cs typeface="Poppins"/>
                <a:sym typeface="Poppins"/>
              </a:rPr>
              <a:t>glob</a:t>
            </a:r>
            <a:r>
              <a:rPr lang="en-US" sz="3400" spc="-221" strike="noStrike" u="none">
                <a:solidFill>
                  <a:srgbClr val="FFFFFF"/>
                </a:solidFill>
                <a:latin typeface="Poppins"/>
                <a:ea typeface="Poppins"/>
                <a:cs typeface="Poppins"/>
                <a:sym typeface="Poppins"/>
              </a:rPr>
              <a:t>a</a:t>
            </a:r>
            <a:r>
              <a:rPr lang="en-US" sz="3400" spc="-221" strike="noStrike" u="none">
                <a:solidFill>
                  <a:srgbClr val="FFFFFF"/>
                </a:solidFill>
                <a:latin typeface="Poppins"/>
                <a:ea typeface="Poppins"/>
                <a:cs typeface="Poppins"/>
                <a:sym typeface="Poppins"/>
              </a:rPr>
              <a:t>l</a:t>
            </a:r>
            <a:r>
              <a:rPr lang="en-US" sz="3400" spc="-221" strike="noStrike" u="none">
                <a:solidFill>
                  <a:srgbClr val="FFFFFF"/>
                </a:solidFill>
                <a:latin typeface="Poppins"/>
                <a:ea typeface="Poppins"/>
                <a:cs typeface="Poppins"/>
                <a:sym typeface="Poppins"/>
              </a:rPr>
              <a:t> con</a:t>
            </a:r>
            <a:r>
              <a:rPr lang="en-US" sz="3400" spc="-221" strike="noStrike" u="none">
                <a:solidFill>
                  <a:srgbClr val="FFFFFF"/>
                </a:solidFill>
                <a:latin typeface="Poppins"/>
                <a:ea typeface="Poppins"/>
                <a:cs typeface="Poppins"/>
                <a:sym typeface="Poppins"/>
              </a:rPr>
              <a:t>text </a:t>
            </a:r>
          </a:p>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ASPP Module: Captures multi-scale spatial context</a:t>
            </a:r>
            <a:r>
              <a:rPr lang="en-US" sz="3400" spc="-221" strike="noStrike" u="none">
                <a:solidFill>
                  <a:srgbClr val="FFFFFF"/>
                </a:solidFill>
                <a:latin typeface="Poppins"/>
                <a:ea typeface="Poppins"/>
                <a:cs typeface="Poppins"/>
                <a:sym typeface="Poppins"/>
              </a:rPr>
              <a:t> for varied object sizes </a:t>
            </a:r>
          </a:p>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Decoder:</a:t>
            </a:r>
            <a:r>
              <a:rPr lang="en-US" sz="3400" spc="-221" strike="noStrike" u="none">
                <a:solidFill>
                  <a:srgbClr val="FFFFFF"/>
                </a:solidFill>
                <a:latin typeface="Poppins"/>
                <a:ea typeface="Poppins"/>
                <a:cs typeface="Poppins"/>
                <a:sym typeface="Poppins"/>
              </a:rPr>
              <a:t> Refines features for precise boundaries and fine structures </a:t>
            </a:r>
          </a:p>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Output:</a:t>
            </a:r>
            <a:r>
              <a:rPr lang="en-US" sz="3400" spc="-221" strike="noStrike" u="none">
                <a:solidFill>
                  <a:srgbClr val="FFFFFF"/>
                </a:solidFill>
                <a:latin typeface="Poppins"/>
                <a:ea typeface="Poppins"/>
                <a:cs typeface="Poppins"/>
                <a:sym typeface="Poppins"/>
              </a:rPr>
              <a:t> Pixel-wise classification (5 classes, 1024×1024 resolution) </a:t>
            </a:r>
          </a:p>
          <a:p>
            <a:pPr algn="l" marL="734066" indent="-367033" lvl="1">
              <a:lnSpc>
                <a:spcPts val="5984"/>
              </a:lnSpc>
              <a:spcBef>
                <a:spcPct val="0"/>
              </a:spcBef>
              <a:buFont typeface="Arial"/>
              <a:buChar char="•"/>
            </a:pPr>
            <a:r>
              <a:rPr lang="en-US" sz="3400" spc="-221" strike="noStrike" u="none">
                <a:solidFill>
                  <a:srgbClr val="FFFFFF"/>
                </a:solidFill>
                <a:latin typeface="Poppins"/>
                <a:ea typeface="Poppins"/>
                <a:cs typeface="Poppins"/>
                <a:sym typeface="Poppins"/>
              </a:rPr>
              <a:t>Optimiz</a:t>
            </a:r>
            <a:r>
              <a:rPr lang="en-US" sz="3400" spc="-221" strike="noStrike" u="none">
                <a:solidFill>
                  <a:srgbClr val="FFFFFF"/>
                </a:solidFill>
                <a:latin typeface="Poppins"/>
                <a:ea typeface="Poppins"/>
                <a:cs typeface="Poppins"/>
                <a:sym typeface="Poppins"/>
              </a:rPr>
              <a:t>ation</a:t>
            </a:r>
            <a:r>
              <a:rPr lang="en-US" sz="3400" spc="-221" strike="noStrike" u="none">
                <a:solidFill>
                  <a:srgbClr val="FFFFFF"/>
                </a:solidFill>
                <a:latin typeface="Poppins"/>
                <a:ea typeface="Poppins"/>
                <a:cs typeface="Poppins"/>
                <a:sym typeface="Poppins"/>
              </a:rPr>
              <a:t> </a:t>
            </a:r>
            <a:r>
              <a:rPr lang="en-US" sz="3400" spc="-221" strike="noStrike" u="none">
                <a:solidFill>
                  <a:srgbClr val="FFFFFF"/>
                </a:solidFill>
                <a:latin typeface="Poppins"/>
                <a:ea typeface="Poppins"/>
                <a:cs typeface="Poppins"/>
                <a:sym typeface="Poppins"/>
              </a:rPr>
              <a:t>F</a:t>
            </a:r>
            <a:r>
              <a:rPr lang="en-US" sz="3400" spc="-221" strike="noStrike" u="none">
                <a:solidFill>
                  <a:srgbClr val="FFFFFF"/>
                </a:solidFill>
                <a:latin typeface="Poppins"/>
                <a:ea typeface="Poppins"/>
                <a:cs typeface="Poppins"/>
                <a:sym typeface="Poppins"/>
              </a:rPr>
              <a:t>o</a:t>
            </a:r>
            <a:r>
              <a:rPr lang="en-US" sz="3400" spc="-221" strike="noStrike" u="none">
                <a:solidFill>
                  <a:srgbClr val="FFFFFF"/>
                </a:solidFill>
                <a:latin typeface="Poppins"/>
                <a:ea typeface="Poppins"/>
                <a:cs typeface="Poppins"/>
                <a:sym typeface="Poppins"/>
              </a:rPr>
              <a:t>cus:</a:t>
            </a:r>
            <a:r>
              <a:rPr lang="en-US" sz="3400" spc="-221" strike="noStrike" u="none">
                <a:solidFill>
                  <a:srgbClr val="FFFFFF"/>
                </a:solidFill>
                <a:latin typeface="Poppins"/>
                <a:ea typeface="Poppins"/>
                <a:cs typeface="Poppins"/>
                <a:sym typeface="Poppins"/>
              </a:rPr>
              <a:t> </a:t>
            </a:r>
            <a:r>
              <a:rPr lang="en-US" sz="3400" spc="-221" strike="noStrike" u="none">
                <a:solidFill>
                  <a:srgbClr val="FFFFFF"/>
                </a:solidFill>
                <a:latin typeface="Poppins"/>
                <a:ea typeface="Poppins"/>
                <a:cs typeface="Poppins"/>
                <a:sym typeface="Poppins"/>
              </a:rPr>
              <a:t>T</a:t>
            </a:r>
            <a:r>
              <a:rPr lang="en-US" sz="3400" spc="-221" strike="noStrike" u="none">
                <a:solidFill>
                  <a:srgbClr val="FFFFFF"/>
                </a:solidFill>
                <a:latin typeface="Poppins"/>
                <a:ea typeface="Poppins"/>
                <a:cs typeface="Poppins"/>
                <a:sym typeface="Poppins"/>
              </a:rPr>
              <a:t>hin structures (roads) and small objects (utilities)</a:t>
            </a:r>
          </a:p>
          <a:p>
            <a:pPr algn="l">
              <a:lnSpc>
                <a:spcPts val="5984"/>
              </a:lnSpc>
              <a:spcBef>
                <a:spcPct val="0"/>
              </a:spcBef>
            </a:pP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Freeform 2" id="2"/>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
        <p:nvSpPr>
          <p:cNvPr name="Freeform 3" id="3"/>
          <p:cNvSpPr/>
          <p:nvPr/>
        </p:nvSpPr>
        <p:spPr>
          <a:xfrm flipH="false" flipV="false" rot="0">
            <a:off x="700563" y="1325384"/>
            <a:ext cx="16604333" cy="10348026"/>
          </a:xfrm>
          <a:custGeom>
            <a:avLst/>
            <a:gdLst/>
            <a:ahLst/>
            <a:cxnLst/>
            <a:rect r="r" b="b" t="t" l="l"/>
            <a:pathLst>
              <a:path h="10348026" w="16604333">
                <a:moveTo>
                  <a:pt x="0" y="0"/>
                </a:moveTo>
                <a:lnTo>
                  <a:pt x="16604332" y="0"/>
                </a:lnTo>
                <a:lnTo>
                  <a:pt x="16604332" y="10348026"/>
                </a:lnTo>
                <a:lnTo>
                  <a:pt x="0" y="10348026"/>
                </a:lnTo>
                <a:lnTo>
                  <a:pt x="0" y="0"/>
                </a:lnTo>
                <a:close/>
              </a:path>
            </a:pathLst>
          </a:custGeom>
          <a:blipFill>
            <a:blip r:embed="rId3"/>
            <a:stretch>
              <a:fillRect l="-728" t="-1134" r="-364" b="0"/>
            </a:stretch>
          </a:blipFill>
        </p:spPr>
      </p:sp>
      <p:sp>
        <p:nvSpPr>
          <p:cNvPr name="TextBox 4" id="4"/>
          <p:cNvSpPr txBox="true"/>
          <p:nvPr/>
        </p:nvSpPr>
        <p:spPr>
          <a:xfrm rot="0">
            <a:off x="700563" y="460514"/>
            <a:ext cx="13336989" cy="1777365"/>
          </a:xfrm>
          <a:prstGeom prst="rect">
            <a:avLst/>
          </a:prstGeom>
        </p:spPr>
        <p:txBody>
          <a:bodyPr anchor="t" rtlCol="false" tIns="0" lIns="0" bIns="0" rIns="0">
            <a:spAutoFit/>
          </a:bodyPr>
          <a:lstStyle/>
          <a:p>
            <a:pPr algn="l" marL="0" indent="0" lvl="0">
              <a:lnSpc>
                <a:spcPts val="6630"/>
              </a:lnSpc>
              <a:spcBef>
                <a:spcPct val="0"/>
              </a:spcBef>
            </a:pPr>
            <a:r>
              <a:rPr lang="en-US" b="true" sz="6500">
                <a:solidFill>
                  <a:srgbClr val="333333"/>
                </a:solidFill>
                <a:latin typeface="Poppins Bold"/>
                <a:ea typeface="Poppins Bold"/>
                <a:cs typeface="Poppins Bold"/>
                <a:sym typeface="Poppins Bold"/>
              </a:rPr>
              <a:t>Arch</a:t>
            </a:r>
            <a:r>
              <a:rPr lang="en-US" b="true" sz="6500" strike="noStrike" u="none">
                <a:solidFill>
                  <a:srgbClr val="333333"/>
                </a:solidFill>
                <a:latin typeface="Poppins Bold"/>
                <a:ea typeface="Poppins Bold"/>
                <a:cs typeface="Poppins Bold"/>
                <a:sym typeface="Poppins Bold"/>
              </a:rPr>
              <a:t>itecture Diagram</a:t>
            </a:r>
          </a:p>
          <a:p>
            <a:pPr algn="l" marL="0" indent="0" lvl="0">
              <a:lnSpc>
                <a:spcPts val="663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1028700" y="1076325"/>
            <a:ext cx="15283430" cy="1858104"/>
          </a:xfrm>
          <a:prstGeom prst="rect">
            <a:avLst/>
          </a:prstGeom>
        </p:spPr>
        <p:txBody>
          <a:bodyPr anchor="t" rtlCol="false" tIns="0" lIns="0" bIns="0" rIns="0">
            <a:spAutoFit/>
          </a:bodyPr>
          <a:lstStyle/>
          <a:p>
            <a:pPr algn="l" marL="0" indent="0" lvl="0">
              <a:lnSpc>
                <a:spcPts val="6945"/>
              </a:lnSpc>
              <a:spcBef>
                <a:spcPct val="0"/>
              </a:spcBef>
            </a:pPr>
            <a:r>
              <a:rPr lang="en-US" b="true" sz="6809" strike="noStrike" u="none">
                <a:solidFill>
                  <a:srgbClr val="F2ECE2"/>
                </a:solidFill>
                <a:latin typeface="Poppins Bold"/>
                <a:ea typeface="Poppins Bold"/>
                <a:cs typeface="Poppins Bold"/>
                <a:sym typeface="Poppins Bold"/>
              </a:rPr>
              <a:t> Architecture Explanation</a:t>
            </a:r>
          </a:p>
          <a:p>
            <a:pPr algn="l" marL="0" indent="0" lvl="0">
              <a:lnSpc>
                <a:spcPts val="6945"/>
              </a:lnSpc>
              <a:spcBef>
                <a:spcPct val="0"/>
              </a:spcBef>
            </a:pPr>
          </a:p>
        </p:txBody>
      </p:sp>
      <p:sp>
        <p:nvSpPr>
          <p:cNvPr name="TextBox 3" id="3"/>
          <p:cNvSpPr txBox="true"/>
          <p:nvPr/>
        </p:nvSpPr>
        <p:spPr>
          <a:xfrm rot="0">
            <a:off x="1028700" y="2337805"/>
            <a:ext cx="15700143" cy="6920495"/>
          </a:xfrm>
          <a:prstGeom prst="rect">
            <a:avLst/>
          </a:prstGeom>
        </p:spPr>
        <p:txBody>
          <a:bodyPr anchor="t" rtlCol="false" tIns="0" lIns="0" bIns="0" rIns="0">
            <a:spAutoFit/>
          </a:bodyPr>
          <a:lstStyle/>
          <a:p>
            <a:pPr algn="l" marL="581350" indent="-290675" lvl="1">
              <a:lnSpc>
                <a:spcPts val="4981"/>
              </a:lnSpc>
              <a:buFont typeface="Arial"/>
              <a:buChar char="•"/>
            </a:pPr>
            <a:r>
              <a:rPr lang="en-US" sz="2692" spc="-185">
                <a:solidFill>
                  <a:srgbClr val="FFFFFF"/>
                </a:solidFill>
                <a:latin typeface="Poppins"/>
                <a:ea typeface="Poppins"/>
                <a:cs typeface="Poppins"/>
                <a:sym typeface="Poppins"/>
              </a:rPr>
              <a:t>Preprocessing: Orthophoto images and shapefiles are aligned and converted into image–mask pairs for training</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Encoder (ResNet34 / MIT-B4): Extracts meaningful spatial and semantic features from the input image</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ASPP Module: Captures multi-scale context to detect both small and large objects effectively</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Decoder: Refines feature maps to produce sharper boundaries and precise segmentation</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Loss Functions: Dice, Focal, and Cross Entropy improve accuracy and handle class imbalance</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Optimizer (AdamW): Updates model weights efficiently with better generalization</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Tiling (1024×1024): Splits large images into smaller patches for feasible processing</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Stitching: Combines predicted tiles back into a full-size output image</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Post-processing: Removes noise and smooths edges for cleaner results</a:t>
            </a:r>
          </a:p>
          <a:p>
            <a:pPr algn="l" marL="581350" indent="-290675" lvl="1">
              <a:lnSpc>
                <a:spcPts val="4981"/>
              </a:lnSpc>
              <a:buFont typeface="Arial"/>
              <a:buChar char="•"/>
            </a:pPr>
            <a:r>
              <a:rPr lang="en-US" sz="2692" spc="-185">
                <a:solidFill>
                  <a:srgbClr val="FFFFFF"/>
                </a:solidFill>
                <a:latin typeface="Poppins"/>
                <a:ea typeface="Poppins"/>
                <a:cs typeface="Poppins"/>
                <a:sym typeface="Poppins"/>
              </a:rPr>
              <a:t>Output: Generates a pixel-wise classified map of infrastructure elements</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1028700" y="2038655"/>
            <a:ext cx="18683894" cy="1706336"/>
          </a:xfrm>
          <a:prstGeom prst="rect">
            <a:avLst/>
          </a:prstGeom>
        </p:spPr>
        <p:txBody>
          <a:bodyPr anchor="t" rtlCol="false" tIns="0" lIns="0" bIns="0" rIns="0">
            <a:spAutoFit/>
          </a:bodyPr>
          <a:lstStyle/>
          <a:p>
            <a:pPr algn="l">
              <a:lnSpc>
                <a:spcPts val="6435"/>
              </a:lnSpc>
            </a:pPr>
            <a:r>
              <a:rPr lang="en-US" sz="6309" b="true">
                <a:solidFill>
                  <a:srgbClr val="333333"/>
                </a:solidFill>
                <a:latin typeface="Poppins Bold"/>
                <a:ea typeface="Poppins Bold"/>
                <a:cs typeface="Poppins Bold"/>
                <a:sym typeface="Poppins Bold"/>
              </a:rPr>
              <a:t>Training Strategy &amp; Optimization</a:t>
            </a:r>
          </a:p>
          <a:p>
            <a:pPr algn="l">
              <a:lnSpc>
                <a:spcPts val="6435"/>
              </a:lnSpc>
            </a:pPr>
          </a:p>
        </p:txBody>
      </p:sp>
      <p:sp>
        <p:nvSpPr>
          <p:cNvPr name="TextBox 3" id="3"/>
          <p:cNvSpPr txBox="true"/>
          <p:nvPr/>
        </p:nvSpPr>
        <p:spPr>
          <a:xfrm rot="0">
            <a:off x="1028700" y="3251379"/>
            <a:ext cx="16266957" cy="5244591"/>
          </a:xfrm>
          <a:prstGeom prst="rect">
            <a:avLst/>
          </a:prstGeom>
        </p:spPr>
        <p:txBody>
          <a:bodyPr anchor="t" rtlCol="false" tIns="0" lIns="0" bIns="0" rIns="0">
            <a:spAutoFit/>
          </a:bodyPr>
          <a:lstStyle/>
          <a:p>
            <a:pPr algn="l" marL="734064" indent="-367032" lvl="1">
              <a:lnSpc>
                <a:spcPts val="5984"/>
              </a:lnSpc>
              <a:spcBef>
                <a:spcPct val="0"/>
              </a:spcBef>
              <a:buFont typeface="Arial"/>
              <a:buChar char="•"/>
            </a:pPr>
            <a:r>
              <a:rPr lang="en-US" sz="3400" spc="-221">
                <a:solidFill>
                  <a:srgbClr val="333333"/>
                </a:solidFill>
                <a:latin typeface="Poppins"/>
                <a:ea typeface="Poppins"/>
                <a:cs typeface="Poppins"/>
                <a:sym typeface="Poppins"/>
              </a:rPr>
              <a:t>High-</a:t>
            </a:r>
            <a:r>
              <a:rPr lang="en-US" sz="3400" spc="-221" strike="noStrike" u="none">
                <a:solidFill>
                  <a:srgbClr val="333333"/>
                </a:solidFill>
                <a:latin typeface="Poppins"/>
                <a:ea typeface="Poppins"/>
                <a:cs typeface="Poppins"/>
                <a:sym typeface="Poppins"/>
              </a:rPr>
              <a:t>r</a:t>
            </a:r>
            <a:r>
              <a:rPr lang="en-US" sz="3400" spc="-221" strike="noStrike" u="none">
                <a:solidFill>
                  <a:srgbClr val="333333"/>
                </a:solidFill>
                <a:latin typeface="Poppins"/>
                <a:ea typeface="Poppins"/>
                <a:cs typeface="Poppins"/>
                <a:sym typeface="Poppins"/>
              </a:rPr>
              <a:t>es</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lu</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tr</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inin</a:t>
            </a:r>
            <a:r>
              <a:rPr lang="en-US" sz="3400" spc="-221" strike="noStrike" u="none">
                <a:solidFill>
                  <a:srgbClr val="333333"/>
                </a:solidFill>
                <a:latin typeface="Poppins"/>
                <a:ea typeface="Poppins"/>
                <a:cs typeface="Poppins"/>
                <a:sym typeface="Poppins"/>
              </a:rPr>
              <a:t>g </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 1024×1024</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im</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g</a:t>
            </a:r>
            <a:r>
              <a:rPr lang="en-US" sz="3400" spc="-221" strike="noStrike" u="none">
                <a:solidFill>
                  <a:srgbClr val="333333"/>
                </a:solidFill>
                <a:latin typeface="Poppins"/>
                <a:ea typeface="Poppins"/>
                <a:cs typeface="Poppins"/>
                <a:sym typeface="Poppins"/>
              </a:rPr>
              <a:t>e</a:t>
            </a:r>
            <a:r>
              <a:rPr lang="en-US" sz="3400" spc="-221" strike="noStrike" u="none">
                <a:solidFill>
                  <a:srgbClr val="333333"/>
                </a:solidFill>
                <a:latin typeface="Poppins"/>
                <a:ea typeface="Poppins"/>
                <a:cs typeface="Poppins"/>
                <a:sym typeface="Poppins"/>
              </a:rPr>
              <a:t> t</a:t>
            </a:r>
            <a:r>
              <a:rPr lang="en-US" sz="3400" spc="-221" strike="noStrike" u="none">
                <a:solidFill>
                  <a:srgbClr val="333333"/>
                </a:solidFill>
                <a:latin typeface="Poppins"/>
                <a:ea typeface="Poppins"/>
                <a:cs typeface="Poppins"/>
                <a:sym typeface="Poppins"/>
              </a:rPr>
              <a:t>iles</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D</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a a</a:t>
            </a:r>
            <a:r>
              <a:rPr lang="en-US" sz="3400" spc="-221" strike="noStrike" u="none">
                <a:solidFill>
                  <a:srgbClr val="333333"/>
                </a:solidFill>
                <a:latin typeface="Poppins"/>
                <a:ea typeface="Poppins"/>
                <a:cs typeface="Poppins"/>
                <a:sym typeface="Poppins"/>
              </a:rPr>
              <a:t>u</a:t>
            </a:r>
            <a:r>
              <a:rPr lang="en-US" sz="3400" spc="-221" strike="noStrike" u="none">
                <a:solidFill>
                  <a:srgbClr val="333333"/>
                </a:solidFill>
                <a:latin typeface="Poppins"/>
                <a:ea typeface="Poppins"/>
                <a:cs typeface="Poppins"/>
                <a:sym typeface="Poppins"/>
              </a:rPr>
              <a:t>g</a:t>
            </a:r>
            <a:r>
              <a:rPr lang="en-US" sz="3400" spc="-221" strike="noStrike" u="none">
                <a:solidFill>
                  <a:srgbClr val="333333"/>
                </a:solidFill>
                <a:latin typeface="Poppins"/>
                <a:ea typeface="Poppins"/>
                <a:cs typeface="Poppins"/>
                <a:sym typeface="Poppins"/>
              </a:rPr>
              <a:t>me</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at</a:t>
            </a:r>
            <a:r>
              <a:rPr lang="en-US" sz="3400" spc="-221" strike="noStrike" u="none">
                <a:solidFill>
                  <a:srgbClr val="333333"/>
                </a:solidFill>
                <a:latin typeface="Poppins"/>
                <a:ea typeface="Poppins"/>
                <a:cs typeface="Poppins"/>
                <a:sym typeface="Poppins"/>
              </a:rPr>
              <a:t>ion:</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fl</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p</a:t>
            </a:r>
            <a:r>
              <a:rPr lang="en-US" sz="3400" spc="-221" strike="noStrike" u="none">
                <a:solidFill>
                  <a:srgbClr val="333333"/>
                </a:solidFill>
                <a:latin typeface="Poppins"/>
                <a:ea typeface="Poppins"/>
                <a:cs typeface="Poppins"/>
                <a:sym typeface="Poppins"/>
              </a:rPr>
              <a:t>s</a:t>
            </a:r>
            <a:r>
              <a:rPr lang="en-US" sz="3400" spc="-221" strike="noStrike" u="none">
                <a:solidFill>
                  <a:srgbClr val="333333"/>
                </a:solidFill>
                <a:latin typeface="Poppins"/>
                <a:ea typeface="Poppins"/>
                <a:cs typeface="Poppins"/>
                <a:sym typeface="Poppins"/>
              </a:rPr>
              <a:t>,</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r</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ta</a:t>
            </a:r>
            <a:r>
              <a:rPr lang="en-US" sz="3400" spc="-221" strike="noStrike" u="none">
                <a:solidFill>
                  <a:srgbClr val="333333"/>
                </a:solidFill>
                <a:latin typeface="Poppins"/>
                <a:ea typeface="Poppins"/>
                <a:cs typeface="Poppins"/>
                <a:sym typeface="Poppins"/>
              </a:rPr>
              <a:t>tio</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aff</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e t</a:t>
            </a:r>
            <a:r>
              <a:rPr lang="en-US" sz="3400" spc="-221" strike="noStrike" u="none">
                <a:solidFill>
                  <a:srgbClr val="333333"/>
                </a:solidFill>
                <a:latin typeface="Poppins"/>
                <a:ea typeface="Poppins"/>
                <a:cs typeface="Poppins"/>
                <a:sym typeface="Poppins"/>
              </a:rPr>
              <a:t>ran</a:t>
            </a:r>
            <a:r>
              <a:rPr lang="en-US" sz="3400" spc="-221" strike="noStrike" u="none">
                <a:solidFill>
                  <a:srgbClr val="333333"/>
                </a:solidFill>
                <a:latin typeface="Poppins"/>
                <a:ea typeface="Poppins"/>
                <a:cs typeface="Poppins"/>
                <a:sym typeface="Poppins"/>
              </a:rPr>
              <a:t>sform</a:t>
            </a:r>
            <a:r>
              <a:rPr lang="en-US" sz="3400" spc="-221" strike="noStrike" u="none">
                <a:solidFill>
                  <a:srgbClr val="333333"/>
                </a:solidFill>
                <a:latin typeface="Poppins"/>
                <a:ea typeface="Poppins"/>
                <a:cs typeface="Poppins"/>
                <a:sym typeface="Poppins"/>
              </a:rPr>
              <a:t>ati</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ns</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Hybri</a:t>
            </a:r>
            <a:r>
              <a:rPr lang="en-US" sz="3400" spc="-221" strike="noStrike" u="none">
                <a:solidFill>
                  <a:srgbClr val="333333"/>
                </a:solidFill>
                <a:latin typeface="Poppins"/>
                <a:ea typeface="Poppins"/>
                <a:cs typeface="Poppins"/>
                <a:sym typeface="Poppins"/>
              </a:rPr>
              <a:t>d</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l</a:t>
            </a:r>
            <a:r>
              <a:rPr lang="en-US" sz="3400" spc="-221" strike="noStrike" u="none">
                <a:solidFill>
                  <a:srgbClr val="333333"/>
                </a:solidFill>
                <a:latin typeface="Poppins"/>
                <a:ea typeface="Poppins"/>
                <a:cs typeface="Poppins"/>
                <a:sym typeface="Poppins"/>
              </a:rPr>
              <a:t>oss:</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D</a:t>
            </a:r>
            <a:r>
              <a:rPr lang="en-US" sz="3400" spc="-221" strike="noStrike" u="none">
                <a:solidFill>
                  <a:srgbClr val="333333"/>
                </a:solidFill>
                <a:latin typeface="Poppins"/>
                <a:ea typeface="Poppins"/>
                <a:cs typeface="Poppins"/>
                <a:sym typeface="Poppins"/>
              </a:rPr>
              <a:t>ice </a:t>
            </a:r>
            <a:r>
              <a:rPr lang="en-US" sz="3400" spc="-221" strike="noStrike" u="none">
                <a:solidFill>
                  <a:srgbClr val="333333"/>
                </a:solidFill>
                <a:latin typeface="Poppins"/>
                <a:ea typeface="Poppins"/>
                <a:cs typeface="Poppins"/>
                <a:sym typeface="Poppins"/>
              </a:rPr>
              <a:t>+ F</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ca</a:t>
            </a:r>
            <a:r>
              <a:rPr lang="en-US" sz="3400" spc="-221" strike="noStrike" u="none">
                <a:solidFill>
                  <a:srgbClr val="333333"/>
                </a:solidFill>
                <a:latin typeface="Poppins"/>
                <a:ea typeface="Poppins"/>
                <a:cs typeface="Poppins"/>
                <a:sym typeface="Poppins"/>
              </a:rPr>
              <a:t>l </a:t>
            </a:r>
            <a:r>
              <a:rPr lang="en-US" sz="3400" spc="-221" strike="noStrike" u="none">
                <a:solidFill>
                  <a:srgbClr val="333333"/>
                </a:solidFill>
                <a:latin typeface="Poppins"/>
                <a:ea typeface="Poppins"/>
                <a:cs typeface="Poppins"/>
                <a:sym typeface="Poppins"/>
              </a:rPr>
              <a:t>fo</a:t>
            </a:r>
            <a:r>
              <a:rPr lang="en-US" sz="3400" spc="-221" strike="noStrike" u="none">
                <a:solidFill>
                  <a:srgbClr val="333333"/>
                </a:solidFill>
                <a:latin typeface="Poppins"/>
                <a:ea typeface="Poppins"/>
                <a:cs typeface="Poppins"/>
                <a:sym typeface="Poppins"/>
              </a:rPr>
              <a:t>r</a:t>
            </a:r>
            <a:r>
              <a:rPr lang="en-US" sz="3400" spc="-221" strike="noStrike" u="none">
                <a:solidFill>
                  <a:srgbClr val="333333"/>
                </a:solidFill>
                <a:latin typeface="Poppins"/>
                <a:ea typeface="Poppins"/>
                <a:cs typeface="Poppins"/>
                <a:sym typeface="Poppins"/>
              </a:rPr>
              <a:t> cl</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s</a:t>
            </a:r>
            <a:r>
              <a:rPr lang="en-US" sz="3400" spc="-221" strike="noStrike" u="none">
                <a:solidFill>
                  <a:srgbClr val="333333"/>
                </a:solidFill>
                <a:latin typeface="Poppins"/>
                <a:ea typeface="Poppins"/>
                <a:cs typeface="Poppins"/>
                <a:sym typeface="Poppins"/>
              </a:rPr>
              <a:t>s i</a:t>
            </a:r>
            <a:r>
              <a:rPr lang="en-US" sz="3400" spc="-221" strike="noStrike" u="none">
                <a:solidFill>
                  <a:srgbClr val="333333"/>
                </a:solidFill>
                <a:latin typeface="Poppins"/>
                <a:ea typeface="Poppins"/>
                <a:cs typeface="Poppins"/>
                <a:sym typeface="Poppins"/>
              </a:rPr>
              <a:t>mb</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lan</a:t>
            </a:r>
            <a:r>
              <a:rPr lang="en-US" sz="3400" spc="-221" strike="noStrike" u="none">
                <a:solidFill>
                  <a:srgbClr val="333333"/>
                </a:solidFill>
                <a:latin typeface="Poppins"/>
                <a:ea typeface="Poppins"/>
                <a:cs typeface="Poppins"/>
                <a:sym typeface="Poppins"/>
              </a:rPr>
              <a:t>c</a:t>
            </a:r>
            <a:r>
              <a:rPr lang="en-US" sz="3400" spc="-221" strike="noStrike" u="none">
                <a:solidFill>
                  <a:srgbClr val="333333"/>
                </a:solidFill>
                <a:latin typeface="Poppins"/>
                <a:ea typeface="Poppins"/>
                <a:cs typeface="Poppins"/>
                <a:sym typeface="Poppins"/>
              </a:rPr>
              <a:t>e </a:t>
            </a:r>
            <a:r>
              <a:rPr lang="en-US" sz="3400" spc="-221" strike="noStrike" u="none">
                <a:solidFill>
                  <a:srgbClr val="333333"/>
                </a:solidFill>
                <a:latin typeface="Poppins"/>
                <a:ea typeface="Poppins"/>
                <a:cs typeface="Poppins"/>
                <a:sym typeface="Poppins"/>
              </a:rPr>
              <a:t>ha</a:t>
            </a:r>
            <a:r>
              <a:rPr lang="en-US" sz="3400" spc="-221" strike="noStrike" u="none">
                <a:solidFill>
                  <a:srgbClr val="333333"/>
                </a:solidFill>
                <a:latin typeface="Poppins"/>
                <a:ea typeface="Poppins"/>
                <a:cs typeface="Poppins"/>
                <a:sym typeface="Poppins"/>
              </a:rPr>
              <a:t>nd</a:t>
            </a:r>
            <a:r>
              <a:rPr lang="en-US" sz="3400" spc="-221" strike="noStrike" u="none">
                <a:solidFill>
                  <a:srgbClr val="333333"/>
                </a:solidFill>
                <a:latin typeface="Poppins"/>
                <a:ea typeface="Poppins"/>
                <a:cs typeface="Poppins"/>
                <a:sym typeface="Poppins"/>
              </a:rPr>
              <a:t>l</a:t>
            </a:r>
            <a:r>
              <a:rPr lang="en-US" sz="3400" spc="-221" strike="noStrike" u="none">
                <a:solidFill>
                  <a:srgbClr val="333333"/>
                </a:solidFill>
                <a:latin typeface="Poppins"/>
                <a:ea typeface="Poppins"/>
                <a:cs typeface="Poppins"/>
                <a:sym typeface="Poppins"/>
              </a:rPr>
              <a:t>ing</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pti</a:t>
            </a:r>
            <a:r>
              <a:rPr lang="en-US" sz="3400" spc="-221" strike="noStrike" u="none">
                <a:solidFill>
                  <a:srgbClr val="333333"/>
                </a:solidFill>
                <a:latin typeface="Poppins"/>
                <a:ea typeface="Poppins"/>
                <a:cs typeface="Poppins"/>
                <a:sym typeface="Poppins"/>
              </a:rPr>
              <a:t>mizer: Ad</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mW</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with l</a:t>
            </a:r>
            <a:r>
              <a:rPr lang="en-US" sz="3400" spc="-221" strike="noStrike" u="none">
                <a:solidFill>
                  <a:srgbClr val="333333"/>
                </a:solidFill>
                <a:latin typeface="Poppins"/>
                <a:ea typeface="Poppins"/>
                <a:cs typeface="Poppins"/>
                <a:sym typeface="Poppins"/>
              </a:rPr>
              <a:t>ear</a:t>
            </a:r>
            <a:r>
              <a:rPr lang="en-US" sz="3400" spc="-221" strike="noStrike" u="none">
                <a:solidFill>
                  <a:srgbClr val="333333"/>
                </a:solidFill>
                <a:latin typeface="Poppins"/>
                <a:ea typeface="Poppins"/>
                <a:cs typeface="Poppins"/>
                <a:sym typeface="Poppins"/>
              </a:rPr>
              <a:t>ning rat</a:t>
            </a:r>
            <a:r>
              <a:rPr lang="en-US" sz="3400" spc="-221" strike="noStrike" u="none">
                <a:solidFill>
                  <a:srgbClr val="333333"/>
                </a:solidFill>
                <a:latin typeface="Poppins"/>
                <a:ea typeface="Poppins"/>
                <a:cs typeface="Poppins"/>
                <a:sym typeface="Poppins"/>
              </a:rPr>
              <a:t>e</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s</a:t>
            </a:r>
            <a:r>
              <a:rPr lang="en-US" sz="3400" spc="-221" strike="noStrike" u="none">
                <a:solidFill>
                  <a:srgbClr val="333333"/>
                </a:solidFill>
                <a:latin typeface="Poppins"/>
                <a:ea typeface="Poppins"/>
                <a:cs typeface="Poppins"/>
                <a:sym typeface="Poppins"/>
              </a:rPr>
              <a:t>che</a:t>
            </a:r>
            <a:r>
              <a:rPr lang="en-US" sz="3400" spc="-221" strike="noStrike" u="none">
                <a:solidFill>
                  <a:srgbClr val="333333"/>
                </a:solidFill>
                <a:latin typeface="Poppins"/>
                <a:ea typeface="Poppins"/>
                <a:cs typeface="Poppins"/>
                <a:sym typeface="Poppins"/>
              </a:rPr>
              <a:t>dul</a:t>
            </a:r>
            <a:r>
              <a:rPr lang="en-US" sz="3400" spc="-221" strike="noStrike" u="none">
                <a:solidFill>
                  <a:srgbClr val="333333"/>
                </a:solidFill>
                <a:latin typeface="Poppins"/>
                <a:ea typeface="Poppins"/>
                <a:cs typeface="Poppins"/>
                <a:sym typeface="Poppins"/>
              </a:rPr>
              <a:t>ing</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Mix</a:t>
            </a:r>
            <a:r>
              <a:rPr lang="en-US" sz="3400" spc="-221" strike="noStrike" u="none">
                <a:solidFill>
                  <a:srgbClr val="333333"/>
                </a:solidFill>
                <a:latin typeface="Poppins"/>
                <a:ea typeface="Poppins"/>
                <a:cs typeface="Poppins"/>
                <a:sym typeface="Poppins"/>
              </a:rPr>
              <a:t>e</a:t>
            </a:r>
            <a:r>
              <a:rPr lang="en-US" sz="3400" spc="-221" strike="noStrike" u="none">
                <a:solidFill>
                  <a:srgbClr val="333333"/>
                </a:solidFill>
                <a:latin typeface="Poppins"/>
                <a:ea typeface="Poppins"/>
                <a:cs typeface="Poppins"/>
                <a:sym typeface="Poppins"/>
              </a:rPr>
              <a:t>d</a:t>
            </a:r>
            <a:r>
              <a:rPr lang="en-US" sz="3400" spc="-221" strike="noStrike" u="none">
                <a:solidFill>
                  <a:srgbClr val="333333"/>
                </a:solidFill>
                <a:latin typeface="Poppins"/>
                <a:ea typeface="Poppins"/>
                <a:cs typeface="Poppins"/>
                <a:sym typeface="Poppins"/>
              </a:rPr>
              <a:t> pre</a:t>
            </a:r>
            <a:r>
              <a:rPr lang="en-US" sz="3400" spc="-221" strike="noStrike" u="none">
                <a:solidFill>
                  <a:srgbClr val="333333"/>
                </a:solidFill>
                <a:latin typeface="Poppins"/>
                <a:ea typeface="Poppins"/>
                <a:cs typeface="Poppins"/>
                <a:sym typeface="Poppins"/>
              </a:rPr>
              <a:t>c</a:t>
            </a:r>
            <a:r>
              <a:rPr lang="en-US" sz="3400" spc="-221" strike="noStrike" u="none">
                <a:solidFill>
                  <a:srgbClr val="333333"/>
                </a:solidFill>
                <a:latin typeface="Poppins"/>
                <a:ea typeface="Poppins"/>
                <a:cs typeface="Poppins"/>
                <a:sym typeface="Poppins"/>
              </a:rPr>
              <a:t>is</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on </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rai</a:t>
            </a:r>
            <a:r>
              <a:rPr lang="en-US" sz="3400" spc="-221" strike="noStrike" u="none">
                <a:solidFill>
                  <a:srgbClr val="333333"/>
                </a:solidFill>
                <a:latin typeface="Poppins"/>
                <a:ea typeface="Poppins"/>
                <a:cs typeface="Poppins"/>
                <a:sym typeface="Poppins"/>
              </a:rPr>
              <a:t>ning</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(AMP)</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f</a:t>
            </a:r>
            <a:r>
              <a:rPr lang="en-US" sz="3400" spc="-221" strike="noStrike" u="none">
                <a:solidFill>
                  <a:srgbClr val="333333"/>
                </a:solidFill>
                <a:latin typeface="Poppins"/>
                <a:ea typeface="Poppins"/>
                <a:cs typeface="Poppins"/>
                <a:sym typeface="Poppins"/>
              </a:rPr>
              <a:t>or ef</a:t>
            </a:r>
            <a:r>
              <a:rPr lang="en-US" sz="3400" spc="-221" strike="noStrike" u="none">
                <a:solidFill>
                  <a:srgbClr val="333333"/>
                </a:solidFill>
                <a:latin typeface="Poppins"/>
                <a:ea typeface="Poppins"/>
                <a:cs typeface="Poppins"/>
                <a:sym typeface="Poppins"/>
              </a:rPr>
              <a:t>f</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ci</a:t>
            </a:r>
            <a:r>
              <a:rPr lang="en-US" sz="3400" spc="-221" strike="noStrike" u="none">
                <a:solidFill>
                  <a:srgbClr val="333333"/>
                </a:solidFill>
                <a:latin typeface="Poppins"/>
                <a:ea typeface="Poppins"/>
                <a:cs typeface="Poppins"/>
                <a:sym typeface="Poppins"/>
              </a:rPr>
              <a:t>e</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t </a:t>
            </a:r>
            <a:r>
              <a:rPr lang="en-US" sz="3400" spc="-221" strike="noStrike" u="none">
                <a:solidFill>
                  <a:srgbClr val="333333"/>
                </a:solidFill>
                <a:latin typeface="Poppins"/>
                <a:ea typeface="Poppins"/>
                <a:cs typeface="Poppins"/>
                <a:sym typeface="Poppins"/>
              </a:rPr>
              <a:t>GPU</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u</a:t>
            </a:r>
            <a:r>
              <a:rPr lang="en-US" sz="3400" spc="-221" strike="noStrike" u="none">
                <a:solidFill>
                  <a:srgbClr val="333333"/>
                </a:solidFill>
                <a:latin typeface="Poppins"/>
                <a:ea typeface="Poppins"/>
                <a:cs typeface="Poppins"/>
                <a:sym typeface="Poppins"/>
              </a:rPr>
              <a:t>tili</a:t>
            </a:r>
            <a:r>
              <a:rPr lang="en-US" sz="3400" spc="-221" strike="noStrike" u="none">
                <a:solidFill>
                  <a:srgbClr val="333333"/>
                </a:solidFill>
                <a:latin typeface="Poppins"/>
                <a:ea typeface="Poppins"/>
                <a:cs typeface="Poppins"/>
                <a:sym typeface="Poppins"/>
              </a:rPr>
              <a:t>zat</a:t>
            </a:r>
            <a:r>
              <a:rPr lang="en-US" sz="3400" spc="-221" strike="noStrike" u="none">
                <a:solidFill>
                  <a:srgbClr val="333333"/>
                </a:solidFill>
                <a:latin typeface="Poppins"/>
                <a:ea typeface="Poppins"/>
                <a:cs typeface="Poppins"/>
                <a:sym typeface="Poppins"/>
              </a:rPr>
              <a:t>ion</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Gr</a:t>
            </a:r>
            <a:r>
              <a:rPr lang="en-US" sz="3400" spc="-221" strike="noStrike" u="none">
                <a:solidFill>
                  <a:srgbClr val="333333"/>
                </a:solidFill>
                <a:latin typeface="Poppins"/>
                <a:ea typeface="Poppins"/>
                <a:cs typeface="Poppins"/>
                <a:sym typeface="Poppins"/>
              </a:rPr>
              <a:t>ad</a:t>
            </a:r>
            <a:r>
              <a:rPr lang="en-US" sz="3400" spc="-221" strike="noStrike" u="none">
                <a:solidFill>
                  <a:srgbClr val="333333"/>
                </a:solidFill>
                <a:latin typeface="Poppins"/>
                <a:ea typeface="Poppins"/>
                <a:cs typeface="Poppins"/>
                <a:sym typeface="Poppins"/>
              </a:rPr>
              <a:t>ient</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acc</a:t>
            </a:r>
            <a:r>
              <a:rPr lang="en-US" sz="3400" spc="-221" strike="noStrike" u="none">
                <a:solidFill>
                  <a:srgbClr val="333333"/>
                </a:solidFill>
                <a:latin typeface="Poppins"/>
                <a:ea typeface="Poppins"/>
                <a:cs typeface="Poppins"/>
                <a:sym typeface="Poppins"/>
              </a:rPr>
              <a:t>u</a:t>
            </a:r>
            <a:r>
              <a:rPr lang="en-US" sz="3400" spc="-221" strike="noStrike" u="none">
                <a:solidFill>
                  <a:srgbClr val="333333"/>
                </a:solidFill>
                <a:latin typeface="Poppins"/>
                <a:ea typeface="Poppins"/>
                <a:cs typeface="Poppins"/>
                <a:sym typeface="Poppins"/>
              </a:rPr>
              <a:t>mul</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io</a:t>
            </a:r>
            <a:r>
              <a:rPr lang="en-US" sz="3400" spc="-221" strike="noStrike" u="none">
                <a:solidFill>
                  <a:srgbClr val="333333"/>
                </a:solidFill>
                <a:latin typeface="Poppins"/>
                <a:ea typeface="Poppins"/>
                <a:cs typeface="Poppins"/>
                <a:sym typeface="Poppins"/>
              </a:rPr>
              <a:t>n</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simul</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e </a:t>
            </a:r>
            <a:r>
              <a:rPr lang="en-US" sz="3400" spc="-221" strike="noStrike" u="none">
                <a:solidFill>
                  <a:srgbClr val="333333"/>
                </a:solidFill>
                <a:latin typeface="Poppins"/>
                <a:ea typeface="Poppins"/>
                <a:cs typeface="Poppins"/>
                <a:sym typeface="Poppins"/>
              </a:rPr>
              <a:t>la</a:t>
            </a:r>
            <a:r>
              <a:rPr lang="en-US" sz="3400" spc="-221" strike="noStrike" u="none">
                <a:solidFill>
                  <a:srgbClr val="333333"/>
                </a:solidFill>
                <a:latin typeface="Poppins"/>
                <a:ea typeface="Poppins"/>
                <a:cs typeface="Poppins"/>
                <a:sym typeface="Poppins"/>
              </a:rPr>
              <a:t>r</a:t>
            </a:r>
            <a:r>
              <a:rPr lang="en-US" sz="3400" spc="-221" strike="noStrike" u="none">
                <a:solidFill>
                  <a:srgbClr val="333333"/>
                </a:solidFill>
                <a:latin typeface="Poppins"/>
                <a:ea typeface="Poppins"/>
                <a:cs typeface="Poppins"/>
                <a:sym typeface="Poppins"/>
              </a:rPr>
              <a:t>ge</a:t>
            </a:r>
            <a:r>
              <a:rPr lang="en-US" sz="3400" spc="-221" strike="noStrike" u="none">
                <a:solidFill>
                  <a:srgbClr val="333333"/>
                </a:solidFill>
                <a:latin typeface="Poppins"/>
                <a:ea typeface="Poppins"/>
                <a:cs typeface="Poppins"/>
                <a:sym typeface="Poppins"/>
              </a:rPr>
              <a:t>r b</a:t>
            </a:r>
            <a:r>
              <a:rPr lang="en-US" sz="3400" spc="-221" strike="noStrike" u="none">
                <a:solidFill>
                  <a:srgbClr val="333333"/>
                </a:solidFill>
                <a:latin typeface="Poppins"/>
                <a:ea typeface="Poppins"/>
                <a:cs typeface="Poppins"/>
                <a:sym typeface="Poppins"/>
              </a:rPr>
              <a:t>at</a:t>
            </a:r>
            <a:r>
              <a:rPr lang="en-US" sz="3400" spc="-221" strike="noStrike" u="none">
                <a:solidFill>
                  <a:srgbClr val="333333"/>
                </a:solidFill>
                <a:latin typeface="Poppins"/>
                <a:ea typeface="Poppins"/>
                <a:cs typeface="Poppins"/>
                <a:sym typeface="Poppins"/>
              </a:rPr>
              <a:t>ch</a:t>
            </a:r>
            <a:r>
              <a:rPr lang="en-US" sz="3400" spc="-221" strike="noStrike" u="none">
                <a:solidFill>
                  <a:srgbClr val="333333"/>
                </a:solidFill>
                <a:latin typeface="Poppins"/>
                <a:ea typeface="Poppins"/>
                <a:cs typeface="Poppins"/>
                <a:sym typeface="Poppins"/>
              </a:rPr>
              <a:t> s</a:t>
            </a:r>
            <a:r>
              <a:rPr lang="en-US" sz="3400" spc="-221" strike="noStrike" u="none">
                <a:solidFill>
                  <a:srgbClr val="333333"/>
                </a:solidFill>
                <a:latin typeface="Poppins"/>
                <a:ea typeface="Poppins"/>
                <a:cs typeface="Poppins"/>
                <a:sym typeface="Poppins"/>
              </a:rPr>
              <a:t>ize</a:t>
            </a:r>
            <a:r>
              <a:rPr lang="en-US" sz="3400" spc="-221" strike="noStrike" u="none">
                <a:solidFill>
                  <a:srgbClr val="333333"/>
                </a:solidFill>
                <a:latin typeface="Poppins"/>
                <a:ea typeface="Poppins"/>
                <a:cs typeface="Poppins"/>
                <a:sym typeface="Poppins"/>
              </a:rPr>
              <a:t>s</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Con</a:t>
            </a:r>
            <a:r>
              <a:rPr lang="en-US" sz="3400" spc="-221" strike="noStrike" u="none">
                <a:solidFill>
                  <a:srgbClr val="333333"/>
                </a:solidFill>
                <a:latin typeface="Poppins"/>
                <a:ea typeface="Poppins"/>
                <a:cs typeface="Poppins"/>
                <a:sym typeface="Poppins"/>
              </a:rPr>
              <a:t>tin</a:t>
            </a:r>
            <a:r>
              <a:rPr lang="en-US" sz="3400" spc="-221" strike="noStrike" u="none">
                <a:solidFill>
                  <a:srgbClr val="333333"/>
                </a:solidFill>
                <a:latin typeface="Poppins"/>
                <a:ea typeface="Poppins"/>
                <a:cs typeface="Poppins"/>
                <a:sym typeface="Poppins"/>
              </a:rPr>
              <a:t>uou</a:t>
            </a:r>
            <a:r>
              <a:rPr lang="en-US" sz="3400" spc="-221" strike="noStrike" u="none">
                <a:solidFill>
                  <a:srgbClr val="333333"/>
                </a:solidFill>
                <a:latin typeface="Poppins"/>
                <a:ea typeface="Poppins"/>
                <a:cs typeface="Poppins"/>
                <a:sym typeface="Poppins"/>
              </a:rPr>
              <a:t>s </a:t>
            </a:r>
            <a:r>
              <a:rPr lang="en-US" sz="3400" spc="-221" strike="noStrike" u="none">
                <a:solidFill>
                  <a:srgbClr val="333333"/>
                </a:solidFill>
                <a:latin typeface="Poppins"/>
                <a:ea typeface="Poppins"/>
                <a:cs typeface="Poppins"/>
                <a:sym typeface="Poppins"/>
              </a:rPr>
              <a:t>v</a:t>
            </a:r>
            <a:r>
              <a:rPr lang="en-US" sz="3400" spc="-221" strike="noStrike" u="none">
                <a:solidFill>
                  <a:srgbClr val="333333"/>
                </a:solidFill>
                <a:latin typeface="Poppins"/>
                <a:ea typeface="Poppins"/>
                <a:cs typeface="Poppins"/>
                <a:sym typeface="Poppins"/>
              </a:rPr>
              <a:t>a</a:t>
            </a:r>
            <a:r>
              <a:rPr lang="en-US" sz="3400" spc="-221" strike="noStrike" u="none">
                <a:solidFill>
                  <a:srgbClr val="333333"/>
                </a:solidFill>
                <a:latin typeface="Poppins"/>
                <a:ea typeface="Poppins"/>
                <a:cs typeface="Poppins"/>
                <a:sym typeface="Poppins"/>
              </a:rPr>
              <a:t>l</a:t>
            </a:r>
            <a:r>
              <a:rPr lang="en-US" sz="3400" spc="-221" strike="noStrike" u="none">
                <a:solidFill>
                  <a:srgbClr val="333333"/>
                </a:solidFill>
                <a:latin typeface="Poppins"/>
                <a:ea typeface="Poppins"/>
                <a:cs typeface="Poppins"/>
                <a:sym typeface="Poppins"/>
              </a:rPr>
              <a:t>ida</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n using </a:t>
            </a:r>
            <a:r>
              <a:rPr lang="en-US" sz="3400" spc="-221" strike="noStrike" u="none">
                <a:solidFill>
                  <a:srgbClr val="333333"/>
                </a:solidFill>
                <a:latin typeface="Poppins"/>
                <a:ea typeface="Poppins"/>
                <a:cs typeface="Poppins"/>
                <a:sym typeface="Poppins"/>
              </a:rPr>
              <a:t>mI</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U fo</a:t>
            </a:r>
            <a:r>
              <a:rPr lang="en-US" sz="3400" spc="-221" strike="noStrike" u="none">
                <a:solidFill>
                  <a:srgbClr val="333333"/>
                </a:solidFill>
                <a:latin typeface="Poppins"/>
                <a:ea typeface="Poppins"/>
                <a:cs typeface="Poppins"/>
                <a:sym typeface="Poppins"/>
              </a:rPr>
              <a:t>r</a:t>
            </a:r>
            <a:r>
              <a:rPr lang="en-US" sz="3400" spc="-221" strike="noStrike" u="none">
                <a:solidFill>
                  <a:srgbClr val="333333"/>
                </a:solidFill>
                <a:latin typeface="Poppins"/>
                <a:ea typeface="Poppins"/>
                <a:cs typeface="Poppins"/>
                <a:sym typeface="Poppins"/>
              </a:rPr>
              <a:t> m</a:t>
            </a:r>
            <a:r>
              <a:rPr lang="en-US" sz="3400" spc="-221" strike="noStrike" u="none">
                <a:solidFill>
                  <a:srgbClr val="333333"/>
                </a:solidFill>
                <a:latin typeface="Poppins"/>
                <a:ea typeface="Poppins"/>
                <a:cs typeface="Poppins"/>
                <a:sym typeface="Poppins"/>
              </a:rPr>
              <a:t>o</a:t>
            </a:r>
            <a:r>
              <a:rPr lang="en-US" sz="3400" spc="-221" strike="noStrike" u="none">
                <a:solidFill>
                  <a:srgbClr val="333333"/>
                </a:solidFill>
                <a:latin typeface="Poppins"/>
                <a:ea typeface="Poppins"/>
                <a:cs typeface="Poppins"/>
                <a:sym typeface="Poppins"/>
              </a:rPr>
              <a:t>d</a:t>
            </a:r>
            <a:r>
              <a:rPr lang="en-US" sz="3400" spc="-221" strike="noStrike" u="none">
                <a:solidFill>
                  <a:srgbClr val="333333"/>
                </a:solidFill>
                <a:latin typeface="Poppins"/>
                <a:ea typeface="Poppins"/>
                <a:cs typeface="Poppins"/>
                <a:sym typeface="Poppins"/>
              </a:rPr>
              <a:t>e</a:t>
            </a:r>
            <a:r>
              <a:rPr lang="en-US" sz="3400" spc="-221" strike="noStrike" u="none">
                <a:solidFill>
                  <a:srgbClr val="333333"/>
                </a:solidFill>
                <a:latin typeface="Poppins"/>
                <a:ea typeface="Poppins"/>
                <a:cs typeface="Poppins"/>
                <a:sym typeface="Poppins"/>
              </a:rPr>
              <a:t>l</a:t>
            </a:r>
            <a:r>
              <a:rPr lang="en-US" sz="3400" spc="-221" strike="noStrike" u="none">
                <a:solidFill>
                  <a:srgbClr val="333333"/>
                </a:solidFill>
                <a:latin typeface="Poppins"/>
                <a:ea typeface="Poppins"/>
                <a:cs typeface="Poppins"/>
                <a:sym typeface="Poppins"/>
              </a:rPr>
              <a:t> </a:t>
            </a:r>
            <a:r>
              <a:rPr lang="en-US" sz="3400" spc="-221" strike="noStrike" u="none">
                <a:solidFill>
                  <a:srgbClr val="333333"/>
                </a:solidFill>
                <a:latin typeface="Poppins"/>
                <a:ea typeface="Poppins"/>
                <a:cs typeface="Poppins"/>
                <a:sym typeface="Poppins"/>
              </a:rPr>
              <a:t>sel</a:t>
            </a:r>
            <a:r>
              <a:rPr lang="en-US" sz="3400" spc="-221" strike="noStrike" u="none">
                <a:solidFill>
                  <a:srgbClr val="333333"/>
                </a:solidFill>
                <a:latin typeface="Poppins"/>
                <a:ea typeface="Poppins"/>
                <a:cs typeface="Poppins"/>
                <a:sym typeface="Poppins"/>
              </a:rPr>
              <a:t>ec</a:t>
            </a:r>
            <a:r>
              <a:rPr lang="en-US" sz="3400" spc="-221" strike="noStrike" u="none">
                <a:solidFill>
                  <a:srgbClr val="333333"/>
                </a:solidFill>
                <a:latin typeface="Poppins"/>
                <a:ea typeface="Poppins"/>
                <a:cs typeface="Poppins"/>
                <a:sym typeface="Poppins"/>
              </a:rPr>
              <a:t>t</a:t>
            </a:r>
            <a:r>
              <a:rPr lang="en-US" sz="3400" spc="-221" strike="noStrike" u="none">
                <a:solidFill>
                  <a:srgbClr val="333333"/>
                </a:solidFill>
                <a:latin typeface="Poppins"/>
                <a:ea typeface="Poppins"/>
                <a:cs typeface="Poppins"/>
                <a:sym typeface="Poppins"/>
              </a:rPr>
              <a:t>i</a:t>
            </a:r>
            <a:r>
              <a:rPr lang="en-US" sz="3400" spc="-221" strike="noStrike" u="none">
                <a:solidFill>
                  <a:srgbClr val="333333"/>
                </a:solidFill>
                <a:latin typeface="Poppins"/>
                <a:ea typeface="Poppins"/>
                <a:cs typeface="Poppins"/>
                <a:sym typeface="Poppins"/>
              </a:rPr>
              <a:t>on</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sp>
        <p:nvSpPr>
          <p:cNvPr name="TextBox 2" id="2"/>
          <p:cNvSpPr txBox="true"/>
          <p:nvPr/>
        </p:nvSpPr>
        <p:spPr>
          <a:xfrm rot="0">
            <a:off x="845329" y="1321873"/>
            <a:ext cx="14262457" cy="982855"/>
          </a:xfrm>
          <a:prstGeom prst="rect">
            <a:avLst/>
          </a:prstGeom>
        </p:spPr>
        <p:txBody>
          <a:bodyPr anchor="t" rtlCol="false" tIns="0" lIns="0" bIns="0" rIns="0">
            <a:spAutoFit/>
          </a:bodyPr>
          <a:lstStyle/>
          <a:p>
            <a:pPr algn="l" marL="0" indent="0" lvl="0">
              <a:lnSpc>
                <a:spcPts val="6936"/>
              </a:lnSpc>
              <a:spcBef>
                <a:spcPct val="0"/>
              </a:spcBef>
            </a:pPr>
            <a:r>
              <a:rPr lang="en-US" b="true" sz="6800" strike="noStrike" u="none">
                <a:solidFill>
                  <a:srgbClr val="333333"/>
                </a:solidFill>
                <a:latin typeface="Poppins Bold"/>
                <a:ea typeface="Poppins Bold"/>
                <a:cs typeface="Poppins Bold"/>
                <a:sym typeface="Poppins Bold"/>
              </a:rPr>
              <a:t>Technical Innovation</a:t>
            </a:r>
          </a:p>
        </p:txBody>
      </p:sp>
      <p:sp>
        <p:nvSpPr>
          <p:cNvPr name="TextBox 3" id="3"/>
          <p:cNvSpPr txBox="true"/>
          <p:nvPr/>
        </p:nvSpPr>
        <p:spPr>
          <a:xfrm rot="0">
            <a:off x="514350" y="2607331"/>
            <a:ext cx="17259300" cy="5997066"/>
          </a:xfrm>
          <a:prstGeom prst="rect">
            <a:avLst/>
          </a:prstGeom>
        </p:spPr>
        <p:txBody>
          <a:bodyPr anchor="t" rtlCol="false" tIns="0" lIns="0" bIns="0" rIns="0">
            <a:spAutoFit/>
          </a:bodyPr>
          <a:lstStyle/>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 High-Resolution Training (1024×1024):Preserves fine spatial details for roads and utilities </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Hybrid Loss (Dice + Focal): Handles class imbalance and improves segmentation quality </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Spatially Consistent Augmentation: Affine transforms and flips for real-world robustness  </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 Optimization for Small &amp; Thin Structures:  Improves detection of roads and utility features </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Optimized for thin and small structures (roads, utilities)</a:t>
            </a:r>
          </a:p>
          <a:p>
            <a:pPr algn="l" marL="734064" indent="-367032" lvl="1">
              <a:lnSpc>
                <a:spcPts val="5984"/>
              </a:lnSpc>
              <a:spcBef>
                <a:spcPct val="0"/>
              </a:spcBef>
              <a:buFont typeface="Arial"/>
              <a:buChar char="•"/>
            </a:pPr>
            <a:r>
              <a:rPr lang="en-US" sz="3400" spc="-221" strike="noStrike" u="none">
                <a:solidFill>
                  <a:srgbClr val="333333"/>
                </a:solidFill>
                <a:latin typeface="Poppins"/>
                <a:ea typeface="Poppins"/>
                <a:cs typeface="Poppins"/>
                <a:sym typeface="Poppins"/>
              </a:rPr>
              <a:t>Efficient Training Pipeline: Mixed Precision (AMP) + gradient accumulation</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2996843" y="802794"/>
            <a:ext cx="14262457" cy="982855"/>
          </a:xfrm>
          <a:prstGeom prst="rect">
            <a:avLst/>
          </a:prstGeom>
        </p:spPr>
        <p:txBody>
          <a:bodyPr anchor="t" rtlCol="false" tIns="0" lIns="0" bIns="0" rIns="0">
            <a:spAutoFit/>
          </a:bodyPr>
          <a:lstStyle/>
          <a:p>
            <a:pPr algn="l" marL="0" indent="0" lvl="0">
              <a:lnSpc>
                <a:spcPts val="6936"/>
              </a:lnSpc>
              <a:spcBef>
                <a:spcPct val="0"/>
              </a:spcBef>
            </a:pPr>
            <a:r>
              <a:rPr lang="en-US" b="true" sz="6800">
                <a:solidFill>
                  <a:srgbClr val="333333"/>
                </a:solidFill>
                <a:latin typeface="Poppins Bold"/>
                <a:ea typeface="Poppins Bold"/>
                <a:cs typeface="Poppins Bold"/>
                <a:sym typeface="Poppins Bold"/>
              </a:rPr>
              <a:t>Stitching &amp; Reconstruction</a:t>
            </a:r>
          </a:p>
        </p:txBody>
      </p:sp>
      <p:sp>
        <p:nvSpPr>
          <p:cNvPr name="Freeform 3" id="3"/>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grpSp>
        <p:nvGrpSpPr>
          <p:cNvPr name="Group 4" id="4"/>
          <p:cNvGrpSpPr/>
          <p:nvPr/>
        </p:nvGrpSpPr>
        <p:grpSpPr>
          <a:xfrm rot="0">
            <a:off x="692288" y="2338099"/>
            <a:ext cx="4430285" cy="3341253"/>
            <a:chOff x="0" y="0"/>
            <a:chExt cx="1392791" cy="1050422"/>
          </a:xfrm>
        </p:grpSpPr>
        <p:sp>
          <p:nvSpPr>
            <p:cNvPr name="Freeform 5" id="5"/>
            <p:cNvSpPr/>
            <p:nvPr/>
          </p:nvSpPr>
          <p:spPr>
            <a:xfrm flipH="false" flipV="false" rot="0">
              <a:off x="0" y="0"/>
              <a:ext cx="1392791" cy="1050422"/>
            </a:xfrm>
            <a:custGeom>
              <a:avLst/>
              <a:gdLst/>
              <a:ahLst/>
              <a:cxnLst/>
              <a:rect r="r" b="b" t="t" l="l"/>
              <a:pathLst>
                <a:path h="1050422" w="1392791">
                  <a:moveTo>
                    <a:pt x="0" y="0"/>
                  </a:moveTo>
                  <a:lnTo>
                    <a:pt x="1392791" y="0"/>
                  </a:lnTo>
                  <a:lnTo>
                    <a:pt x="1392791" y="1050422"/>
                  </a:lnTo>
                  <a:lnTo>
                    <a:pt x="0" y="1050422"/>
                  </a:lnTo>
                  <a:close/>
                </a:path>
              </a:pathLst>
            </a:custGeom>
            <a:solidFill>
              <a:srgbClr val="E0E8D1"/>
            </a:solidFill>
            <a:ln w="9525" cap="sq">
              <a:solidFill>
                <a:srgbClr val="333333"/>
              </a:solidFill>
              <a:prstDash val="solid"/>
              <a:miter/>
            </a:ln>
          </p:spPr>
        </p:sp>
        <p:sp>
          <p:nvSpPr>
            <p:cNvPr name="TextBox 6" id="6"/>
            <p:cNvSpPr txBox="true"/>
            <p:nvPr/>
          </p:nvSpPr>
          <p:spPr>
            <a:xfrm>
              <a:off x="0" y="-47625"/>
              <a:ext cx="1392791" cy="1098047"/>
            </a:xfrm>
            <a:prstGeom prst="rect">
              <a:avLst/>
            </a:prstGeom>
          </p:spPr>
          <p:txBody>
            <a:bodyPr anchor="ctr" rtlCol="false" tIns="50800" lIns="50800" bIns="50800" rIns="50800"/>
            <a:lstStyle/>
            <a:p>
              <a:pPr algn="ctr">
                <a:lnSpc>
                  <a:spcPts val="3220"/>
                </a:lnSpc>
              </a:pPr>
            </a:p>
          </p:txBody>
        </p:sp>
      </p:grpSp>
      <p:grpSp>
        <p:nvGrpSpPr>
          <p:cNvPr name="Group 7" id="7"/>
          <p:cNvGrpSpPr/>
          <p:nvPr/>
        </p:nvGrpSpPr>
        <p:grpSpPr>
          <a:xfrm rot="0">
            <a:off x="13026336" y="2338099"/>
            <a:ext cx="4467285" cy="3341253"/>
            <a:chOff x="0" y="0"/>
            <a:chExt cx="1404423" cy="1050422"/>
          </a:xfrm>
        </p:grpSpPr>
        <p:sp>
          <p:nvSpPr>
            <p:cNvPr name="Freeform 8" id="8"/>
            <p:cNvSpPr/>
            <p:nvPr/>
          </p:nvSpPr>
          <p:spPr>
            <a:xfrm flipH="false" flipV="false" rot="0">
              <a:off x="0" y="0"/>
              <a:ext cx="1404423" cy="1050422"/>
            </a:xfrm>
            <a:custGeom>
              <a:avLst/>
              <a:gdLst/>
              <a:ahLst/>
              <a:cxnLst/>
              <a:rect r="r" b="b" t="t" l="l"/>
              <a:pathLst>
                <a:path h="1050422" w="1404423">
                  <a:moveTo>
                    <a:pt x="0" y="0"/>
                  </a:moveTo>
                  <a:lnTo>
                    <a:pt x="1404423" y="0"/>
                  </a:lnTo>
                  <a:lnTo>
                    <a:pt x="1404423" y="1050422"/>
                  </a:lnTo>
                  <a:lnTo>
                    <a:pt x="0" y="1050422"/>
                  </a:lnTo>
                  <a:close/>
                </a:path>
              </a:pathLst>
            </a:custGeom>
            <a:solidFill>
              <a:srgbClr val="E0E8D1"/>
            </a:solidFill>
            <a:ln w="9525" cap="sq">
              <a:solidFill>
                <a:srgbClr val="333333"/>
              </a:solidFill>
              <a:prstDash val="solid"/>
              <a:miter/>
            </a:ln>
          </p:spPr>
        </p:sp>
        <p:sp>
          <p:nvSpPr>
            <p:cNvPr name="TextBox 9" id="9"/>
            <p:cNvSpPr txBox="true"/>
            <p:nvPr/>
          </p:nvSpPr>
          <p:spPr>
            <a:xfrm>
              <a:off x="0" y="-47625"/>
              <a:ext cx="1404423" cy="1098047"/>
            </a:xfrm>
            <a:prstGeom prst="rect">
              <a:avLst/>
            </a:prstGeom>
          </p:spPr>
          <p:txBody>
            <a:bodyPr anchor="ctr" rtlCol="false" tIns="50800" lIns="50800" bIns="50800" rIns="50800"/>
            <a:lstStyle/>
            <a:p>
              <a:pPr algn="ctr" marL="0" indent="0" lvl="0">
                <a:lnSpc>
                  <a:spcPts val="3220"/>
                </a:lnSpc>
                <a:spcBef>
                  <a:spcPct val="0"/>
                </a:spcBef>
              </a:pPr>
            </a:p>
          </p:txBody>
        </p:sp>
      </p:grpSp>
      <p:grpSp>
        <p:nvGrpSpPr>
          <p:cNvPr name="Group 10" id="10"/>
          <p:cNvGrpSpPr/>
          <p:nvPr/>
        </p:nvGrpSpPr>
        <p:grpSpPr>
          <a:xfrm rot="0">
            <a:off x="5345451" y="2338099"/>
            <a:ext cx="7331481" cy="3341253"/>
            <a:chOff x="0" y="0"/>
            <a:chExt cx="2304868" cy="1050422"/>
          </a:xfrm>
        </p:grpSpPr>
        <p:sp>
          <p:nvSpPr>
            <p:cNvPr name="Freeform 11" id="11"/>
            <p:cNvSpPr/>
            <p:nvPr/>
          </p:nvSpPr>
          <p:spPr>
            <a:xfrm flipH="false" flipV="false" rot="0">
              <a:off x="0" y="0"/>
              <a:ext cx="2304868" cy="1050422"/>
            </a:xfrm>
            <a:custGeom>
              <a:avLst/>
              <a:gdLst/>
              <a:ahLst/>
              <a:cxnLst/>
              <a:rect r="r" b="b" t="t" l="l"/>
              <a:pathLst>
                <a:path h="1050422" w="2304868">
                  <a:moveTo>
                    <a:pt x="0" y="0"/>
                  </a:moveTo>
                  <a:lnTo>
                    <a:pt x="2304868" y="0"/>
                  </a:lnTo>
                  <a:lnTo>
                    <a:pt x="2304868" y="1050422"/>
                  </a:lnTo>
                  <a:lnTo>
                    <a:pt x="0" y="1050422"/>
                  </a:lnTo>
                  <a:close/>
                </a:path>
              </a:pathLst>
            </a:custGeom>
            <a:solidFill>
              <a:srgbClr val="E0E8D1"/>
            </a:solidFill>
            <a:ln w="9525" cap="sq">
              <a:solidFill>
                <a:srgbClr val="333333"/>
              </a:solidFill>
              <a:prstDash val="solid"/>
              <a:miter/>
            </a:ln>
          </p:spPr>
        </p:sp>
        <p:sp>
          <p:nvSpPr>
            <p:cNvPr name="TextBox 12" id="12"/>
            <p:cNvSpPr txBox="true"/>
            <p:nvPr/>
          </p:nvSpPr>
          <p:spPr>
            <a:xfrm>
              <a:off x="0" y="-47625"/>
              <a:ext cx="2304868" cy="1098047"/>
            </a:xfrm>
            <a:prstGeom prst="rect">
              <a:avLst/>
            </a:prstGeom>
          </p:spPr>
          <p:txBody>
            <a:bodyPr anchor="ctr" rtlCol="false" tIns="50800" lIns="50800" bIns="50800" rIns="50800"/>
            <a:lstStyle/>
            <a:p>
              <a:pPr algn="ctr" marL="0" indent="0" lvl="0">
                <a:lnSpc>
                  <a:spcPts val="3220"/>
                </a:lnSpc>
                <a:spcBef>
                  <a:spcPct val="0"/>
                </a:spcBef>
              </a:pPr>
            </a:p>
          </p:txBody>
        </p:sp>
      </p:grpSp>
      <p:grpSp>
        <p:nvGrpSpPr>
          <p:cNvPr name="Group 13" id="13"/>
          <p:cNvGrpSpPr/>
          <p:nvPr/>
        </p:nvGrpSpPr>
        <p:grpSpPr>
          <a:xfrm rot="0">
            <a:off x="1520875" y="6060352"/>
            <a:ext cx="7413457" cy="3497349"/>
            <a:chOff x="0" y="0"/>
            <a:chExt cx="2330639" cy="1099495"/>
          </a:xfrm>
        </p:grpSpPr>
        <p:sp>
          <p:nvSpPr>
            <p:cNvPr name="Freeform 14" id="14"/>
            <p:cNvSpPr/>
            <p:nvPr/>
          </p:nvSpPr>
          <p:spPr>
            <a:xfrm flipH="false" flipV="false" rot="0">
              <a:off x="0" y="0"/>
              <a:ext cx="2330639" cy="1099495"/>
            </a:xfrm>
            <a:custGeom>
              <a:avLst/>
              <a:gdLst/>
              <a:ahLst/>
              <a:cxnLst/>
              <a:rect r="r" b="b" t="t" l="l"/>
              <a:pathLst>
                <a:path h="1099495" w="2330639">
                  <a:moveTo>
                    <a:pt x="0" y="0"/>
                  </a:moveTo>
                  <a:lnTo>
                    <a:pt x="2330639" y="0"/>
                  </a:lnTo>
                  <a:lnTo>
                    <a:pt x="2330639" y="1099495"/>
                  </a:lnTo>
                  <a:lnTo>
                    <a:pt x="0" y="1099495"/>
                  </a:lnTo>
                  <a:close/>
                </a:path>
              </a:pathLst>
            </a:custGeom>
            <a:solidFill>
              <a:srgbClr val="E0E8D1"/>
            </a:solidFill>
            <a:ln w="9525" cap="sq">
              <a:solidFill>
                <a:srgbClr val="333333"/>
              </a:solidFill>
              <a:prstDash val="solid"/>
              <a:miter/>
            </a:ln>
          </p:spPr>
        </p:sp>
        <p:sp>
          <p:nvSpPr>
            <p:cNvPr name="TextBox 15" id="15"/>
            <p:cNvSpPr txBox="true"/>
            <p:nvPr/>
          </p:nvSpPr>
          <p:spPr>
            <a:xfrm>
              <a:off x="0" y="-47625"/>
              <a:ext cx="2330639" cy="1147120"/>
            </a:xfrm>
            <a:prstGeom prst="rect">
              <a:avLst/>
            </a:prstGeom>
          </p:spPr>
          <p:txBody>
            <a:bodyPr anchor="ctr" rtlCol="false" tIns="50800" lIns="50800" bIns="50800" rIns="50800"/>
            <a:lstStyle/>
            <a:p>
              <a:pPr algn="ctr" marL="0" indent="0" lvl="0">
                <a:lnSpc>
                  <a:spcPts val="3220"/>
                </a:lnSpc>
                <a:spcBef>
                  <a:spcPct val="0"/>
                </a:spcBef>
              </a:pPr>
            </a:p>
          </p:txBody>
        </p:sp>
      </p:grpSp>
      <p:sp>
        <p:nvSpPr>
          <p:cNvPr name="TextBox 16" id="16"/>
          <p:cNvSpPr txBox="true"/>
          <p:nvPr/>
        </p:nvSpPr>
        <p:spPr>
          <a:xfrm rot="0">
            <a:off x="1000856" y="2728190"/>
            <a:ext cx="3815947" cy="296353"/>
          </a:xfrm>
          <a:prstGeom prst="rect">
            <a:avLst/>
          </a:prstGeom>
        </p:spPr>
        <p:txBody>
          <a:bodyPr anchor="t" rtlCol="false" tIns="0" lIns="0" bIns="0" rIns="0">
            <a:spAutoFit/>
          </a:bodyPr>
          <a:lstStyle/>
          <a:p>
            <a:pPr algn="ctr">
              <a:lnSpc>
                <a:spcPts val="2101"/>
              </a:lnSpc>
            </a:pPr>
            <a:r>
              <a:rPr lang="en-US" b="true" sz="1945">
                <a:solidFill>
                  <a:srgbClr val="333333"/>
                </a:solidFill>
                <a:latin typeface="Poppins Bold"/>
                <a:ea typeface="Poppins Bold"/>
                <a:cs typeface="Poppins Bold"/>
                <a:sym typeface="Poppins Bold"/>
              </a:rPr>
              <a:t>OBJECTIVE</a:t>
            </a:r>
          </a:p>
        </p:txBody>
      </p:sp>
      <p:sp>
        <p:nvSpPr>
          <p:cNvPr name="TextBox 17" id="17"/>
          <p:cNvSpPr txBox="true"/>
          <p:nvPr/>
        </p:nvSpPr>
        <p:spPr>
          <a:xfrm rot="0">
            <a:off x="1213937" y="3185461"/>
            <a:ext cx="3395374" cy="2009648"/>
          </a:xfrm>
          <a:prstGeom prst="rect">
            <a:avLst/>
          </a:prstGeom>
        </p:spPr>
        <p:txBody>
          <a:bodyPr anchor="t" rtlCol="false" tIns="0" lIns="0" bIns="0" rIns="0">
            <a:spAutoFit/>
          </a:bodyPr>
          <a:lstStyle/>
          <a:p>
            <a:pPr algn="l" marL="405893" indent="-202946" lvl="1">
              <a:lnSpc>
                <a:spcPts val="2632"/>
              </a:lnSpc>
              <a:buFont typeface="Arial"/>
              <a:buChar char="•"/>
            </a:pPr>
            <a:r>
              <a:rPr lang="en-US" sz="1880">
                <a:solidFill>
                  <a:srgbClr val="333333"/>
                </a:solidFill>
                <a:latin typeface="Poppins"/>
                <a:ea typeface="Poppins"/>
                <a:cs typeface="Poppins"/>
                <a:sym typeface="Poppins"/>
              </a:rPr>
              <a:t>Reconstruct full-resolution segmentation from tiled predictions</a:t>
            </a:r>
          </a:p>
          <a:p>
            <a:pPr algn="l" marL="405893" indent="-202946" lvl="1">
              <a:lnSpc>
                <a:spcPts val="2632"/>
              </a:lnSpc>
              <a:buFont typeface="Arial"/>
              <a:buChar char="•"/>
            </a:pPr>
            <a:r>
              <a:rPr lang="en-US" sz="1880">
                <a:solidFill>
                  <a:srgbClr val="333333"/>
                </a:solidFill>
                <a:latin typeface="Poppins"/>
                <a:ea typeface="Poppins"/>
                <a:cs typeface="Poppins"/>
                <a:sym typeface="Poppins"/>
              </a:rPr>
              <a:t>Ensure spatial continuity across the entire satellite image</a:t>
            </a:r>
          </a:p>
        </p:txBody>
      </p:sp>
      <p:sp>
        <p:nvSpPr>
          <p:cNvPr name="TextBox 18" id="18"/>
          <p:cNvSpPr txBox="true"/>
          <p:nvPr/>
        </p:nvSpPr>
        <p:spPr>
          <a:xfrm rot="0">
            <a:off x="13548882" y="2580013"/>
            <a:ext cx="3299171" cy="2963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KEY CHALLENGES</a:t>
            </a:r>
          </a:p>
        </p:txBody>
      </p:sp>
      <p:sp>
        <p:nvSpPr>
          <p:cNvPr name="TextBox 19" id="19"/>
          <p:cNvSpPr txBox="true"/>
          <p:nvPr/>
        </p:nvSpPr>
        <p:spPr>
          <a:xfrm rot="0">
            <a:off x="13371904" y="3026192"/>
            <a:ext cx="3653126" cy="2343121"/>
          </a:xfrm>
          <a:prstGeom prst="rect">
            <a:avLst/>
          </a:prstGeom>
        </p:spPr>
        <p:txBody>
          <a:bodyPr anchor="t" rtlCol="false" tIns="0" lIns="0" bIns="0" rIns="0">
            <a:spAutoFit/>
          </a:bodyPr>
          <a:lstStyle/>
          <a:p>
            <a:pPr algn="l" marL="405062" indent="-202531" lvl="1">
              <a:lnSpc>
                <a:spcPts val="2626"/>
              </a:lnSpc>
              <a:buFont typeface="Arial"/>
              <a:buChar char="•"/>
            </a:pPr>
            <a:r>
              <a:rPr lang="en-US" sz="1876">
                <a:solidFill>
                  <a:srgbClr val="333333"/>
                </a:solidFill>
                <a:latin typeface="Poppins"/>
                <a:ea typeface="Poppins"/>
                <a:cs typeface="Poppins"/>
                <a:sym typeface="Poppins"/>
              </a:rPr>
              <a:t>Edge tiles may have non-uniform dimensions</a:t>
            </a:r>
          </a:p>
          <a:p>
            <a:pPr algn="l" marL="405062" indent="-202531" lvl="1">
              <a:lnSpc>
                <a:spcPts val="2626"/>
              </a:lnSpc>
              <a:buFont typeface="Arial"/>
              <a:buChar char="•"/>
            </a:pPr>
            <a:r>
              <a:rPr lang="en-US" sz="1876">
                <a:solidFill>
                  <a:srgbClr val="333333"/>
                </a:solidFill>
                <a:latin typeface="Poppins"/>
                <a:ea typeface="Poppins"/>
                <a:cs typeface="Poppins"/>
                <a:sym typeface="Poppins"/>
              </a:rPr>
              <a:t>Visible seam lines between adjacent tiles</a:t>
            </a:r>
          </a:p>
          <a:p>
            <a:pPr algn="l" marL="405062" indent="-202531" lvl="1">
              <a:lnSpc>
                <a:spcPts val="2626"/>
              </a:lnSpc>
              <a:buFont typeface="Arial"/>
              <a:buChar char="•"/>
            </a:pPr>
            <a:r>
              <a:rPr lang="en-US" sz="1876">
                <a:solidFill>
                  <a:srgbClr val="333333"/>
                </a:solidFill>
                <a:latin typeface="Poppins"/>
                <a:ea typeface="Poppins"/>
                <a:cs typeface="Poppins"/>
                <a:sym typeface="Poppins"/>
              </a:rPr>
              <a:t>Minor alignment mismatches during reconstruction</a:t>
            </a:r>
          </a:p>
        </p:txBody>
      </p:sp>
      <p:sp>
        <p:nvSpPr>
          <p:cNvPr name="TextBox 20" id="20"/>
          <p:cNvSpPr txBox="true"/>
          <p:nvPr/>
        </p:nvSpPr>
        <p:spPr>
          <a:xfrm rot="0">
            <a:off x="7305083" y="2728190"/>
            <a:ext cx="3412216" cy="2963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METHODOLOGY</a:t>
            </a:r>
          </a:p>
        </p:txBody>
      </p:sp>
      <p:sp>
        <p:nvSpPr>
          <p:cNvPr name="TextBox 21" id="21"/>
          <p:cNvSpPr txBox="true"/>
          <p:nvPr/>
        </p:nvSpPr>
        <p:spPr>
          <a:xfrm rot="0">
            <a:off x="5642824" y="3199533"/>
            <a:ext cx="6848986" cy="2009648"/>
          </a:xfrm>
          <a:prstGeom prst="rect">
            <a:avLst/>
          </a:prstGeom>
        </p:spPr>
        <p:txBody>
          <a:bodyPr anchor="t" rtlCol="false" tIns="0" lIns="0" bIns="0" rIns="0">
            <a:spAutoFit/>
          </a:bodyPr>
          <a:lstStyle/>
          <a:p>
            <a:pPr algn="l" marL="405893" indent="-202946" lvl="1">
              <a:lnSpc>
                <a:spcPts val="2632"/>
              </a:lnSpc>
              <a:buFont typeface="Arial"/>
              <a:buChar char="•"/>
            </a:pPr>
            <a:r>
              <a:rPr lang="en-US" sz="1880">
                <a:solidFill>
                  <a:srgbClr val="333333"/>
                </a:solidFill>
                <a:latin typeface="Poppins"/>
                <a:ea typeface="Poppins"/>
                <a:cs typeface="Poppins"/>
                <a:sym typeface="Poppins"/>
              </a:rPr>
              <a:t>Large GeoTIFF images are divided into 1024×1024 tiles</a:t>
            </a:r>
          </a:p>
          <a:p>
            <a:pPr algn="l" marL="405893" indent="-202946" lvl="1">
              <a:lnSpc>
                <a:spcPts val="2632"/>
              </a:lnSpc>
              <a:buFont typeface="Arial"/>
              <a:buChar char="•"/>
            </a:pPr>
            <a:r>
              <a:rPr lang="en-US" sz="1880">
                <a:solidFill>
                  <a:srgbClr val="333333"/>
                </a:solidFill>
                <a:latin typeface="Poppins"/>
                <a:ea typeface="Poppins"/>
                <a:cs typeface="Poppins"/>
                <a:sym typeface="Poppins"/>
              </a:rPr>
              <a:t>Each tile is processed independently by the model</a:t>
            </a:r>
          </a:p>
          <a:p>
            <a:pPr algn="l" marL="405893" indent="-202946" lvl="1">
              <a:lnSpc>
                <a:spcPts val="2632"/>
              </a:lnSpc>
              <a:buFont typeface="Arial"/>
              <a:buChar char="•"/>
            </a:pPr>
            <a:r>
              <a:rPr lang="en-US" sz="1880">
                <a:solidFill>
                  <a:srgbClr val="333333"/>
                </a:solidFill>
                <a:latin typeface="Poppins"/>
                <a:ea typeface="Poppins"/>
                <a:cs typeface="Poppins"/>
                <a:sym typeface="Poppins"/>
              </a:rPr>
              <a:t>Predictions are mapped back using original tile coordinates (x, y)</a:t>
            </a:r>
          </a:p>
          <a:p>
            <a:pPr algn="l" marL="405893" indent="-202946" lvl="1">
              <a:lnSpc>
                <a:spcPts val="2632"/>
              </a:lnSpc>
              <a:buFont typeface="Arial"/>
              <a:buChar char="•"/>
            </a:pPr>
            <a:r>
              <a:rPr lang="en-US" sz="1880">
                <a:solidFill>
                  <a:srgbClr val="333333"/>
                </a:solidFill>
                <a:latin typeface="Poppins"/>
                <a:ea typeface="Poppins"/>
                <a:cs typeface="Poppins"/>
                <a:sym typeface="Poppins"/>
              </a:rPr>
              <a:t>Tiles are assembled to form a complete segmentation map</a:t>
            </a:r>
          </a:p>
        </p:txBody>
      </p:sp>
      <p:sp>
        <p:nvSpPr>
          <p:cNvPr name="TextBox 22" id="22"/>
          <p:cNvSpPr txBox="true"/>
          <p:nvPr/>
        </p:nvSpPr>
        <p:spPr>
          <a:xfrm rot="0">
            <a:off x="3364642" y="6665338"/>
            <a:ext cx="3664287" cy="296353"/>
          </a:xfrm>
          <a:prstGeom prst="rect">
            <a:avLst/>
          </a:prstGeom>
        </p:spPr>
        <p:txBody>
          <a:bodyPr anchor="t" rtlCol="false" tIns="0" lIns="0" bIns="0" rIns="0">
            <a:spAutoFit/>
          </a:bodyPr>
          <a:lstStyle/>
          <a:p>
            <a:pPr algn="ctr" marL="0" indent="0" lvl="0">
              <a:lnSpc>
                <a:spcPts val="2101"/>
              </a:lnSpc>
              <a:spcBef>
                <a:spcPct val="0"/>
              </a:spcBef>
            </a:pPr>
            <a:r>
              <a:rPr lang="en-US" b="true" sz="1945">
                <a:solidFill>
                  <a:srgbClr val="333333"/>
                </a:solidFill>
                <a:latin typeface="Poppins Bold"/>
                <a:ea typeface="Poppins Bold"/>
                <a:cs typeface="Poppins Bold"/>
                <a:sym typeface="Poppins Bold"/>
              </a:rPr>
              <a:t>SOLUTIONS IMPLEMENTED</a:t>
            </a:r>
          </a:p>
        </p:txBody>
      </p:sp>
      <p:sp>
        <p:nvSpPr>
          <p:cNvPr name="TextBox 23" id="23"/>
          <p:cNvSpPr txBox="true"/>
          <p:nvPr/>
        </p:nvSpPr>
        <p:spPr>
          <a:xfrm rot="0">
            <a:off x="1981942" y="7133141"/>
            <a:ext cx="6491323" cy="1676273"/>
          </a:xfrm>
          <a:prstGeom prst="rect">
            <a:avLst/>
          </a:prstGeom>
        </p:spPr>
        <p:txBody>
          <a:bodyPr anchor="t" rtlCol="false" tIns="0" lIns="0" bIns="0" rIns="0">
            <a:spAutoFit/>
          </a:bodyPr>
          <a:lstStyle/>
          <a:p>
            <a:pPr algn="l" marL="405893" indent="-202946" lvl="1">
              <a:lnSpc>
                <a:spcPts val="2632"/>
              </a:lnSpc>
              <a:buFont typeface="Arial"/>
              <a:buChar char="•"/>
            </a:pPr>
            <a:r>
              <a:rPr lang="en-US" sz="1880">
                <a:solidFill>
                  <a:srgbClr val="333333"/>
                </a:solidFill>
                <a:latin typeface="Poppins"/>
                <a:ea typeface="Poppins"/>
                <a:cs typeface="Poppins"/>
                <a:sym typeface="Poppins"/>
              </a:rPr>
              <a:t>Applied coordinate-based placement for accurate alignment</a:t>
            </a:r>
          </a:p>
          <a:p>
            <a:pPr algn="l" marL="405893" indent="-202946" lvl="1">
              <a:lnSpc>
                <a:spcPts val="2632"/>
              </a:lnSpc>
              <a:buFont typeface="Arial"/>
              <a:buChar char="•"/>
            </a:pPr>
            <a:r>
              <a:rPr lang="en-US" sz="1880">
                <a:solidFill>
                  <a:srgbClr val="333333"/>
                </a:solidFill>
                <a:latin typeface="Poppins"/>
                <a:ea typeface="Poppins"/>
                <a:cs typeface="Poppins"/>
                <a:sym typeface="Poppins"/>
              </a:rPr>
              <a:t>Handled edge tiles using resizing and padding</a:t>
            </a:r>
          </a:p>
          <a:p>
            <a:pPr algn="l" marL="405893" indent="-202946" lvl="1">
              <a:lnSpc>
                <a:spcPts val="2632"/>
              </a:lnSpc>
              <a:buFont typeface="Arial"/>
              <a:buChar char="•"/>
            </a:pPr>
            <a:r>
              <a:rPr lang="en-US" sz="1880">
                <a:solidFill>
                  <a:srgbClr val="333333"/>
                </a:solidFill>
                <a:latin typeface="Poppins"/>
                <a:ea typeface="Poppins"/>
                <a:cs typeface="Poppins"/>
                <a:sym typeface="Poppins"/>
              </a:rPr>
              <a:t>Maintained consistent tile indexing across dataset</a:t>
            </a:r>
          </a:p>
          <a:p>
            <a:pPr algn="l" marL="405893" indent="-202946" lvl="1">
              <a:lnSpc>
                <a:spcPts val="2632"/>
              </a:lnSpc>
              <a:buFont typeface="Arial"/>
              <a:buChar char="•"/>
            </a:pPr>
            <a:r>
              <a:rPr lang="en-US" sz="1880">
                <a:solidFill>
                  <a:srgbClr val="333333"/>
                </a:solidFill>
                <a:latin typeface="Poppins"/>
                <a:ea typeface="Poppins"/>
                <a:cs typeface="Poppins"/>
                <a:sym typeface="Poppins"/>
              </a:rPr>
              <a:t>Prepared stitched output for further refinement</a:t>
            </a:r>
          </a:p>
        </p:txBody>
      </p:sp>
      <p:grpSp>
        <p:nvGrpSpPr>
          <p:cNvPr name="Group 24" id="24"/>
          <p:cNvGrpSpPr/>
          <p:nvPr/>
        </p:nvGrpSpPr>
        <p:grpSpPr>
          <a:xfrm rot="0">
            <a:off x="9424607" y="6060352"/>
            <a:ext cx="6259754" cy="3497349"/>
            <a:chOff x="0" y="0"/>
            <a:chExt cx="1967939" cy="1099495"/>
          </a:xfrm>
        </p:grpSpPr>
        <p:sp>
          <p:nvSpPr>
            <p:cNvPr name="Freeform 25" id="25"/>
            <p:cNvSpPr/>
            <p:nvPr/>
          </p:nvSpPr>
          <p:spPr>
            <a:xfrm flipH="false" flipV="false" rot="0">
              <a:off x="0" y="0"/>
              <a:ext cx="1967939" cy="1099495"/>
            </a:xfrm>
            <a:custGeom>
              <a:avLst/>
              <a:gdLst/>
              <a:ahLst/>
              <a:cxnLst/>
              <a:rect r="r" b="b" t="t" l="l"/>
              <a:pathLst>
                <a:path h="1099495" w="1967939">
                  <a:moveTo>
                    <a:pt x="0" y="0"/>
                  </a:moveTo>
                  <a:lnTo>
                    <a:pt x="1967939" y="0"/>
                  </a:lnTo>
                  <a:lnTo>
                    <a:pt x="1967939" y="1099495"/>
                  </a:lnTo>
                  <a:lnTo>
                    <a:pt x="0" y="1099495"/>
                  </a:lnTo>
                  <a:close/>
                </a:path>
              </a:pathLst>
            </a:custGeom>
            <a:solidFill>
              <a:srgbClr val="E0E8D1"/>
            </a:solidFill>
            <a:ln w="9525" cap="sq">
              <a:solidFill>
                <a:srgbClr val="333333"/>
              </a:solidFill>
              <a:prstDash val="solid"/>
              <a:miter/>
            </a:ln>
          </p:spPr>
        </p:sp>
        <p:sp>
          <p:nvSpPr>
            <p:cNvPr name="TextBox 26" id="26"/>
            <p:cNvSpPr txBox="true"/>
            <p:nvPr/>
          </p:nvSpPr>
          <p:spPr>
            <a:xfrm>
              <a:off x="0" y="-47625"/>
              <a:ext cx="1967939" cy="1147120"/>
            </a:xfrm>
            <a:prstGeom prst="rect">
              <a:avLst/>
            </a:prstGeom>
          </p:spPr>
          <p:txBody>
            <a:bodyPr anchor="ctr" rtlCol="false" tIns="50800" lIns="50800" bIns="50800" rIns="50800"/>
            <a:lstStyle/>
            <a:p>
              <a:pPr algn="ctr" marL="0" indent="0" lvl="0">
                <a:lnSpc>
                  <a:spcPts val="3220"/>
                </a:lnSpc>
                <a:spcBef>
                  <a:spcPct val="0"/>
                </a:spcBef>
              </a:pPr>
            </a:p>
          </p:txBody>
        </p:sp>
      </p:grpSp>
      <p:sp>
        <p:nvSpPr>
          <p:cNvPr name="TextBox 27" id="27"/>
          <p:cNvSpPr txBox="true"/>
          <p:nvPr/>
        </p:nvSpPr>
        <p:spPr>
          <a:xfrm rot="0">
            <a:off x="10768796" y="6517161"/>
            <a:ext cx="3571375" cy="296353"/>
          </a:xfrm>
          <a:prstGeom prst="rect">
            <a:avLst/>
          </a:prstGeom>
        </p:spPr>
        <p:txBody>
          <a:bodyPr anchor="t" rtlCol="false" tIns="0" lIns="0" bIns="0" rIns="0">
            <a:spAutoFit/>
          </a:bodyPr>
          <a:lstStyle/>
          <a:p>
            <a:pPr algn="ctr" marL="0" indent="0" lvl="0">
              <a:lnSpc>
                <a:spcPts val="2101"/>
              </a:lnSpc>
              <a:spcBef>
                <a:spcPct val="0"/>
              </a:spcBef>
            </a:pPr>
            <a:r>
              <a:rPr lang="en-US" b="true" sz="1945" strike="noStrike" u="none">
                <a:solidFill>
                  <a:srgbClr val="333333"/>
                </a:solidFill>
                <a:latin typeface="Poppins Bold"/>
                <a:ea typeface="Poppins Bold"/>
                <a:cs typeface="Poppins Bold"/>
                <a:sym typeface="Poppins Bold"/>
              </a:rPr>
              <a:t> OUTCOME</a:t>
            </a:r>
          </a:p>
        </p:txBody>
      </p:sp>
      <p:sp>
        <p:nvSpPr>
          <p:cNvPr name="TextBox 28" id="28"/>
          <p:cNvSpPr txBox="true"/>
          <p:nvPr/>
        </p:nvSpPr>
        <p:spPr>
          <a:xfrm rot="0">
            <a:off x="10032383" y="7003971"/>
            <a:ext cx="5272112" cy="1944137"/>
          </a:xfrm>
          <a:prstGeom prst="rect">
            <a:avLst/>
          </a:prstGeom>
        </p:spPr>
        <p:txBody>
          <a:bodyPr anchor="t" rtlCol="false" tIns="0" lIns="0" bIns="0" rIns="0">
            <a:spAutoFit/>
          </a:bodyPr>
          <a:lstStyle/>
          <a:p>
            <a:pPr algn="l" marL="395997" indent="-197999" lvl="1">
              <a:lnSpc>
                <a:spcPts val="2567"/>
              </a:lnSpc>
              <a:buFont typeface="Arial"/>
              <a:buChar char="•"/>
            </a:pPr>
            <a:r>
              <a:rPr lang="en-US" sz="1834">
                <a:solidFill>
                  <a:srgbClr val="333333"/>
                </a:solidFill>
                <a:latin typeface="Poppins"/>
                <a:ea typeface="Poppins"/>
                <a:cs typeface="Poppins"/>
                <a:sym typeface="Poppins"/>
              </a:rPr>
              <a:t>Generated high-resolution, full-area segmentation maps</a:t>
            </a:r>
          </a:p>
          <a:p>
            <a:pPr algn="l" marL="395997" indent="-197999" lvl="1">
              <a:lnSpc>
                <a:spcPts val="2567"/>
              </a:lnSpc>
              <a:buFont typeface="Arial"/>
              <a:buChar char="•"/>
            </a:pPr>
            <a:r>
              <a:rPr lang="en-US" sz="1834">
                <a:solidFill>
                  <a:srgbClr val="333333"/>
                </a:solidFill>
                <a:latin typeface="Poppins"/>
                <a:ea typeface="Poppins"/>
                <a:cs typeface="Poppins"/>
                <a:sym typeface="Poppins"/>
              </a:rPr>
              <a:t>Enabled seamless integration with post-processing pipeline</a:t>
            </a:r>
          </a:p>
          <a:p>
            <a:pPr algn="l" marL="395997" indent="-197999" lvl="1">
              <a:lnSpc>
                <a:spcPts val="2567"/>
              </a:lnSpc>
              <a:buFont typeface="Arial"/>
              <a:buChar char="•"/>
            </a:pPr>
            <a:r>
              <a:rPr lang="en-US" sz="1834">
                <a:solidFill>
                  <a:srgbClr val="333333"/>
                </a:solidFill>
                <a:latin typeface="Poppins"/>
                <a:ea typeface="Poppins"/>
                <a:cs typeface="Poppins"/>
                <a:sym typeface="Poppins"/>
              </a:rPr>
              <a:t>Ensured scalability for multi-village reconstruction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1028700" y="1076325"/>
            <a:ext cx="15283430" cy="983072"/>
          </a:xfrm>
          <a:prstGeom prst="rect">
            <a:avLst/>
          </a:prstGeom>
        </p:spPr>
        <p:txBody>
          <a:bodyPr anchor="t" rtlCol="false" tIns="0" lIns="0" bIns="0" rIns="0">
            <a:spAutoFit/>
          </a:bodyPr>
          <a:lstStyle/>
          <a:p>
            <a:pPr algn="l" marL="0" indent="0" lvl="0">
              <a:lnSpc>
                <a:spcPts val="6945"/>
              </a:lnSpc>
              <a:spcBef>
                <a:spcPct val="0"/>
              </a:spcBef>
            </a:pPr>
            <a:r>
              <a:rPr lang="en-US" b="true" sz="6809">
                <a:solidFill>
                  <a:srgbClr val="F2ECE2"/>
                </a:solidFill>
                <a:latin typeface="Poppins Bold"/>
                <a:ea typeface="Poppins Bold"/>
                <a:cs typeface="Poppins Bold"/>
                <a:sym typeface="Poppins Bold"/>
              </a:rPr>
              <a:t>Post-Processing</a:t>
            </a:r>
          </a:p>
        </p:txBody>
      </p:sp>
      <p:sp>
        <p:nvSpPr>
          <p:cNvPr name="TextBox 3" id="3"/>
          <p:cNvSpPr txBox="true"/>
          <p:nvPr/>
        </p:nvSpPr>
        <p:spPr>
          <a:xfrm rot="0">
            <a:off x="695480" y="2397926"/>
            <a:ext cx="16266957" cy="6749540"/>
          </a:xfrm>
          <a:prstGeom prst="rect">
            <a:avLst/>
          </a:prstGeom>
        </p:spPr>
        <p:txBody>
          <a:bodyPr anchor="t" rtlCol="false" tIns="0" lIns="0" bIns="0" rIns="0">
            <a:spAutoFit/>
          </a:bodyPr>
          <a:lstStyle/>
          <a:p>
            <a:pPr algn="l" marL="734066" indent="-367033" lvl="1">
              <a:lnSpc>
                <a:spcPts val="5984"/>
              </a:lnSpc>
              <a:spcBef>
                <a:spcPct val="0"/>
              </a:spcBef>
              <a:buFont typeface="Arial"/>
              <a:buChar char="•"/>
            </a:pPr>
            <a:r>
              <a:rPr lang="en-US" sz="3400" spc="13">
                <a:solidFill>
                  <a:srgbClr val="FFFFFF"/>
                </a:solidFill>
                <a:latin typeface="Poppins"/>
                <a:ea typeface="Poppins"/>
                <a:cs typeface="Poppins"/>
                <a:sym typeface="Poppins"/>
              </a:rPr>
              <a:t>Rem</a:t>
            </a:r>
            <a:r>
              <a:rPr lang="en-US" sz="3400" spc="13" strike="noStrike" u="none">
                <a:solidFill>
                  <a:srgbClr val="FFFFFF"/>
                </a:solidFill>
                <a:latin typeface="Poppins"/>
                <a:ea typeface="Poppins"/>
                <a:cs typeface="Poppins"/>
                <a:sym typeface="Poppins"/>
              </a:rPr>
              <a:t>o</a:t>
            </a:r>
            <a:r>
              <a:rPr lang="en-US" sz="3400" spc="13" strike="noStrike" u="none">
                <a:solidFill>
                  <a:srgbClr val="FFFFFF"/>
                </a:solidFill>
                <a:latin typeface="Poppins"/>
                <a:ea typeface="Poppins"/>
                <a:cs typeface="Poppins"/>
                <a:sym typeface="Poppins"/>
              </a:rPr>
              <a:t>ved n</a:t>
            </a:r>
            <a:r>
              <a:rPr lang="en-US" sz="3400" spc="13" strike="noStrike" u="none">
                <a:solidFill>
                  <a:srgbClr val="FFFFFF"/>
                </a:solidFill>
                <a:latin typeface="Poppins"/>
                <a:ea typeface="Poppins"/>
                <a:cs typeface="Poppins"/>
                <a:sym typeface="Poppins"/>
              </a:rPr>
              <a:t>ois</a:t>
            </a:r>
            <a:r>
              <a:rPr lang="en-US" sz="3400" spc="13" strike="noStrike" u="none">
                <a:solidFill>
                  <a:srgbClr val="FFFFFF"/>
                </a:solidFill>
                <a:latin typeface="Poppins"/>
                <a:ea typeface="Poppins"/>
                <a:cs typeface="Poppins"/>
                <a:sym typeface="Poppins"/>
              </a:rPr>
              <a:t>e</a:t>
            </a:r>
            <a:r>
              <a:rPr lang="en-US" sz="3400" spc="13" strike="noStrike" u="none">
                <a:solidFill>
                  <a:srgbClr val="FFFFFF"/>
                </a:solidFill>
                <a:latin typeface="Poppins"/>
                <a:ea typeface="Poppins"/>
                <a:cs typeface="Poppins"/>
                <a:sym typeface="Poppins"/>
              </a:rPr>
              <a:t> and </a:t>
            </a:r>
            <a:r>
              <a:rPr lang="en-US" sz="3400" spc="13" strike="noStrike" u="none">
                <a:solidFill>
                  <a:srgbClr val="FFFFFF"/>
                </a:solidFill>
                <a:latin typeface="Poppins"/>
                <a:ea typeface="Poppins"/>
                <a:cs typeface="Poppins"/>
                <a:sym typeface="Poppins"/>
              </a:rPr>
              <a:t>f</a:t>
            </a:r>
            <a:r>
              <a:rPr lang="en-US" sz="3400" spc="13" strike="noStrike" u="none">
                <a:solidFill>
                  <a:srgbClr val="FFFFFF"/>
                </a:solidFill>
                <a:latin typeface="Poppins"/>
                <a:ea typeface="Poppins"/>
                <a:cs typeface="Poppins"/>
                <a:sym typeface="Poppins"/>
              </a:rPr>
              <a:t>alse positive</a:t>
            </a:r>
            <a:r>
              <a:rPr lang="en-US" sz="3400" spc="13" strike="noStrike" u="none">
                <a:solidFill>
                  <a:srgbClr val="FFFFFF"/>
                </a:solidFill>
                <a:latin typeface="Poppins"/>
                <a:ea typeface="Poppins"/>
                <a:cs typeface="Poppins"/>
                <a:sym typeface="Poppins"/>
              </a:rPr>
              <a:t>s</a:t>
            </a:r>
          </a:p>
          <a:p>
            <a:pPr algn="l" marL="734066" indent="-367033" lvl="1">
              <a:lnSpc>
                <a:spcPts val="5984"/>
              </a:lnSpc>
              <a:spcBef>
                <a:spcPct val="0"/>
              </a:spcBef>
              <a:buFont typeface="Arial"/>
              <a:buChar char="•"/>
            </a:pPr>
            <a:r>
              <a:rPr lang="en-US" sz="3400" spc="13" strike="noStrike" u="none">
                <a:solidFill>
                  <a:srgbClr val="FFFFFF"/>
                </a:solidFill>
                <a:latin typeface="Poppins"/>
                <a:ea typeface="Poppins"/>
                <a:cs typeface="Poppins"/>
                <a:sym typeface="Poppins"/>
              </a:rPr>
              <a:t>Elim</a:t>
            </a:r>
            <a:r>
              <a:rPr lang="en-US" sz="3400" spc="13" strike="noStrike" u="none">
                <a:solidFill>
                  <a:srgbClr val="FFFFFF"/>
                </a:solidFill>
                <a:latin typeface="Poppins"/>
                <a:ea typeface="Poppins"/>
                <a:cs typeface="Poppins"/>
                <a:sym typeface="Poppins"/>
              </a:rPr>
              <a:t>in</a:t>
            </a:r>
            <a:r>
              <a:rPr lang="en-US" sz="3400" spc="13" strike="noStrike" u="none">
                <a:solidFill>
                  <a:srgbClr val="FFFFFF"/>
                </a:solidFill>
                <a:latin typeface="Poppins"/>
                <a:ea typeface="Poppins"/>
                <a:cs typeface="Poppins"/>
                <a:sym typeface="Poppins"/>
              </a:rPr>
              <a:t>a</a:t>
            </a:r>
            <a:r>
              <a:rPr lang="en-US" sz="3400" spc="13" strike="noStrike" u="none">
                <a:solidFill>
                  <a:srgbClr val="FFFFFF"/>
                </a:solidFill>
                <a:latin typeface="Poppins"/>
                <a:ea typeface="Poppins"/>
                <a:cs typeface="Poppins"/>
                <a:sym typeface="Poppins"/>
              </a:rPr>
              <a:t>ted s</a:t>
            </a:r>
            <a:r>
              <a:rPr lang="en-US" sz="3400" spc="13" strike="noStrike" u="none">
                <a:solidFill>
                  <a:srgbClr val="FFFFFF"/>
                </a:solidFill>
                <a:latin typeface="Poppins"/>
                <a:ea typeface="Poppins"/>
                <a:cs typeface="Poppins"/>
                <a:sym typeface="Poppins"/>
              </a:rPr>
              <a:t>ea</a:t>
            </a:r>
            <a:r>
              <a:rPr lang="en-US" sz="3400" spc="13" strike="noStrike" u="none">
                <a:solidFill>
                  <a:srgbClr val="FFFFFF"/>
                </a:solidFill>
                <a:latin typeface="Poppins"/>
                <a:ea typeface="Poppins"/>
                <a:cs typeface="Poppins"/>
                <a:sym typeface="Poppins"/>
              </a:rPr>
              <a:t>m</a:t>
            </a:r>
            <a:r>
              <a:rPr lang="en-US" sz="3400" spc="13" strike="noStrike" u="none">
                <a:solidFill>
                  <a:srgbClr val="FFFFFF"/>
                </a:solidFill>
                <a:latin typeface="Poppins"/>
                <a:ea typeface="Poppins"/>
                <a:cs typeface="Poppins"/>
                <a:sym typeface="Poppins"/>
              </a:rPr>
              <a:t>-</a:t>
            </a:r>
            <a:r>
              <a:rPr lang="en-US" sz="3400" spc="13" strike="noStrike" u="none">
                <a:solidFill>
                  <a:srgbClr val="FFFFFF"/>
                </a:solidFill>
                <a:latin typeface="Poppins"/>
                <a:ea typeface="Poppins"/>
                <a:cs typeface="Poppins"/>
                <a:sym typeface="Poppins"/>
              </a:rPr>
              <a:t>line artifa</a:t>
            </a:r>
            <a:r>
              <a:rPr lang="en-US" sz="3400" spc="13" strike="noStrike" u="none">
                <a:solidFill>
                  <a:srgbClr val="FFFFFF"/>
                </a:solidFill>
                <a:latin typeface="Poppins"/>
                <a:ea typeface="Poppins"/>
                <a:cs typeface="Poppins"/>
                <a:sym typeface="Poppins"/>
              </a:rPr>
              <a:t>c</a:t>
            </a:r>
            <a:r>
              <a:rPr lang="en-US" sz="3400" spc="13" strike="noStrike" u="none">
                <a:solidFill>
                  <a:srgbClr val="FFFFFF"/>
                </a:solidFill>
                <a:latin typeface="Poppins"/>
                <a:ea typeface="Poppins"/>
                <a:cs typeface="Poppins"/>
                <a:sym typeface="Poppins"/>
              </a:rPr>
              <a:t>ts</a:t>
            </a:r>
          </a:p>
          <a:p>
            <a:pPr algn="l" marL="734066" indent="-367033" lvl="1">
              <a:lnSpc>
                <a:spcPts val="5984"/>
              </a:lnSpc>
              <a:spcBef>
                <a:spcPct val="0"/>
              </a:spcBef>
              <a:buFont typeface="Arial"/>
              <a:buChar char="•"/>
            </a:pPr>
            <a:r>
              <a:rPr lang="en-US" sz="3400" spc="13" strike="noStrike" u="none">
                <a:solidFill>
                  <a:srgbClr val="FFFFFF"/>
                </a:solidFill>
                <a:latin typeface="Poppins"/>
                <a:ea typeface="Poppins"/>
                <a:cs typeface="Poppins"/>
                <a:sym typeface="Poppins"/>
              </a:rPr>
              <a:t>A</a:t>
            </a:r>
            <a:r>
              <a:rPr lang="en-US" sz="3400" spc="13" strike="noStrike" u="none">
                <a:solidFill>
                  <a:srgbClr val="FFFFFF"/>
                </a:solidFill>
                <a:latin typeface="Poppins"/>
                <a:ea typeface="Poppins"/>
                <a:cs typeface="Poppins"/>
                <a:sym typeface="Poppins"/>
              </a:rPr>
              <a:t>p</a:t>
            </a:r>
            <a:r>
              <a:rPr lang="en-US" sz="3400" spc="13" strike="noStrike" u="none">
                <a:solidFill>
                  <a:srgbClr val="FFFFFF"/>
                </a:solidFill>
                <a:latin typeface="Poppins"/>
                <a:ea typeface="Poppins"/>
                <a:cs typeface="Poppins"/>
                <a:sym typeface="Poppins"/>
              </a:rPr>
              <a:t>plie</a:t>
            </a:r>
            <a:r>
              <a:rPr lang="en-US" sz="3400" spc="13" strike="noStrike" u="none">
                <a:solidFill>
                  <a:srgbClr val="FFFFFF"/>
                </a:solidFill>
                <a:latin typeface="Poppins"/>
                <a:ea typeface="Poppins"/>
                <a:cs typeface="Poppins"/>
                <a:sym typeface="Poppins"/>
              </a:rPr>
              <a:t>d</a:t>
            </a:r>
            <a:r>
              <a:rPr lang="en-US" sz="3400" spc="13" strike="noStrike" u="none">
                <a:solidFill>
                  <a:srgbClr val="FFFFFF"/>
                </a:solidFill>
                <a:latin typeface="Poppins"/>
                <a:ea typeface="Poppins"/>
                <a:cs typeface="Poppins"/>
                <a:sym typeface="Poppins"/>
              </a:rPr>
              <a:t> con</a:t>
            </a:r>
            <a:r>
              <a:rPr lang="en-US" sz="3400" spc="13" strike="noStrike" u="none">
                <a:solidFill>
                  <a:srgbClr val="FFFFFF"/>
                </a:solidFill>
                <a:latin typeface="Poppins"/>
                <a:ea typeface="Poppins"/>
                <a:cs typeface="Poppins"/>
                <a:sym typeface="Poppins"/>
              </a:rPr>
              <a:t>n</a:t>
            </a:r>
            <a:r>
              <a:rPr lang="en-US" sz="3400" spc="13" strike="noStrike" u="none">
                <a:solidFill>
                  <a:srgbClr val="FFFFFF"/>
                </a:solidFill>
                <a:latin typeface="Poppins"/>
                <a:ea typeface="Poppins"/>
                <a:cs typeface="Poppins"/>
                <a:sym typeface="Poppins"/>
              </a:rPr>
              <a:t>e</a:t>
            </a:r>
            <a:r>
              <a:rPr lang="en-US" sz="3400" spc="13" strike="noStrike" u="none">
                <a:solidFill>
                  <a:srgbClr val="FFFFFF"/>
                </a:solidFill>
                <a:latin typeface="Poppins"/>
                <a:ea typeface="Poppins"/>
                <a:cs typeface="Poppins"/>
                <a:sym typeface="Poppins"/>
              </a:rPr>
              <a:t>c</a:t>
            </a:r>
            <a:r>
              <a:rPr lang="en-US" sz="3400" spc="13" strike="noStrike" u="none">
                <a:solidFill>
                  <a:srgbClr val="FFFFFF"/>
                </a:solidFill>
                <a:latin typeface="Poppins"/>
                <a:ea typeface="Poppins"/>
                <a:cs typeface="Poppins"/>
                <a:sym typeface="Poppins"/>
              </a:rPr>
              <a:t>ted compo</a:t>
            </a:r>
            <a:r>
              <a:rPr lang="en-US" sz="3400" spc="13" strike="noStrike" u="none">
                <a:solidFill>
                  <a:srgbClr val="FFFFFF"/>
                </a:solidFill>
                <a:latin typeface="Poppins"/>
                <a:ea typeface="Poppins"/>
                <a:cs typeface="Poppins"/>
                <a:sym typeface="Poppins"/>
              </a:rPr>
              <a:t>n</a:t>
            </a:r>
            <a:r>
              <a:rPr lang="en-US" sz="3400" spc="13" strike="noStrike" u="none">
                <a:solidFill>
                  <a:srgbClr val="FFFFFF"/>
                </a:solidFill>
                <a:latin typeface="Poppins"/>
                <a:ea typeface="Poppins"/>
                <a:cs typeface="Poppins"/>
                <a:sym typeface="Poppins"/>
              </a:rPr>
              <a:t>e</a:t>
            </a:r>
            <a:r>
              <a:rPr lang="en-US" sz="3400" spc="13" strike="noStrike" u="none">
                <a:solidFill>
                  <a:srgbClr val="FFFFFF"/>
                </a:solidFill>
                <a:latin typeface="Poppins"/>
                <a:ea typeface="Poppins"/>
                <a:cs typeface="Poppins"/>
                <a:sym typeface="Poppins"/>
              </a:rPr>
              <a:t>n</a:t>
            </a:r>
            <a:r>
              <a:rPr lang="en-US" sz="3400" spc="13" strike="noStrike" u="none">
                <a:solidFill>
                  <a:srgbClr val="FFFFFF"/>
                </a:solidFill>
                <a:latin typeface="Poppins"/>
                <a:ea typeface="Poppins"/>
                <a:cs typeface="Poppins"/>
                <a:sym typeface="Poppins"/>
              </a:rPr>
              <a:t>t</a:t>
            </a:r>
            <a:r>
              <a:rPr lang="en-US" sz="3400" spc="13" strike="noStrike" u="none">
                <a:solidFill>
                  <a:srgbClr val="FFFFFF"/>
                </a:solidFill>
                <a:latin typeface="Poppins"/>
                <a:ea typeface="Poppins"/>
                <a:cs typeface="Poppins"/>
                <a:sym typeface="Poppins"/>
              </a:rPr>
              <a:t> f</a:t>
            </a:r>
            <a:r>
              <a:rPr lang="en-US" sz="3400" spc="13" strike="noStrike" u="none">
                <a:solidFill>
                  <a:srgbClr val="FFFFFF"/>
                </a:solidFill>
                <a:latin typeface="Poppins"/>
                <a:ea typeface="Poppins"/>
                <a:cs typeface="Poppins"/>
                <a:sym typeface="Poppins"/>
              </a:rPr>
              <a:t>il</a:t>
            </a:r>
            <a:r>
              <a:rPr lang="en-US" sz="3400" spc="13" strike="noStrike" u="none">
                <a:solidFill>
                  <a:srgbClr val="FFFFFF"/>
                </a:solidFill>
                <a:latin typeface="Poppins"/>
                <a:ea typeface="Poppins"/>
                <a:cs typeface="Poppins"/>
                <a:sym typeface="Poppins"/>
              </a:rPr>
              <a:t>te</a:t>
            </a:r>
            <a:r>
              <a:rPr lang="en-US" sz="3400" spc="13" strike="noStrike" u="none">
                <a:solidFill>
                  <a:srgbClr val="FFFFFF"/>
                </a:solidFill>
                <a:latin typeface="Poppins"/>
                <a:ea typeface="Poppins"/>
                <a:cs typeface="Poppins"/>
                <a:sym typeface="Poppins"/>
              </a:rPr>
              <a:t>ri</a:t>
            </a:r>
            <a:r>
              <a:rPr lang="en-US" sz="3400" spc="13" strike="noStrike" u="none">
                <a:solidFill>
                  <a:srgbClr val="FFFFFF"/>
                </a:solidFill>
                <a:latin typeface="Poppins"/>
                <a:ea typeface="Poppins"/>
                <a:cs typeface="Poppins"/>
                <a:sym typeface="Poppins"/>
              </a:rPr>
              <a:t>ng</a:t>
            </a:r>
          </a:p>
          <a:p>
            <a:pPr algn="l" marL="734066" indent="-367033" lvl="1">
              <a:lnSpc>
                <a:spcPts val="5984"/>
              </a:lnSpc>
              <a:spcBef>
                <a:spcPct val="0"/>
              </a:spcBef>
              <a:buFont typeface="Arial"/>
              <a:buChar char="•"/>
            </a:pPr>
            <a:r>
              <a:rPr lang="en-US" sz="3400" spc="13" strike="noStrike" u="none">
                <a:solidFill>
                  <a:srgbClr val="FFFFFF"/>
                </a:solidFill>
                <a:latin typeface="Poppins"/>
                <a:ea typeface="Poppins"/>
                <a:cs typeface="Poppins"/>
                <a:sym typeface="Poppins"/>
              </a:rPr>
              <a:t>U</a:t>
            </a:r>
            <a:r>
              <a:rPr lang="en-US" sz="3400" spc="13" strike="noStrike" u="none">
                <a:solidFill>
                  <a:srgbClr val="FFFFFF"/>
                </a:solidFill>
                <a:latin typeface="Poppins"/>
                <a:ea typeface="Poppins"/>
                <a:cs typeface="Poppins"/>
                <a:sym typeface="Poppins"/>
              </a:rPr>
              <a:t>s</a:t>
            </a:r>
            <a:r>
              <a:rPr lang="en-US" sz="3400" spc="13" strike="noStrike" u="none">
                <a:solidFill>
                  <a:srgbClr val="FFFFFF"/>
                </a:solidFill>
                <a:latin typeface="Poppins"/>
                <a:ea typeface="Poppins"/>
                <a:cs typeface="Poppins"/>
                <a:sym typeface="Poppins"/>
              </a:rPr>
              <a:t>e</a:t>
            </a:r>
            <a:r>
              <a:rPr lang="en-US" sz="3400" spc="13" strike="noStrike" u="none">
                <a:solidFill>
                  <a:srgbClr val="FFFFFF"/>
                </a:solidFill>
                <a:latin typeface="Poppins"/>
                <a:ea typeface="Poppins"/>
                <a:cs typeface="Poppins"/>
                <a:sym typeface="Poppins"/>
              </a:rPr>
              <a:t>d </a:t>
            </a:r>
            <a:r>
              <a:rPr lang="en-US" sz="3400" spc="13" strike="noStrike" u="none">
                <a:solidFill>
                  <a:srgbClr val="FFFFFF"/>
                </a:solidFill>
                <a:latin typeface="Poppins"/>
                <a:ea typeface="Poppins"/>
                <a:cs typeface="Poppins"/>
                <a:sym typeface="Poppins"/>
              </a:rPr>
              <a:t>m</a:t>
            </a:r>
            <a:r>
              <a:rPr lang="en-US" sz="3400" spc="13" strike="noStrike" u="none">
                <a:solidFill>
                  <a:srgbClr val="FFFFFF"/>
                </a:solidFill>
                <a:latin typeface="Poppins"/>
                <a:ea typeface="Poppins"/>
                <a:cs typeface="Poppins"/>
                <a:sym typeface="Poppins"/>
              </a:rPr>
              <a:t>or</a:t>
            </a:r>
            <a:r>
              <a:rPr lang="en-US" sz="3400" spc="13" strike="noStrike" u="none">
                <a:solidFill>
                  <a:srgbClr val="FFFFFF"/>
                </a:solidFill>
                <a:latin typeface="Poppins"/>
                <a:ea typeface="Poppins"/>
                <a:cs typeface="Poppins"/>
                <a:sym typeface="Poppins"/>
              </a:rPr>
              <a:t>ph</a:t>
            </a:r>
            <a:r>
              <a:rPr lang="en-US" sz="3400" spc="13" strike="noStrike" u="none">
                <a:solidFill>
                  <a:srgbClr val="FFFFFF"/>
                </a:solidFill>
                <a:latin typeface="Poppins"/>
                <a:ea typeface="Poppins"/>
                <a:cs typeface="Poppins"/>
                <a:sym typeface="Poppins"/>
              </a:rPr>
              <a:t>olo</a:t>
            </a:r>
            <a:r>
              <a:rPr lang="en-US" sz="3400" spc="13" strike="noStrike" u="none">
                <a:solidFill>
                  <a:srgbClr val="FFFFFF"/>
                </a:solidFill>
                <a:latin typeface="Poppins"/>
                <a:ea typeface="Poppins"/>
                <a:cs typeface="Poppins"/>
                <a:sym typeface="Poppins"/>
              </a:rPr>
              <a:t>g</a:t>
            </a:r>
            <a:r>
              <a:rPr lang="en-US" sz="3400" spc="13" strike="noStrike" u="none">
                <a:solidFill>
                  <a:srgbClr val="FFFFFF"/>
                </a:solidFill>
                <a:latin typeface="Poppins"/>
                <a:ea typeface="Poppins"/>
                <a:cs typeface="Poppins"/>
                <a:sym typeface="Poppins"/>
              </a:rPr>
              <a:t>ica</a:t>
            </a:r>
            <a:r>
              <a:rPr lang="en-US" sz="3400" spc="13" strike="noStrike" u="none">
                <a:solidFill>
                  <a:srgbClr val="FFFFFF"/>
                </a:solidFill>
                <a:latin typeface="Poppins"/>
                <a:ea typeface="Poppins"/>
                <a:cs typeface="Poppins"/>
                <a:sym typeface="Poppins"/>
              </a:rPr>
              <a:t>l</a:t>
            </a:r>
            <a:r>
              <a:rPr lang="en-US" sz="3400" spc="13" strike="noStrike" u="none">
                <a:solidFill>
                  <a:srgbClr val="FFFFFF"/>
                </a:solidFill>
                <a:latin typeface="Poppins"/>
                <a:ea typeface="Poppins"/>
                <a:cs typeface="Poppins"/>
                <a:sym typeface="Poppins"/>
              </a:rPr>
              <a:t> sm</a:t>
            </a:r>
            <a:r>
              <a:rPr lang="en-US" sz="3400" spc="13" strike="noStrike" u="none">
                <a:solidFill>
                  <a:srgbClr val="FFFFFF"/>
                </a:solidFill>
                <a:latin typeface="Poppins"/>
                <a:ea typeface="Poppins"/>
                <a:cs typeface="Poppins"/>
                <a:sym typeface="Poppins"/>
              </a:rPr>
              <a:t>oo</a:t>
            </a:r>
            <a:r>
              <a:rPr lang="en-US" sz="3400" spc="13" strike="noStrike" u="none">
                <a:solidFill>
                  <a:srgbClr val="FFFFFF"/>
                </a:solidFill>
                <a:latin typeface="Poppins"/>
                <a:ea typeface="Poppins"/>
                <a:cs typeface="Poppins"/>
                <a:sym typeface="Poppins"/>
              </a:rPr>
              <a:t>t</a:t>
            </a:r>
            <a:r>
              <a:rPr lang="en-US" sz="3400" spc="13" strike="noStrike" u="none">
                <a:solidFill>
                  <a:srgbClr val="FFFFFF"/>
                </a:solidFill>
                <a:latin typeface="Poppins"/>
                <a:ea typeface="Poppins"/>
                <a:cs typeface="Poppins"/>
                <a:sym typeface="Poppins"/>
              </a:rPr>
              <a:t>h</a:t>
            </a:r>
            <a:r>
              <a:rPr lang="en-US" sz="3400" spc="13" strike="noStrike" u="none">
                <a:solidFill>
                  <a:srgbClr val="FFFFFF"/>
                </a:solidFill>
                <a:latin typeface="Poppins"/>
                <a:ea typeface="Poppins"/>
                <a:cs typeface="Poppins"/>
                <a:sym typeface="Poppins"/>
              </a:rPr>
              <a:t>in</a:t>
            </a:r>
            <a:r>
              <a:rPr lang="en-US" sz="3400" spc="13" strike="noStrike" u="none">
                <a:solidFill>
                  <a:srgbClr val="FFFFFF"/>
                </a:solidFill>
                <a:latin typeface="Poppins"/>
                <a:ea typeface="Poppins"/>
                <a:cs typeface="Poppins"/>
                <a:sym typeface="Poppins"/>
              </a:rPr>
              <a:t>g</a:t>
            </a:r>
          </a:p>
          <a:p>
            <a:pPr algn="l" marL="734066" indent="-367033" lvl="1">
              <a:lnSpc>
                <a:spcPts val="5984"/>
              </a:lnSpc>
              <a:spcBef>
                <a:spcPct val="0"/>
              </a:spcBef>
              <a:buFont typeface="Arial"/>
              <a:buChar char="•"/>
            </a:pPr>
            <a:r>
              <a:rPr lang="en-US" sz="3400" spc="13" strike="noStrike" u="none">
                <a:solidFill>
                  <a:srgbClr val="FFFFFF"/>
                </a:solidFill>
                <a:latin typeface="Poppins"/>
                <a:ea typeface="Poppins"/>
                <a:cs typeface="Poppins"/>
                <a:sym typeface="Poppins"/>
              </a:rPr>
              <a:t>P</a:t>
            </a:r>
            <a:r>
              <a:rPr lang="en-US" sz="3400" spc="13" strike="noStrike" u="none">
                <a:solidFill>
                  <a:srgbClr val="FFFFFF"/>
                </a:solidFill>
                <a:latin typeface="Poppins"/>
                <a:ea typeface="Poppins"/>
                <a:cs typeface="Poppins"/>
                <a:sym typeface="Poppins"/>
              </a:rPr>
              <a:t>e</a:t>
            </a:r>
            <a:r>
              <a:rPr lang="en-US" sz="3400" spc="13" strike="noStrike" u="none">
                <a:solidFill>
                  <a:srgbClr val="FFFFFF"/>
                </a:solidFill>
                <a:latin typeface="Poppins"/>
                <a:ea typeface="Poppins"/>
                <a:cs typeface="Poppins"/>
                <a:sym typeface="Poppins"/>
              </a:rPr>
              <a:t>r</a:t>
            </a:r>
            <a:r>
              <a:rPr lang="en-US" sz="3400" spc="13" strike="noStrike" u="none">
                <a:solidFill>
                  <a:srgbClr val="FFFFFF"/>
                </a:solidFill>
                <a:latin typeface="Poppins"/>
                <a:ea typeface="Poppins"/>
                <a:cs typeface="Poppins"/>
                <a:sym typeface="Poppins"/>
              </a:rPr>
              <a:t>form</a:t>
            </a:r>
            <a:r>
              <a:rPr lang="en-US" sz="3400" spc="13" strike="noStrike" u="none">
                <a:solidFill>
                  <a:srgbClr val="FFFFFF"/>
                </a:solidFill>
                <a:latin typeface="Poppins"/>
                <a:ea typeface="Poppins"/>
                <a:cs typeface="Poppins"/>
                <a:sym typeface="Poppins"/>
              </a:rPr>
              <a:t>ed</a:t>
            </a:r>
            <a:r>
              <a:rPr lang="en-US" sz="3400" spc="13" strike="noStrike" u="none">
                <a:solidFill>
                  <a:srgbClr val="FFFFFF"/>
                </a:solidFill>
                <a:latin typeface="Poppins"/>
                <a:ea typeface="Poppins"/>
                <a:cs typeface="Poppins"/>
                <a:sym typeface="Poppins"/>
              </a:rPr>
              <a:t> </a:t>
            </a:r>
            <a:r>
              <a:rPr lang="en-US" sz="3400" spc="13" strike="noStrike" u="none">
                <a:solidFill>
                  <a:srgbClr val="FFFFFF"/>
                </a:solidFill>
                <a:latin typeface="Poppins"/>
                <a:ea typeface="Poppins"/>
                <a:cs typeface="Poppins"/>
                <a:sym typeface="Poppins"/>
              </a:rPr>
              <a:t>c</a:t>
            </a:r>
            <a:r>
              <a:rPr lang="en-US" sz="3400" spc="13" strike="noStrike" u="none">
                <a:solidFill>
                  <a:srgbClr val="FFFFFF"/>
                </a:solidFill>
                <a:latin typeface="Poppins"/>
                <a:ea typeface="Poppins"/>
                <a:cs typeface="Poppins"/>
                <a:sym typeface="Poppins"/>
              </a:rPr>
              <a:t>la</a:t>
            </a:r>
            <a:r>
              <a:rPr lang="en-US" sz="3400" spc="13" strike="noStrike" u="none">
                <a:solidFill>
                  <a:srgbClr val="FFFFFF"/>
                </a:solidFill>
                <a:latin typeface="Poppins"/>
                <a:ea typeface="Poppins"/>
                <a:cs typeface="Poppins"/>
                <a:sym typeface="Poppins"/>
              </a:rPr>
              <a:t>ss</a:t>
            </a:r>
            <a:r>
              <a:rPr lang="en-US" sz="3400" spc="13" strike="noStrike" u="none">
                <a:solidFill>
                  <a:srgbClr val="FFFFFF"/>
                </a:solidFill>
                <a:latin typeface="Poppins"/>
                <a:ea typeface="Poppins"/>
                <a:cs typeface="Poppins"/>
                <a:sym typeface="Poppins"/>
              </a:rPr>
              <a:t>-w</a:t>
            </a:r>
            <a:r>
              <a:rPr lang="en-US" sz="3400" spc="13" strike="noStrike" u="none">
                <a:solidFill>
                  <a:srgbClr val="FFFFFF"/>
                </a:solidFill>
                <a:latin typeface="Poppins"/>
                <a:ea typeface="Poppins"/>
                <a:cs typeface="Poppins"/>
                <a:sym typeface="Poppins"/>
              </a:rPr>
              <a:t>i</a:t>
            </a:r>
            <a:r>
              <a:rPr lang="en-US" sz="3400" spc="13" strike="noStrike" u="none">
                <a:solidFill>
                  <a:srgbClr val="FFFFFF"/>
                </a:solidFill>
                <a:latin typeface="Poppins"/>
                <a:ea typeface="Poppins"/>
                <a:cs typeface="Poppins"/>
                <a:sym typeface="Poppins"/>
              </a:rPr>
              <a:t>s</a:t>
            </a:r>
            <a:r>
              <a:rPr lang="en-US" sz="3400" spc="13" strike="noStrike" u="none">
                <a:solidFill>
                  <a:srgbClr val="FFFFFF"/>
                </a:solidFill>
                <a:latin typeface="Poppins"/>
                <a:ea typeface="Poppins"/>
                <a:cs typeface="Poppins"/>
                <a:sym typeface="Poppins"/>
              </a:rPr>
              <a:t>e refine</a:t>
            </a:r>
            <a:r>
              <a:rPr lang="en-US" sz="3400" spc="13" strike="noStrike" u="none">
                <a:solidFill>
                  <a:srgbClr val="FFFFFF"/>
                </a:solidFill>
                <a:latin typeface="Poppins"/>
                <a:ea typeface="Poppins"/>
                <a:cs typeface="Poppins"/>
                <a:sym typeface="Poppins"/>
              </a:rPr>
              <a:t>m</a:t>
            </a:r>
            <a:r>
              <a:rPr lang="en-US" sz="3400" spc="13" strike="noStrike" u="none">
                <a:solidFill>
                  <a:srgbClr val="FFFFFF"/>
                </a:solidFill>
                <a:latin typeface="Poppins"/>
                <a:ea typeface="Poppins"/>
                <a:cs typeface="Poppins"/>
                <a:sym typeface="Poppins"/>
              </a:rPr>
              <a:t>ent</a:t>
            </a:r>
          </a:p>
          <a:p>
            <a:pPr algn="l">
              <a:lnSpc>
                <a:spcPts val="5984"/>
              </a:lnSpc>
              <a:spcBef>
                <a:spcPct val="0"/>
              </a:spcBef>
            </a:pPr>
            <a:r>
              <a:rPr lang="en-US" sz="3400" spc="13" strike="noStrike" u="none">
                <a:solidFill>
                  <a:srgbClr val="FFFFFF"/>
                </a:solidFill>
                <a:latin typeface="Poppins"/>
                <a:ea typeface="Poppins"/>
                <a:cs typeface="Poppins"/>
                <a:sym typeface="Poppins"/>
              </a:rPr>
              <a:t>   Result:</a:t>
            </a:r>
          </a:p>
          <a:p>
            <a:pPr algn="l" marL="734066" indent="-367033" lvl="1">
              <a:lnSpc>
                <a:spcPts val="5984"/>
              </a:lnSpc>
              <a:buFont typeface="Arial"/>
              <a:buChar char="•"/>
            </a:pPr>
            <a:r>
              <a:rPr lang="en-US" sz="3400" spc="13" strike="noStrike" u="none">
                <a:solidFill>
                  <a:srgbClr val="FFFFFF"/>
                </a:solidFill>
                <a:latin typeface="Poppins"/>
                <a:ea typeface="Poppins"/>
                <a:cs typeface="Poppins"/>
                <a:sym typeface="Poppins"/>
              </a:rPr>
              <a:t>Cleaner segmentation</a:t>
            </a:r>
          </a:p>
          <a:p>
            <a:pPr algn="l" marL="734066" indent="-367033" lvl="1">
              <a:lnSpc>
                <a:spcPts val="5984"/>
              </a:lnSpc>
              <a:buFont typeface="Arial"/>
              <a:buChar char="•"/>
            </a:pPr>
            <a:r>
              <a:rPr lang="en-US" sz="3400" spc="13" strike="noStrike" u="none">
                <a:solidFill>
                  <a:srgbClr val="FFFFFF"/>
                </a:solidFill>
                <a:latin typeface="Poppins"/>
                <a:ea typeface="Poppins"/>
                <a:cs typeface="Poppins"/>
                <a:sym typeface="Poppins"/>
              </a:rPr>
              <a:t>Improved boundaries</a:t>
            </a:r>
          </a:p>
          <a:p>
            <a:pPr algn="l" marL="734066" indent="-367033" lvl="1">
              <a:lnSpc>
                <a:spcPts val="5984"/>
              </a:lnSpc>
              <a:buFont typeface="Arial"/>
              <a:buChar char="•"/>
            </a:pPr>
            <a:r>
              <a:rPr lang="en-US" sz="3400" spc="13" strike="noStrike" u="none">
                <a:solidFill>
                  <a:srgbClr val="FFFFFF"/>
                </a:solidFill>
                <a:latin typeface="Poppins"/>
                <a:ea typeface="Poppins"/>
                <a:cs typeface="Poppins"/>
                <a:sym typeface="Poppins"/>
              </a:rPr>
              <a:t>More accurate and realistic output</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sp>
        <p:nvSpPr>
          <p:cNvPr name="TextBox 2" id="2"/>
          <p:cNvSpPr txBox="true"/>
          <p:nvPr/>
        </p:nvSpPr>
        <p:spPr>
          <a:xfrm rot="0">
            <a:off x="1028700" y="1681654"/>
            <a:ext cx="15015373" cy="896711"/>
          </a:xfrm>
          <a:prstGeom prst="rect">
            <a:avLst/>
          </a:prstGeom>
        </p:spPr>
        <p:txBody>
          <a:bodyPr anchor="t" rtlCol="false" tIns="0" lIns="0" bIns="0" rIns="0">
            <a:spAutoFit/>
          </a:bodyPr>
          <a:lstStyle/>
          <a:p>
            <a:pPr algn="l" marL="0" indent="0" lvl="0">
              <a:lnSpc>
                <a:spcPts val="6435"/>
              </a:lnSpc>
              <a:spcBef>
                <a:spcPct val="0"/>
              </a:spcBef>
            </a:pPr>
            <a:r>
              <a:rPr lang="en-US" b="true" sz="6309" strike="noStrike" u="none">
                <a:solidFill>
                  <a:srgbClr val="333333"/>
                </a:solidFill>
                <a:latin typeface="Poppins Bold"/>
                <a:ea typeface="Poppins Bold"/>
                <a:cs typeface="Poppins Bold"/>
                <a:sym typeface="Poppins Bold"/>
              </a:rPr>
              <a:t>Results</a:t>
            </a:r>
          </a:p>
        </p:txBody>
      </p:sp>
      <p:sp>
        <p:nvSpPr>
          <p:cNvPr name="TextBox 3" id="3"/>
          <p:cNvSpPr txBox="true"/>
          <p:nvPr/>
        </p:nvSpPr>
        <p:spPr>
          <a:xfrm rot="0">
            <a:off x="1028700" y="3125055"/>
            <a:ext cx="11139816" cy="5244591"/>
          </a:xfrm>
          <a:prstGeom prst="rect">
            <a:avLst/>
          </a:prstGeom>
        </p:spPr>
        <p:txBody>
          <a:bodyPr anchor="t" rtlCol="false" tIns="0" lIns="0" bIns="0" rIns="0">
            <a:spAutoFit/>
          </a:bodyPr>
          <a:lstStyle/>
          <a:p>
            <a:pPr algn="l" marL="734064" indent="-367032" lvl="1">
              <a:lnSpc>
                <a:spcPts val="5984"/>
              </a:lnSpc>
              <a:buFont typeface="Arial"/>
              <a:buChar char="•"/>
            </a:pPr>
            <a:r>
              <a:rPr lang="en-US" sz="3400" spc="-221">
                <a:solidFill>
                  <a:srgbClr val="333333"/>
                </a:solidFill>
                <a:latin typeface="Poppins"/>
                <a:ea typeface="Poppins"/>
                <a:cs typeface="Poppins"/>
                <a:sym typeface="Poppins"/>
              </a:rPr>
              <a:t>Accurate multi-class segmentation (Road, Roof, Water, Utility)</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Clear roof-type classification (RCC / Tiled / Asbestos)</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Seam-free, noise-reduced outputs after post-processing</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High-resolution stitched maps for entire villages</a:t>
            </a:r>
          </a:p>
          <a:p>
            <a:pPr algn="l" marL="734064" indent="-367032" lvl="1">
              <a:lnSpc>
                <a:spcPts val="5984"/>
              </a:lnSpc>
              <a:spcBef>
                <a:spcPct val="0"/>
              </a:spcBef>
              <a:buFont typeface="Arial"/>
              <a:buChar char="•"/>
            </a:pPr>
            <a:r>
              <a:rPr lang="en-US" sz="3400" spc="-221">
                <a:solidFill>
                  <a:srgbClr val="333333"/>
                </a:solidFill>
                <a:latin typeface="Poppins"/>
                <a:ea typeface="Poppins"/>
                <a:cs typeface="Poppins"/>
                <a:sym typeface="Poppins"/>
              </a:rPr>
              <a:t>Visually interpretable overlays for real-world use</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Freeform 2" id="2"/>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
        <p:nvSpPr>
          <p:cNvPr name="Freeform 3" id="3"/>
          <p:cNvSpPr/>
          <p:nvPr/>
        </p:nvSpPr>
        <p:spPr>
          <a:xfrm flipH="false" flipV="false" rot="0">
            <a:off x="1311542" y="1486086"/>
            <a:ext cx="15664916" cy="7249019"/>
          </a:xfrm>
          <a:custGeom>
            <a:avLst/>
            <a:gdLst/>
            <a:ahLst/>
            <a:cxnLst/>
            <a:rect r="r" b="b" t="t" l="l"/>
            <a:pathLst>
              <a:path h="7249019" w="15664916">
                <a:moveTo>
                  <a:pt x="0" y="0"/>
                </a:moveTo>
                <a:lnTo>
                  <a:pt x="15664916" y="0"/>
                </a:lnTo>
                <a:lnTo>
                  <a:pt x="15664916" y="7249019"/>
                </a:lnTo>
                <a:lnTo>
                  <a:pt x="0" y="7249019"/>
                </a:lnTo>
                <a:lnTo>
                  <a:pt x="0" y="0"/>
                </a:lnTo>
                <a:close/>
              </a:path>
            </a:pathLst>
          </a:custGeom>
          <a:blipFill>
            <a:blip r:embed="rId3"/>
            <a:stretch>
              <a:fillRect l="-543" t="-5633" r="-3041" b="-7510"/>
            </a:stretch>
          </a:blipFill>
        </p:spPr>
      </p:sp>
      <p:sp>
        <p:nvSpPr>
          <p:cNvPr name="TextBox 4" id="4"/>
          <p:cNvSpPr txBox="true"/>
          <p:nvPr/>
        </p:nvSpPr>
        <p:spPr>
          <a:xfrm rot="0">
            <a:off x="1636314" y="415446"/>
            <a:ext cx="15015373" cy="896711"/>
          </a:xfrm>
          <a:prstGeom prst="rect">
            <a:avLst/>
          </a:prstGeom>
        </p:spPr>
        <p:txBody>
          <a:bodyPr anchor="t" rtlCol="false" tIns="0" lIns="0" bIns="0" rIns="0">
            <a:spAutoFit/>
          </a:bodyPr>
          <a:lstStyle/>
          <a:p>
            <a:pPr algn="ctr" marL="0" indent="0" lvl="0">
              <a:lnSpc>
                <a:spcPts val="6435"/>
              </a:lnSpc>
              <a:spcBef>
                <a:spcPct val="0"/>
              </a:spcBef>
            </a:pPr>
            <a:r>
              <a:rPr lang="en-US" b="true" sz="6309">
                <a:solidFill>
                  <a:srgbClr val="333333"/>
                </a:solidFill>
                <a:latin typeface="Poppins Bold"/>
                <a:ea typeface="Poppins Bold"/>
                <a:cs typeface="Poppins Bold"/>
                <a:sym typeface="Poppins Bold"/>
              </a:rPr>
              <a:t>Visualization (After Stitching)</a:t>
            </a:r>
          </a:p>
        </p:txBody>
      </p:sp>
      <p:sp>
        <p:nvSpPr>
          <p:cNvPr name="TextBox 5" id="5"/>
          <p:cNvSpPr txBox="true"/>
          <p:nvPr/>
        </p:nvSpPr>
        <p:spPr>
          <a:xfrm rot="0">
            <a:off x="6928446" y="8834438"/>
            <a:ext cx="4703337" cy="1215646"/>
          </a:xfrm>
          <a:prstGeom prst="rect">
            <a:avLst/>
          </a:prstGeom>
        </p:spPr>
        <p:txBody>
          <a:bodyPr anchor="t" rtlCol="false" tIns="0" lIns="0" bIns="0" rIns="0">
            <a:spAutoFit/>
          </a:bodyPr>
          <a:lstStyle/>
          <a:p>
            <a:pPr algn="ctr">
              <a:lnSpc>
                <a:spcPts val="2391"/>
              </a:lnSpc>
            </a:pPr>
            <a:r>
              <a:rPr lang="en-US" sz="2344" b="true">
                <a:solidFill>
                  <a:srgbClr val="333333"/>
                </a:solidFill>
                <a:latin typeface="Poppins Bold"/>
                <a:ea typeface="Poppins Bold"/>
                <a:cs typeface="Poppins Bold"/>
                <a:sym typeface="Poppins Bold"/>
              </a:rPr>
              <a:t>Road - Neon green</a:t>
            </a:r>
          </a:p>
          <a:p>
            <a:pPr algn="ctr">
              <a:lnSpc>
                <a:spcPts val="2391"/>
              </a:lnSpc>
            </a:pPr>
            <a:r>
              <a:rPr lang="en-US" sz="2344" b="true">
                <a:solidFill>
                  <a:srgbClr val="333333"/>
                </a:solidFill>
                <a:latin typeface="Poppins Bold"/>
                <a:ea typeface="Poppins Bold"/>
                <a:cs typeface="Poppins Bold"/>
                <a:sym typeface="Poppins Bold"/>
              </a:rPr>
              <a:t>Roof - Light Red</a:t>
            </a:r>
          </a:p>
          <a:p>
            <a:pPr algn="ctr">
              <a:lnSpc>
                <a:spcPts val="2391"/>
              </a:lnSpc>
            </a:pPr>
            <a:r>
              <a:rPr lang="en-US" sz="2344" b="true">
                <a:solidFill>
                  <a:srgbClr val="333333"/>
                </a:solidFill>
                <a:latin typeface="Poppins Bold"/>
                <a:ea typeface="Poppins Bold"/>
                <a:cs typeface="Poppins Bold"/>
                <a:sym typeface="Poppins Bold"/>
              </a:rPr>
              <a:t>Water - Blue</a:t>
            </a:r>
          </a:p>
          <a:p>
            <a:pPr algn="ctr">
              <a:lnSpc>
                <a:spcPts val="2391"/>
              </a:lnSpc>
            </a:pPr>
            <a:r>
              <a:rPr lang="en-US" b="true" sz="2344">
                <a:solidFill>
                  <a:srgbClr val="333333"/>
                </a:solidFill>
                <a:latin typeface="Poppins Bold"/>
                <a:ea typeface="Poppins Bold"/>
                <a:cs typeface="Poppins Bold"/>
                <a:sym typeface="Poppins Bold"/>
              </a:rPr>
              <a:t>Background - Black</a:t>
            </a:r>
          </a:p>
        </p:txBody>
      </p:sp>
      <p:sp>
        <p:nvSpPr>
          <p:cNvPr name="TextBox 6" id="6"/>
          <p:cNvSpPr txBox="true"/>
          <p:nvPr/>
        </p:nvSpPr>
        <p:spPr>
          <a:xfrm rot="0">
            <a:off x="4528705" y="9205000"/>
            <a:ext cx="4703337" cy="329821"/>
          </a:xfrm>
          <a:prstGeom prst="rect">
            <a:avLst/>
          </a:prstGeom>
        </p:spPr>
        <p:txBody>
          <a:bodyPr anchor="t" rtlCol="false" tIns="0" lIns="0" bIns="0" rIns="0">
            <a:spAutoFit/>
          </a:bodyPr>
          <a:lstStyle/>
          <a:p>
            <a:pPr algn="ctr">
              <a:lnSpc>
                <a:spcPts val="2391"/>
              </a:lnSpc>
            </a:pPr>
            <a:r>
              <a:rPr lang="en-US" b="true" sz="2344">
                <a:solidFill>
                  <a:srgbClr val="333333"/>
                </a:solidFill>
                <a:latin typeface="Poppins Bold"/>
                <a:ea typeface="Poppins Bold"/>
                <a:cs typeface="Poppins Bold"/>
                <a:sym typeface="Poppins Bold"/>
              </a:rPr>
              <a:t>Legends: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0E8D1"/>
        </a:solidFill>
      </p:bgPr>
    </p:bg>
    <p:spTree>
      <p:nvGrpSpPr>
        <p:cNvPr id="1" name=""/>
        <p:cNvGrpSpPr/>
        <p:nvPr/>
      </p:nvGrpSpPr>
      <p:grpSpPr>
        <a:xfrm>
          <a:off x="0" y="0"/>
          <a:ext cx="0" cy="0"/>
          <a:chOff x="0" y="0"/>
          <a:chExt cx="0" cy="0"/>
        </a:xfrm>
      </p:grpSpPr>
      <p:sp>
        <p:nvSpPr>
          <p:cNvPr name="TextBox 2" id="2"/>
          <p:cNvSpPr txBox="true"/>
          <p:nvPr/>
        </p:nvSpPr>
        <p:spPr>
          <a:xfrm rot="0">
            <a:off x="1636314" y="2625048"/>
            <a:ext cx="15015373" cy="896711"/>
          </a:xfrm>
          <a:prstGeom prst="rect">
            <a:avLst/>
          </a:prstGeom>
        </p:spPr>
        <p:txBody>
          <a:bodyPr anchor="t" rtlCol="false" tIns="0" lIns="0" bIns="0" rIns="0">
            <a:spAutoFit/>
          </a:bodyPr>
          <a:lstStyle/>
          <a:p>
            <a:pPr algn="l" marL="0" indent="0" lvl="0">
              <a:lnSpc>
                <a:spcPts val="6435"/>
              </a:lnSpc>
              <a:spcBef>
                <a:spcPct val="0"/>
              </a:spcBef>
            </a:pPr>
            <a:r>
              <a:rPr lang="en-US" b="true" sz="6309">
                <a:solidFill>
                  <a:srgbClr val="333333"/>
                </a:solidFill>
                <a:latin typeface="Poppins Bold"/>
                <a:ea typeface="Poppins Bold"/>
                <a:cs typeface="Poppins Bold"/>
                <a:sym typeface="Poppins Bold"/>
              </a:rPr>
              <a:t>GeoJSON Export</a:t>
            </a:r>
          </a:p>
        </p:txBody>
      </p:sp>
      <p:sp>
        <p:nvSpPr>
          <p:cNvPr name="TextBox 3" id="3"/>
          <p:cNvSpPr txBox="true"/>
          <p:nvPr/>
        </p:nvSpPr>
        <p:spPr>
          <a:xfrm rot="0">
            <a:off x="1028700" y="4027432"/>
            <a:ext cx="11139816" cy="3739641"/>
          </a:xfrm>
          <a:prstGeom prst="rect">
            <a:avLst/>
          </a:prstGeom>
        </p:spPr>
        <p:txBody>
          <a:bodyPr anchor="t" rtlCol="false" tIns="0" lIns="0" bIns="0" rIns="0">
            <a:spAutoFit/>
          </a:bodyPr>
          <a:lstStyle/>
          <a:p>
            <a:pPr algn="l" marL="734064" indent="-367032" lvl="1">
              <a:lnSpc>
                <a:spcPts val="5984"/>
              </a:lnSpc>
              <a:buFont typeface="Arial"/>
              <a:buChar char="•"/>
            </a:pPr>
            <a:r>
              <a:rPr lang="en-US" sz="3400" spc="-221">
                <a:solidFill>
                  <a:srgbClr val="333333"/>
                </a:solidFill>
                <a:latin typeface="Poppins"/>
                <a:ea typeface="Poppins"/>
                <a:cs typeface="Poppins"/>
                <a:sym typeface="Poppins"/>
              </a:rPr>
              <a:t>Converted segmentation masks → polygon features</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Preserved geo-coordinates from GeoTIFF</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Generated GIS-ready GeoJSON outputs</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Compatible with QGIS, ArcGIS, and web maps</a:t>
            </a:r>
          </a:p>
          <a:p>
            <a:pPr algn="l" marL="734064" indent="-367032" lvl="1">
              <a:lnSpc>
                <a:spcPts val="5984"/>
              </a:lnSpc>
              <a:buFont typeface="Arial"/>
              <a:buChar char="•"/>
            </a:pPr>
            <a:r>
              <a:rPr lang="en-US" sz="3400" spc="-221">
                <a:solidFill>
                  <a:srgbClr val="333333"/>
                </a:solidFill>
                <a:latin typeface="Poppins"/>
                <a:ea typeface="Poppins"/>
                <a:cs typeface="Poppins"/>
                <a:sym typeface="Poppins"/>
              </a:rPr>
              <a:t>Enables real-world geospatial analysis</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721444" y="768143"/>
            <a:ext cx="14262457" cy="982855"/>
          </a:xfrm>
          <a:prstGeom prst="rect">
            <a:avLst/>
          </a:prstGeom>
        </p:spPr>
        <p:txBody>
          <a:bodyPr anchor="t" rtlCol="false" tIns="0" lIns="0" bIns="0" rIns="0">
            <a:spAutoFit/>
          </a:bodyPr>
          <a:lstStyle/>
          <a:p>
            <a:pPr algn="l" marL="0" indent="0" lvl="0">
              <a:lnSpc>
                <a:spcPts val="6936"/>
              </a:lnSpc>
              <a:spcBef>
                <a:spcPct val="0"/>
              </a:spcBef>
            </a:pPr>
            <a:r>
              <a:rPr lang="en-US" b="true" sz="6800">
                <a:solidFill>
                  <a:srgbClr val="FFFFFF"/>
                </a:solidFill>
                <a:latin typeface="Poppins Bold"/>
                <a:ea typeface="Poppins Bold"/>
                <a:cs typeface="Poppins Bold"/>
                <a:sym typeface="Poppins Bold"/>
              </a:rPr>
              <a:t>Exp</a:t>
            </a:r>
            <a:r>
              <a:rPr lang="en-US" b="true" sz="6800" strike="noStrike" u="none">
                <a:solidFill>
                  <a:srgbClr val="FFFFFF"/>
                </a:solidFill>
                <a:latin typeface="Poppins Bold"/>
                <a:ea typeface="Poppins Bold"/>
                <a:cs typeface="Poppins Bold"/>
                <a:sym typeface="Poppins Bold"/>
              </a:rPr>
              <a:t>ec</a:t>
            </a:r>
            <a:r>
              <a:rPr lang="en-US" b="true" sz="6800" strike="noStrike" u="none">
                <a:solidFill>
                  <a:srgbClr val="FFFFFF"/>
                </a:solidFill>
                <a:latin typeface="Poppins Bold"/>
                <a:ea typeface="Poppins Bold"/>
                <a:cs typeface="Poppins Bold"/>
                <a:sym typeface="Poppins Bold"/>
              </a:rPr>
              <a:t>ted</a:t>
            </a:r>
            <a:r>
              <a:rPr lang="en-US" b="true" sz="6800" strike="noStrike" u="none">
                <a:solidFill>
                  <a:srgbClr val="FFFFFF"/>
                </a:solidFill>
                <a:latin typeface="Poppins Bold"/>
                <a:ea typeface="Poppins Bold"/>
                <a:cs typeface="Poppins Bold"/>
                <a:sym typeface="Poppins Bold"/>
              </a:rPr>
              <a:t> I</a:t>
            </a:r>
            <a:r>
              <a:rPr lang="en-US" b="true" sz="6800" strike="noStrike" u="none">
                <a:solidFill>
                  <a:srgbClr val="FFFFFF"/>
                </a:solidFill>
                <a:latin typeface="Poppins Bold"/>
                <a:ea typeface="Poppins Bold"/>
                <a:cs typeface="Poppins Bold"/>
                <a:sym typeface="Poppins Bold"/>
              </a:rPr>
              <a:t>mp</a:t>
            </a:r>
            <a:r>
              <a:rPr lang="en-US" b="true" sz="6800" strike="noStrike" u="none">
                <a:solidFill>
                  <a:srgbClr val="FFFFFF"/>
                </a:solidFill>
                <a:latin typeface="Poppins Bold"/>
                <a:ea typeface="Poppins Bold"/>
                <a:cs typeface="Poppins Bold"/>
                <a:sym typeface="Poppins Bold"/>
              </a:rPr>
              <a:t>a</a:t>
            </a:r>
            <a:r>
              <a:rPr lang="en-US" b="true" sz="6800" strike="noStrike" u="none">
                <a:solidFill>
                  <a:srgbClr val="FFFFFF"/>
                </a:solidFill>
                <a:latin typeface="Poppins Bold"/>
                <a:ea typeface="Poppins Bold"/>
                <a:cs typeface="Poppins Bold"/>
                <a:sym typeface="Poppins Bold"/>
              </a:rPr>
              <a:t>c</a:t>
            </a:r>
            <a:r>
              <a:rPr lang="en-US" b="true" sz="6800" strike="noStrike" u="none">
                <a:solidFill>
                  <a:srgbClr val="FFFFFF"/>
                </a:solidFill>
                <a:latin typeface="Poppins Bold"/>
                <a:ea typeface="Poppins Bold"/>
                <a:cs typeface="Poppins Bold"/>
                <a:sym typeface="Poppins Bold"/>
              </a:rPr>
              <a:t>t</a:t>
            </a:r>
          </a:p>
        </p:txBody>
      </p:sp>
      <p:sp>
        <p:nvSpPr>
          <p:cNvPr name="TextBox 3" id="3"/>
          <p:cNvSpPr txBox="true"/>
          <p:nvPr/>
        </p:nvSpPr>
        <p:spPr>
          <a:xfrm rot="0">
            <a:off x="1028700" y="2125037"/>
            <a:ext cx="16464922" cy="7419212"/>
          </a:xfrm>
          <a:prstGeom prst="rect">
            <a:avLst/>
          </a:prstGeom>
        </p:spPr>
        <p:txBody>
          <a:bodyPr anchor="t" rtlCol="false" tIns="0" lIns="0" bIns="0" rIns="0">
            <a:spAutoFit/>
          </a:bodyPr>
          <a:lstStyle/>
          <a:p>
            <a:pPr algn="l" marL="690885" indent="-345443" lvl="1">
              <a:lnSpc>
                <a:spcPts val="4896"/>
              </a:lnSpc>
              <a:buFont typeface="Arial"/>
              <a:buChar char="•"/>
            </a:pPr>
            <a:r>
              <a:rPr lang="en-US" sz="3200" spc="-38">
                <a:solidFill>
                  <a:srgbClr val="FFFFFF"/>
                </a:solidFill>
                <a:latin typeface="Poppins"/>
                <a:ea typeface="Poppins"/>
                <a:cs typeface="Poppins"/>
                <a:sym typeface="Poppins"/>
              </a:rPr>
              <a:t>A</a:t>
            </a:r>
            <a:r>
              <a:rPr lang="en-US" sz="3200" spc="-38">
                <a:solidFill>
                  <a:srgbClr val="FFFFFF"/>
                </a:solidFill>
                <a:latin typeface="Poppins"/>
                <a:ea typeface="Poppins"/>
                <a:cs typeface="Poppins"/>
                <a:sym typeface="Poppins"/>
              </a:rPr>
              <a:t>utomates infrastructure mapping from satellite images, reducing manual surveys and improving efficiency</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Environmental: Enables accurate monitoring of water bodies, supporting sustainable management and environmental protection</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Social: Enhances rural planning by identifying roads, housing clusters, and utilities, improving accessibility and living standards</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Economic: Reduces time, labor, and costs of traditional surveys while enabling data-driven resource allocation</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Governance: Assists Panchayati Raj institutions with reliable geospatial data for planning, decision-making, and disaster response</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Converts raw satellite imagery into actionable insights, enabling faster and smarter rural development</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1028700" y="1032593"/>
            <a:ext cx="12590191" cy="984340"/>
          </a:xfrm>
          <a:prstGeom prst="rect">
            <a:avLst/>
          </a:prstGeom>
        </p:spPr>
        <p:txBody>
          <a:bodyPr anchor="t" rtlCol="false" tIns="0" lIns="0" bIns="0" rIns="0">
            <a:spAutoFit/>
          </a:bodyPr>
          <a:lstStyle/>
          <a:p>
            <a:pPr algn="l" marL="0" indent="0" lvl="0">
              <a:lnSpc>
                <a:spcPts val="6945"/>
              </a:lnSpc>
              <a:spcBef>
                <a:spcPct val="0"/>
              </a:spcBef>
            </a:pPr>
            <a:r>
              <a:rPr lang="en-US" b="true" sz="6809" strike="noStrike" u="none">
                <a:solidFill>
                  <a:srgbClr val="070404"/>
                </a:solidFill>
                <a:latin typeface="Poppins Bold"/>
                <a:ea typeface="Poppins Bold"/>
                <a:cs typeface="Poppins Bold"/>
                <a:sym typeface="Poppins Bold"/>
              </a:rPr>
              <a:t>Scalability &amp; Feasibility</a:t>
            </a:r>
          </a:p>
        </p:txBody>
      </p:sp>
      <p:sp>
        <p:nvSpPr>
          <p:cNvPr name="TextBox 3" id="3"/>
          <p:cNvSpPr txBox="true"/>
          <p:nvPr/>
        </p:nvSpPr>
        <p:spPr>
          <a:xfrm rot="0">
            <a:off x="1028700" y="2760313"/>
            <a:ext cx="15427436" cy="5244590"/>
          </a:xfrm>
          <a:prstGeom prst="rect">
            <a:avLst/>
          </a:prstGeom>
        </p:spPr>
        <p:txBody>
          <a:bodyPr anchor="t" rtlCol="false" tIns="0" lIns="0" bIns="0" rIns="0">
            <a:spAutoFit/>
          </a:bodyPr>
          <a:lstStyle/>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Tile-based processing enables handling of large satellite images</a:t>
            </a:r>
          </a:p>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Works across multiple villages with consistent preprocessing pipeline</a:t>
            </a:r>
          </a:p>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Modular design allows easy addition of new classes/features</a:t>
            </a:r>
          </a:p>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Lightweight models (MobileNet) support low-resource deployment</a:t>
            </a:r>
          </a:p>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High-performance models (MIT-B2) for server-side accuracy</a:t>
            </a:r>
          </a:p>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Compatible with GIS systems for real-world integration</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2012771" y="2294138"/>
            <a:ext cx="14262457" cy="835152"/>
          </a:xfrm>
          <a:prstGeom prst="rect">
            <a:avLst/>
          </a:prstGeom>
        </p:spPr>
        <p:txBody>
          <a:bodyPr anchor="t" rtlCol="false" tIns="0" lIns="0" bIns="0" rIns="0">
            <a:spAutoFit/>
          </a:bodyPr>
          <a:lstStyle/>
          <a:p>
            <a:pPr algn="ctr" marL="0" indent="0" lvl="0">
              <a:lnSpc>
                <a:spcPts val="5814"/>
              </a:lnSpc>
              <a:spcBef>
                <a:spcPct val="0"/>
              </a:spcBef>
            </a:pPr>
            <a:r>
              <a:rPr lang="en-US" b="true" sz="5700">
                <a:solidFill>
                  <a:srgbClr val="FFFFFF"/>
                </a:solidFill>
                <a:latin typeface="Poppins Bold"/>
                <a:ea typeface="Poppins Bold"/>
                <a:cs typeface="Poppins Bold"/>
                <a:sym typeface="Poppins Bold"/>
              </a:rPr>
              <a:t>Future Works - Knowledge Distillation</a:t>
            </a:r>
          </a:p>
        </p:txBody>
      </p:sp>
      <p:sp>
        <p:nvSpPr>
          <p:cNvPr name="TextBox 3" id="3"/>
          <p:cNvSpPr txBox="true"/>
          <p:nvPr/>
        </p:nvSpPr>
        <p:spPr>
          <a:xfrm rot="0">
            <a:off x="1028700" y="3770077"/>
            <a:ext cx="16464922" cy="4323587"/>
          </a:xfrm>
          <a:prstGeom prst="rect">
            <a:avLst/>
          </a:prstGeom>
        </p:spPr>
        <p:txBody>
          <a:bodyPr anchor="t" rtlCol="false" tIns="0" lIns="0" bIns="0" rIns="0">
            <a:spAutoFit/>
          </a:bodyPr>
          <a:lstStyle/>
          <a:p>
            <a:pPr algn="l" marL="690885" indent="-345443" lvl="1">
              <a:lnSpc>
                <a:spcPts val="4896"/>
              </a:lnSpc>
              <a:buFont typeface="Arial"/>
              <a:buChar char="•"/>
            </a:pPr>
            <a:r>
              <a:rPr lang="en-US" sz="3200" spc="-38">
                <a:solidFill>
                  <a:srgbClr val="FFFFFF"/>
                </a:solidFill>
                <a:latin typeface="Poppins"/>
                <a:ea typeface="Poppins"/>
                <a:cs typeface="Poppins"/>
                <a:sym typeface="Poppins"/>
              </a:rPr>
              <a:t>In</a:t>
            </a:r>
            <a:r>
              <a:rPr lang="en-US" sz="3200" spc="-38">
                <a:solidFill>
                  <a:srgbClr val="FFFFFF"/>
                </a:solidFill>
                <a:latin typeface="Poppins"/>
                <a:ea typeface="Poppins"/>
                <a:cs typeface="Poppins"/>
                <a:sym typeface="Poppins"/>
              </a:rPr>
              <a:t> future work, knowledge distillation will be used to compress the trained DeepLabV3+ model by transferring its learned representations into a more efficient version. </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This helps reduce model size and computational requirements while retaining most of the original performance. </a:t>
            </a:r>
          </a:p>
          <a:p>
            <a:pPr algn="l" marL="690885" indent="-345443" lvl="1">
              <a:lnSpc>
                <a:spcPts val="4896"/>
              </a:lnSpc>
              <a:buFont typeface="Arial"/>
              <a:buChar char="•"/>
            </a:pPr>
            <a:r>
              <a:rPr lang="en-US" sz="3200" spc="-38">
                <a:solidFill>
                  <a:srgbClr val="FFFFFF"/>
                </a:solidFill>
                <a:latin typeface="Poppins"/>
                <a:ea typeface="Poppins"/>
                <a:cs typeface="Poppins"/>
                <a:sym typeface="Poppins"/>
              </a:rPr>
              <a:t>As a result, inference becomes faster and the system becomes more suitable for real-time applications and deployment on resource-constrained devices.</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1028700" y="1032593"/>
            <a:ext cx="12590191" cy="984340"/>
          </a:xfrm>
          <a:prstGeom prst="rect">
            <a:avLst/>
          </a:prstGeom>
        </p:spPr>
        <p:txBody>
          <a:bodyPr anchor="t" rtlCol="false" tIns="0" lIns="0" bIns="0" rIns="0">
            <a:spAutoFit/>
          </a:bodyPr>
          <a:lstStyle/>
          <a:p>
            <a:pPr algn="l" marL="0" indent="0" lvl="0">
              <a:lnSpc>
                <a:spcPts val="6945"/>
              </a:lnSpc>
              <a:spcBef>
                <a:spcPct val="0"/>
              </a:spcBef>
            </a:pPr>
            <a:r>
              <a:rPr lang="en-US" b="true" sz="6809">
                <a:solidFill>
                  <a:srgbClr val="070404"/>
                </a:solidFill>
                <a:latin typeface="Poppins Bold"/>
                <a:ea typeface="Poppins Bold"/>
                <a:cs typeface="Poppins Bold"/>
                <a:sym typeface="Poppins Bold"/>
              </a:rPr>
              <a:t>Conclusion</a:t>
            </a:r>
          </a:p>
        </p:txBody>
      </p:sp>
      <p:sp>
        <p:nvSpPr>
          <p:cNvPr name="TextBox 3" id="3"/>
          <p:cNvSpPr txBox="true"/>
          <p:nvPr/>
        </p:nvSpPr>
        <p:spPr>
          <a:xfrm rot="0">
            <a:off x="728776" y="2133199"/>
            <a:ext cx="15427436" cy="6749540"/>
          </a:xfrm>
          <a:prstGeom prst="rect">
            <a:avLst/>
          </a:prstGeom>
        </p:spPr>
        <p:txBody>
          <a:bodyPr anchor="t" rtlCol="false" tIns="0" lIns="0" bIns="0" rIns="0">
            <a:spAutoFit/>
          </a:bodyPr>
          <a:lstStyle/>
          <a:p>
            <a:pPr algn="l" marL="734066" indent="-367033" lvl="1">
              <a:lnSpc>
                <a:spcPts val="5984"/>
              </a:lnSpc>
              <a:spcBef>
                <a:spcPct val="0"/>
              </a:spcBef>
              <a:buFont typeface="Arial"/>
              <a:buChar char="•"/>
            </a:pP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h</a:t>
            </a:r>
            <a:r>
              <a:rPr lang="en-US" sz="3400" spc="13" strike="noStrike" u="none">
                <a:solidFill>
                  <a:srgbClr val="070404"/>
                </a:solidFill>
                <a:latin typeface="Poppins"/>
                <a:ea typeface="Poppins"/>
                <a:cs typeface="Poppins"/>
                <a:sym typeface="Poppins"/>
              </a:rPr>
              <a:t>is pro</a:t>
            </a:r>
            <a:r>
              <a:rPr lang="en-US" sz="3400" spc="13" strike="noStrike" u="none">
                <a:solidFill>
                  <a:srgbClr val="070404"/>
                </a:solidFill>
                <a:latin typeface="Poppins"/>
                <a:ea typeface="Poppins"/>
                <a:cs typeface="Poppins"/>
                <a:sym typeface="Poppins"/>
              </a:rPr>
              <a:t>je</a:t>
            </a:r>
            <a:r>
              <a:rPr lang="en-US" sz="3400" spc="13" strike="noStrike" u="none">
                <a:solidFill>
                  <a:srgbClr val="070404"/>
                </a:solidFill>
                <a:latin typeface="Poppins"/>
                <a:ea typeface="Poppins"/>
                <a:cs typeface="Poppins"/>
                <a:sym typeface="Poppins"/>
              </a:rPr>
              <a:t>c</a:t>
            </a:r>
            <a:r>
              <a:rPr lang="en-US" sz="3400" spc="13" strike="noStrike" u="none">
                <a:solidFill>
                  <a:srgbClr val="070404"/>
                </a:solidFill>
                <a:latin typeface="Poppins"/>
                <a:ea typeface="Poppins"/>
                <a:cs typeface="Poppins"/>
                <a:sym typeface="Poppins"/>
              </a:rPr>
              <a:t>t d</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mon</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trate</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 a</a:t>
            </a:r>
            <a:r>
              <a:rPr lang="en-US" sz="3400" spc="13" strike="noStrike" u="none">
                <a:solidFill>
                  <a:srgbClr val="070404"/>
                </a:solidFill>
                <a:latin typeface="Poppins"/>
                <a:ea typeface="Poppins"/>
                <a:cs typeface="Poppins"/>
                <a:sym typeface="Poppins"/>
              </a:rPr>
              <a:t>n e</a:t>
            </a:r>
            <a:r>
              <a:rPr lang="en-US" sz="3400" spc="13" strike="noStrike" u="none">
                <a:solidFill>
                  <a:srgbClr val="070404"/>
                </a:solidFill>
                <a:latin typeface="Poppins"/>
                <a:ea typeface="Poppins"/>
                <a:cs typeface="Poppins"/>
                <a:sym typeface="Poppins"/>
              </a:rPr>
              <a:t>ffective AI-b</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sed g</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patial</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segment</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tio</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 pipe</a:t>
            </a:r>
            <a:r>
              <a:rPr lang="en-US" sz="3400" spc="13" strike="noStrike" u="none">
                <a:solidFill>
                  <a:srgbClr val="070404"/>
                </a:solidFill>
                <a:latin typeface="Poppins"/>
                <a:ea typeface="Poppins"/>
                <a:cs typeface="Poppins"/>
                <a:sym typeface="Poppins"/>
              </a:rPr>
              <a:t>lin</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f</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r identi</a:t>
            </a:r>
            <a:r>
              <a:rPr lang="en-US" sz="3400" spc="13" strike="noStrike" u="none">
                <a:solidFill>
                  <a:srgbClr val="070404"/>
                </a:solidFill>
                <a:latin typeface="Poppins"/>
                <a:ea typeface="Poppins"/>
                <a:cs typeface="Poppins"/>
                <a:sym typeface="Poppins"/>
              </a:rPr>
              <a:t>f</a:t>
            </a:r>
            <a:r>
              <a:rPr lang="en-US" sz="3400" spc="13" strike="noStrike" u="none">
                <a:solidFill>
                  <a:srgbClr val="070404"/>
                </a:solidFill>
                <a:latin typeface="Poppins"/>
                <a:ea typeface="Poppins"/>
                <a:cs typeface="Poppins"/>
                <a:sym typeface="Poppins"/>
              </a:rPr>
              <a:t>ying</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rura</a:t>
            </a:r>
            <a:r>
              <a:rPr lang="en-US" sz="3400" spc="13" strike="noStrike" u="none">
                <a:solidFill>
                  <a:srgbClr val="070404"/>
                </a:solidFill>
                <a:latin typeface="Poppins"/>
                <a:ea typeface="Poppins"/>
                <a:cs typeface="Poppins"/>
                <a:sym typeface="Poppins"/>
              </a:rPr>
              <a:t>l</a:t>
            </a:r>
            <a:r>
              <a:rPr lang="en-US" sz="3400" spc="13" strike="noStrike" u="none">
                <a:solidFill>
                  <a:srgbClr val="070404"/>
                </a:solidFill>
                <a:latin typeface="Poppins"/>
                <a:ea typeface="Poppins"/>
                <a:cs typeface="Poppins"/>
                <a:sym typeface="Poppins"/>
              </a:rPr>
              <a:t> infr</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st</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uctur</a:t>
            </a:r>
            <a:r>
              <a:rPr lang="en-US" sz="3400" spc="13" strike="noStrike" u="none">
                <a:solidFill>
                  <a:srgbClr val="070404"/>
                </a:solidFill>
                <a:latin typeface="Poppins"/>
                <a:ea typeface="Poppins"/>
                <a:cs typeface="Poppins"/>
                <a:sym typeface="Poppins"/>
              </a:rPr>
              <a:t>e </a:t>
            </a:r>
            <a:r>
              <a:rPr lang="en-US" sz="3400" spc="13" strike="noStrike" u="none">
                <a:solidFill>
                  <a:srgbClr val="070404"/>
                </a:solidFill>
                <a:latin typeface="Poppins"/>
                <a:ea typeface="Poppins"/>
                <a:cs typeface="Poppins"/>
                <a:sym typeface="Poppins"/>
              </a:rPr>
              <a:t>from or</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hopho</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 imager</a:t>
            </a:r>
            <a:r>
              <a:rPr lang="en-US" sz="3400" spc="13" strike="noStrike" u="none">
                <a:solidFill>
                  <a:srgbClr val="070404"/>
                </a:solidFill>
                <a:latin typeface="Poppins"/>
                <a:ea typeface="Poppins"/>
                <a:cs typeface="Poppins"/>
                <a:sym typeface="Poppins"/>
              </a:rPr>
              <a:t>y.</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By</a:t>
            </a:r>
            <a:r>
              <a:rPr lang="en-US" sz="3400" spc="13" strike="noStrike" u="none">
                <a:solidFill>
                  <a:srgbClr val="070404"/>
                </a:solidFill>
                <a:latin typeface="Poppins"/>
                <a:ea typeface="Poppins"/>
                <a:cs typeface="Poppins"/>
                <a:sym typeface="Poppins"/>
              </a:rPr>
              <a:t> lev</a:t>
            </a:r>
            <a:r>
              <a:rPr lang="en-US" sz="3400" spc="13" strike="noStrike" u="none">
                <a:solidFill>
                  <a:srgbClr val="070404"/>
                </a:solidFill>
                <a:latin typeface="Poppins"/>
                <a:ea typeface="Poppins"/>
                <a:cs typeface="Poppins"/>
                <a:sym typeface="Poppins"/>
              </a:rPr>
              <a:t>erag</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g</a:t>
            </a:r>
            <a:r>
              <a:rPr lang="en-US" sz="3400" spc="13" strike="noStrike" u="none">
                <a:solidFill>
                  <a:srgbClr val="070404"/>
                </a:solidFill>
                <a:latin typeface="Poppins"/>
                <a:ea typeface="Poppins"/>
                <a:cs typeface="Poppins"/>
                <a:sym typeface="Poppins"/>
              </a:rPr>
              <a:t> D</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epLabV3+</a:t>
            </a:r>
            <a:r>
              <a:rPr lang="en-US" sz="3400" spc="13" strike="noStrike" u="none">
                <a:solidFill>
                  <a:srgbClr val="070404"/>
                </a:solidFill>
                <a:latin typeface="Poppins"/>
                <a:ea typeface="Poppins"/>
                <a:cs typeface="Poppins"/>
                <a:sym typeface="Poppins"/>
              </a:rPr>
              <a:t> with </a:t>
            </a:r>
            <a:r>
              <a:rPr lang="en-US" sz="3400" spc="13" strike="noStrike" u="none">
                <a:solidFill>
                  <a:srgbClr val="070404"/>
                </a:solidFill>
                <a:latin typeface="Poppins"/>
                <a:ea typeface="Poppins"/>
                <a:cs typeface="Poppins"/>
                <a:sym typeface="Poppins"/>
              </a:rPr>
              <a:t>mult</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cal</a:t>
            </a:r>
            <a:r>
              <a:rPr lang="en-US" sz="3400" spc="13" strike="noStrike" u="none">
                <a:solidFill>
                  <a:srgbClr val="070404"/>
                </a:solidFill>
                <a:latin typeface="Poppins"/>
                <a:ea typeface="Poppins"/>
                <a:cs typeface="Poppins"/>
                <a:sym typeface="Poppins"/>
              </a:rPr>
              <a:t>e </a:t>
            </a:r>
            <a:r>
              <a:rPr lang="en-US" sz="3400" spc="13" strike="noStrike" u="none">
                <a:solidFill>
                  <a:srgbClr val="070404"/>
                </a:solidFill>
                <a:latin typeface="Poppins"/>
                <a:ea typeface="Poppins"/>
                <a:cs typeface="Poppins"/>
                <a:sym typeface="Poppins"/>
              </a:rPr>
              <a:t>featu</a:t>
            </a:r>
            <a:r>
              <a:rPr lang="en-US" sz="3400" spc="13" strike="noStrike" u="none">
                <a:solidFill>
                  <a:srgbClr val="070404"/>
                </a:solidFill>
                <a:latin typeface="Poppins"/>
                <a:ea typeface="Poppins"/>
                <a:cs typeface="Poppins"/>
                <a:sym typeface="Poppins"/>
              </a:rPr>
              <a:t>re</a:t>
            </a:r>
            <a:r>
              <a:rPr lang="en-US" sz="3400" spc="13" strike="noStrike" u="none">
                <a:solidFill>
                  <a:srgbClr val="070404"/>
                </a:solidFill>
                <a:latin typeface="Poppins"/>
                <a:ea typeface="Poppins"/>
                <a:cs typeface="Poppins"/>
                <a:sym typeface="Poppins"/>
              </a:rPr>
              <a:t> ext</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c</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n </a:t>
            </a:r>
            <a:r>
              <a:rPr lang="en-US" sz="3400" spc="13" strike="noStrike" u="none">
                <a:solidFill>
                  <a:srgbClr val="070404"/>
                </a:solidFill>
                <a:latin typeface="Poppins"/>
                <a:ea typeface="Poppins"/>
                <a:cs typeface="Poppins"/>
                <a:sym typeface="Poppins"/>
              </a:rPr>
              <a:t>and r</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f</a:t>
            </a:r>
            <a:r>
              <a:rPr lang="en-US" sz="3400" spc="13" strike="noStrike" u="none">
                <a:solidFill>
                  <a:srgbClr val="070404"/>
                </a:solidFill>
                <a:latin typeface="Poppins"/>
                <a:ea typeface="Poppins"/>
                <a:cs typeface="Poppins"/>
                <a:sym typeface="Poppins"/>
              </a:rPr>
              <a:t>ined de</a:t>
            </a:r>
            <a:r>
              <a:rPr lang="en-US" sz="3400" spc="13" strike="noStrike" u="none">
                <a:solidFill>
                  <a:srgbClr val="070404"/>
                </a:solidFill>
                <a:latin typeface="Poppins"/>
                <a:ea typeface="Poppins"/>
                <a:cs typeface="Poppins"/>
                <a:sym typeface="Poppins"/>
              </a:rPr>
              <a:t>cod</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g</a:t>
            </a:r>
            <a:r>
              <a:rPr lang="en-US" sz="3400" spc="13" strike="noStrike" u="none">
                <a:solidFill>
                  <a:srgbClr val="070404"/>
                </a:solidFill>
                <a:latin typeface="Poppins"/>
                <a:ea typeface="Poppins"/>
                <a:cs typeface="Poppins"/>
                <a:sym typeface="Poppins"/>
              </a:rPr>
              <a:t>,</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the sy</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m </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chieve</a:t>
            </a:r>
            <a:r>
              <a:rPr lang="en-US" sz="3400" spc="13" strike="noStrike" u="none">
                <a:solidFill>
                  <a:srgbClr val="070404"/>
                </a:solidFill>
                <a:latin typeface="Poppins"/>
                <a:ea typeface="Poppins"/>
                <a:cs typeface="Poppins"/>
                <a:sym typeface="Poppins"/>
              </a:rPr>
              <a:t>s a</a:t>
            </a:r>
            <a:r>
              <a:rPr lang="en-US" sz="3400" spc="13" strike="noStrike" u="none">
                <a:solidFill>
                  <a:srgbClr val="070404"/>
                </a:solidFill>
                <a:latin typeface="Poppins"/>
                <a:ea typeface="Poppins"/>
                <a:cs typeface="Poppins"/>
                <a:sym typeface="Poppins"/>
              </a:rPr>
              <a:t>ccurate pixel-level class</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fica</a:t>
            </a:r>
            <a:r>
              <a:rPr lang="en-US" sz="3400" spc="13" strike="noStrike" u="none">
                <a:solidFill>
                  <a:srgbClr val="070404"/>
                </a:solidFill>
                <a:latin typeface="Poppins"/>
                <a:ea typeface="Poppins"/>
                <a:cs typeface="Poppins"/>
                <a:sym typeface="Poppins"/>
              </a:rPr>
              <a:t>tion of </a:t>
            </a:r>
            <a:r>
              <a:rPr lang="en-US" sz="3400" spc="13" strike="noStrike" u="none">
                <a:solidFill>
                  <a:srgbClr val="070404"/>
                </a:solidFill>
                <a:latin typeface="Poppins"/>
                <a:ea typeface="Poppins"/>
                <a:cs typeface="Poppins"/>
                <a:sym typeface="Poppins"/>
              </a:rPr>
              <a:t>k</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y</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elements su</a:t>
            </a:r>
            <a:r>
              <a:rPr lang="en-US" sz="3400" spc="13" strike="noStrike" u="none">
                <a:solidFill>
                  <a:srgbClr val="070404"/>
                </a:solidFill>
                <a:latin typeface="Poppins"/>
                <a:ea typeface="Poppins"/>
                <a:cs typeface="Poppins"/>
                <a:sym typeface="Poppins"/>
              </a:rPr>
              <a:t>c</a:t>
            </a:r>
            <a:r>
              <a:rPr lang="en-US" sz="3400" spc="13" strike="noStrike" u="none">
                <a:solidFill>
                  <a:srgbClr val="070404"/>
                </a:solidFill>
                <a:latin typeface="Poppins"/>
                <a:ea typeface="Poppins"/>
                <a:cs typeface="Poppins"/>
                <a:sym typeface="Poppins"/>
              </a:rPr>
              <a:t>h </a:t>
            </a:r>
            <a:r>
              <a:rPr lang="en-US" sz="3400" spc="13" strike="noStrike" u="none">
                <a:solidFill>
                  <a:srgbClr val="070404"/>
                </a:solidFill>
                <a:latin typeface="Poppins"/>
                <a:ea typeface="Poppins"/>
                <a:cs typeface="Poppins"/>
                <a:sym typeface="Poppins"/>
              </a:rPr>
              <a:t>as</a:t>
            </a:r>
            <a:r>
              <a:rPr lang="en-US" sz="3400" spc="13" strike="noStrike" u="none">
                <a:solidFill>
                  <a:srgbClr val="070404"/>
                </a:solidFill>
                <a:latin typeface="Poppins"/>
                <a:ea typeface="Poppins"/>
                <a:cs typeface="Poppins"/>
                <a:sym typeface="Poppins"/>
              </a:rPr>
              <a:t> road</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 roo</a:t>
            </a:r>
            <a:r>
              <a:rPr lang="en-US" sz="3400" spc="13" strike="noStrike" u="none">
                <a:solidFill>
                  <a:srgbClr val="070404"/>
                </a:solidFill>
                <a:latin typeface="Poppins"/>
                <a:ea typeface="Poppins"/>
                <a:cs typeface="Poppins"/>
                <a:sym typeface="Poppins"/>
              </a:rPr>
              <a:t>f</a:t>
            </a:r>
            <a:r>
              <a:rPr lang="en-US" sz="3400" spc="13" strike="noStrike" u="none">
                <a:solidFill>
                  <a:srgbClr val="070404"/>
                </a:solidFill>
                <a:latin typeface="Poppins"/>
                <a:ea typeface="Poppins"/>
                <a:cs typeface="Poppins"/>
                <a:sym typeface="Poppins"/>
              </a:rPr>
              <a:t>s, and w</a:t>
            </a:r>
            <a:r>
              <a:rPr lang="en-US" sz="3400" spc="13" strike="noStrike" u="none">
                <a:solidFill>
                  <a:srgbClr val="070404"/>
                </a:solidFill>
                <a:latin typeface="Poppins"/>
                <a:ea typeface="Poppins"/>
                <a:cs typeface="Poppins"/>
                <a:sym typeface="Poppins"/>
              </a:rPr>
              <a:t>at</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 bodi</a:t>
            </a:r>
            <a:r>
              <a:rPr lang="en-US" sz="3400" spc="13" strike="noStrike" u="none">
                <a:solidFill>
                  <a:srgbClr val="070404"/>
                </a:solidFill>
                <a:latin typeface="Poppins"/>
                <a:ea typeface="Poppins"/>
                <a:cs typeface="Poppins"/>
                <a:sym typeface="Poppins"/>
              </a:rPr>
              <a:t>es</a:t>
            </a:r>
            <a:r>
              <a:rPr lang="en-US" sz="3400" spc="13" strike="noStrike" u="none">
                <a:solidFill>
                  <a:srgbClr val="070404"/>
                </a:solidFill>
                <a:latin typeface="Poppins"/>
                <a:ea typeface="Poppins"/>
                <a:cs typeface="Poppins"/>
                <a:sym typeface="Poppins"/>
              </a:rPr>
              <a:t>. T</a:t>
            </a:r>
            <a:r>
              <a:rPr lang="en-US" sz="3400" spc="13" strike="noStrike" u="none">
                <a:solidFill>
                  <a:srgbClr val="070404"/>
                </a:solidFill>
                <a:latin typeface="Poppins"/>
                <a:ea typeface="Poppins"/>
                <a:cs typeface="Poppins"/>
                <a:sym typeface="Poppins"/>
              </a:rPr>
              <a:t>he</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nte</a:t>
            </a:r>
            <a:r>
              <a:rPr lang="en-US" sz="3400" spc="13" strike="noStrike" u="none">
                <a:solidFill>
                  <a:srgbClr val="070404"/>
                </a:solidFill>
                <a:latin typeface="Poppins"/>
                <a:ea typeface="Poppins"/>
                <a:cs typeface="Poppins"/>
                <a:sym typeface="Poppins"/>
              </a:rPr>
              <a:t>g</a:t>
            </a:r>
            <a:r>
              <a:rPr lang="en-US" sz="3400" spc="13" strike="noStrike" u="none">
                <a:solidFill>
                  <a:srgbClr val="070404"/>
                </a:solidFill>
                <a:latin typeface="Poppins"/>
                <a:ea typeface="Poppins"/>
                <a:cs typeface="Poppins"/>
                <a:sym typeface="Poppins"/>
              </a:rPr>
              <a:t>ra</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ion</a:t>
            </a:r>
            <a:r>
              <a:rPr lang="en-US" sz="3400" spc="13" strike="noStrike" u="none">
                <a:solidFill>
                  <a:srgbClr val="070404"/>
                </a:solidFill>
                <a:latin typeface="Poppins"/>
                <a:ea typeface="Poppins"/>
                <a:cs typeface="Poppins"/>
                <a:sym typeface="Poppins"/>
              </a:rPr>
              <a:t> o</a:t>
            </a:r>
            <a:r>
              <a:rPr lang="en-US" sz="3400" spc="13" strike="noStrike" u="none">
                <a:solidFill>
                  <a:srgbClr val="070404"/>
                </a:solidFill>
                <a:latin typeface="Poppins"/>
                <a:ea typeface="Poppins"/>
                <a:cs typeface="Poppins"/>
                <a:sym typeface="Poppins"/>
              </a:rPr>
              <a:t>f pr</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pr</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cess</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ng, </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ffici</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 training</a:t>
            </a:r>
            <a:r>
              <a:rPr lang="en-US" sz="3400" spc="13" strike="noStrike" u="none">
                <a:solidFill>
                  <a:srgbClr val="070404"/>
                </a:solidFill>
                <a:latin typeface="Poppins"/>
                <a:ea typeface="Poppins"/>
                <a:cs typeface="Poppins"/>
                <a:sym typeface="Poppins"/>
              </a:rPr>
              <a:t> s</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egies,</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and p</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st</a:t>
            </a:r>
            <a:r>
              <a:rPr lang="en-US" sz="3400" spc="13" strike="noStrike" u="none">
                <a:solidFill>
                  <a:srgbClr val="070404"/>
                </a:solidFill>
                <a:latin typeface="Poppins"/>
                <a:ea typeface="Poppins"/>
                <a:cs typeface="Poppins"/>
                <a:sym typeface="Poppins"/>
              </a:rPr>
              <a:t>-</a:t>
            </a:r>
            <a:r>
              <a:rPr lang="en-US" sz="3400" spc="13" strike="noStrike" u="none">
                <a:solidFill>
                  <a:srgbClr val="070404"/>
                </a:solidFill>
                <a:latin typeface="Poppins"/>
                <a:ea typeface="Poppins"/>
                <a:cs typeface="Poppins"/>
                <a:sym typeface="Poppins"/>
              </a:rPr>
              <a:t>p</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oc</a:t>
            </a:r>
            <a:r>
              <a:rPr lang="en-US" sz="3400" spc="13" strike="noStrike" u="none">
                <a:solidFill>
                  <a:srgbClr val="070404"/>
                </a:solidFill>
                <a:latin typeface="Poppins"/>
                <a:ea typeface="Poppins"/>
                <a:cs typeface="Poppins"/>
                <a:sym typeface="Poppins"/>
              </a:rPr>
              <a:t>es</a:t>
            </a:r>
            <a:r>
              <a:rPr lang="en-US" sz="3400" spc="13" strike="noStrike" u="none">
                <a:solidFill>
                  <a:srgbClr val="070404"/>
                </a:solidFill>
                <a:latin typeface="Poppins"/>
                <a:ea typeface="Poppins"/>
                <a:cs typeface="Poppins"/>
                <a:sym typeface="Poppins"/>
              </a:rPr>
              <a:t>sing ens</a:t>
            </a:r>
            <a:r>
              <a:rPr lang="en-US" sz="3400" spc="13" strike="noStrike" u="none">
                <a:solidFill>
                  <a:srgbClr val="070404"/>
                </a:solidFill>
                <a:latin typeface="Poppins"/>
                <a:ea typeface="Poppins"/>
                <a:cs typeface="Poppins"/>
                <a:sym typeface="Poppins"/>
              </a:rPr>
              <a:t>ure</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el</a:t>
            </a:r>
            <a:r>
              <a:rPr lang="en-US" sz="3400" spc="13" strike="noStrike" u="none">
                <a:solidFill>
                  <a:srgbClr val="070404"/>
                </a:solidFill>
                <a:latin typeface="Poppins"/>
                <a:ea typeface="Poppins"/>
                <a:cs typeface="Poppins"/>
                <a:sym typeface="Poppins"/>
              </a:rPr>
              <a:t>iabl</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 a</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d h</a:t>
            </a:r>
            <a:r>
              <a:rPr lang="en-US" sz="3400" spc="13" strike="noStrike" u="none">
                <a:solidFill>
                  <a:srgbClr val="070404"/>
                </a:solidFill>
                <a:latin typeface="Poppins"/>
                <a:ea typeface="Poppins"/>
                <a:cs typeface="Poppins"/>
                <a:sym typeface="Poppins"/>
              </a:rPr>
              <a:t>igh-</a:t>
            </a:r>
            <a:r>
              <a:rPr lang="en-US" sz="3400" spc="13" strike="noStrike" u="none">
                <a:solidFill>
                  <a:srgbClr val="070404"/>
                </a:solidFill>
                <a:latin typeface="Poppins"/>
                <a:ea typeface="Poppins"/>
                <a:cs typeface="Poppins"/>
                <a:sym typeface="Poppins"/>
              </a:rPr>
              <a:t>qu</a:t>
            </a:r>
            <a:r>
              <a:rPr lang="en-US" sz="3400" spc="13" strike="noStrike" u="none">
                <a:solidFill>
                  <a:srgbClr val="070404"/>
                </a:solidFill>
                <a:latin typeface="Poppins"/>
                <a:ea typeface="Poppins"/>
                <a:cs typeface="Poppins"/>
                <a:sym typeface="Poppins"/>
              </a:rPr>
              <a:t>a</a:t>
            </a:r>
            <a:r>
              <a:rPr lang="en-US" sz="3400" spc="13" strike="noStrike" u="none">
                <a:solidFill>
                  <a:srgbClr val="070404"/>
                </a:solidFill>
                <a:latin typeface="Poppins"/>
                <a:ea typeface="Poppins"/>
                <a:cs typeface="Poppins"/>
                <a:sym typeface="Poppins"/>
              </a:rPr>
              <a:t>lity</a:t>
            </a:r>
            <a:r>
              <a:rPr lang="en-US" sz="3400" spc="13" strike="noStrike" u="none">
                <a:solidFill>
                  <a:srgbClr val="070404"/>
                </a:solidFill>
                <a:latin typeface="Poppins"/>
                <a:ea typeface="Poppins"/>
                <a:cs typeface="Poppins"/>
                <a:sym typeface="Poppins"/>
              </a:rPr>
              <a:t> o</a:t>
            </a:r>
            <a:r>
              <a:rPr lang="en-US" sz="3400" spc="13" strike="noStrike" u="none">
                <a:solidFill>
                  <a:srgbClr val="070404"/>
                </a:solidFill>
                <a:latin typeface="Poppins"/>
                <a:ea typeface="Poppins"/>
                <a:cs typeface="Poppins"/>
                <a:sym typeface="Poppins"/>
              </a:rPr>
              <a:t>utputs. Ov</a:t>
            </a:r>
            <a:r>
              <a:rPr lang="en-US" sz="3400" spc="13" strike="noStrike" u="none">
                <a:solidFill>
                  <a:srgbClr val="070404"/>
                </a:solidFill>
                <a:latin typeface="Poppins"/>
                <a:ea typeface="Poppins"/>
                <a:cs typeface="Poppins"/>
                <a:sym typeface="Poppins"/>
              </a:rPr>
              <a:t>e</a:t>
            </a:r>
            <a:r>
              <a:rPr lang="en-US" sz="3400" spc="13" strike="noStrike" u="none">
                <a:solidFill>
                  <a:srgbClr val="070404"/>
                </a:solidFill>
                <a:latin typeface="Poppins"/>
                <a:ea typeface="Poppins"/>
                <a:cs typeface="Poppins"/>
                <a:sym typeface="Poppins"/>
              </a:rPr>
              <a:t>ral</a:t>
            </a:r>
            <a:r>
              <a:rPr lang="en-US" sz="3400" spc="13" strike="noStrike" u="none">
                <a:solidFill>
                  <a:srgbClr val="070404"/>
                </a:solidFill>
                <a:latin typeface="Poppins"/>
                <a:ea typeface="Poppins"/>
                <a:cs typeface="Poppins"/>
                <a:sym typeface="Poppins"/>
              </a:rPr>
              <a:t>l</a:t>
            </a:r>
            <a:r>
              <a:rPr lang="en-US" sz="3400" spc="13" strike="noStrike" u="none">
                <a:solidFill>
                  <a:srgbClr val="070404"/>
                </a:solidFill>
                <a:latin typeface="Poppins"/>
                <a:ea typeface="Poppins"/>
                <a:cs typeface="Poppins"/>
                <a:sym typeface="Poppins"/>
              </a:rPr>
              <a:t>,</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the</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appr</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ach</a:t>
            </a:r>
            <a:r>
              <a:rPr lang="en-US" sz="3400" spc="13" strike="noStrike" u="none">
                <a:solidFill>
                  <a:srgbClr val="070404"/>
                </a:solidFill>
                <a:latin typeface="Poppins"/>
                <a:ea typeface="Poppins"/>
                <a:cs typeface="Poppins"/>
                <a:sym typeface="Poppins"/>
              </a:rPr>
              <a:t> </a:t>
            </a:r>
            <a:r>
              <a:rPr lang="en-US" sz="3400" spc="13" strike="noStrike" u="none">
                <a:solidFill>
                  <a:srgbClr val="070404"/>
                </a:solidFill>
                <a:latin typeface="Poppins"/>
                <a:ea typeface="Poppins"/>
                <a:cs typeface="Poppins"/>
                <a:sym typeface="Poppins"/>
              </a:rPr>
              <a:t>p</a:t>
            </a:r>
            <a:r>
              <a:rPr lang="en-US" sz="3400" spc="13" strike="noStrike" u="none">
                <a:solidFill>
                  <a:srgbClr val="070404"/>
                </a:solidFill>
                <a:latin typeface="Poppins"/>
                <a:ea typeface="Poppins"/>
                <a:cs typeface="Poppins"/>
                <a:sym typeface="Poppins"/>
              </a:rPr>
              <a:t>r</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vide</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 a</a:t>
            </a:r>
            <a:r>
              <a:rPr lang="en-US" sz="3400" spc="13" strike="noStrike" u="none">
                <a:solidFill>
                  <a:srgbClr val="070404"/>
                </a:solidFill>
                <a:latin typeface="Poppins"/>
                <a:ea typeface="Poppins"/>
                <a:cs typeface="Poppins"/>
                <a:sym typeface="Poppins"/>
              </a:rPr>
              <a:t> s</a:t>
            </a:r>
            <a:r>
              <a:rPr lang="en-US" sz="3400" spc="13" strike="noStrike" u="none">
                <a:solidFill>
                  <a:srgbClr val="070404"/>
                </a:solidFill>
                <a:latin typeface="Poppins"/>
                <a:ea typeface="Poppins"/>
                <a:cs typeface="Poppins"/>
                <a:sym typeface="Poppins"/>
              </a:rPr>
              <a:t>ca</a:t>
            </a:r>
            <a:r>
              <a:rPr lang="en-US" sz="3400" spc="13" strike="noStrike" u="none">
                <a:solidFill>
                  <a:srgbClr val="070404"/>
                </a:solidFill>
                <a:latin typeface="Poppins"/>
                <a:ea typeface="Poppins"/>
                <a:cs typeface="Poppins"/>
                <a:sym typeface="Poppins"/>
              </a:rPr>
              <a:t>l</a:t>
            </a:r>
            <a:r>
              <a:rPr lang="en-US" sz="3400" spc="13" strike="noStrike" u="none">
                <a:solidFill>
                  <a:srgbClr val="070404"/>
                </a:solidFill>
                <a:latin typeface="Poppins"/>
                <a:ea typeface="Poppins"/>
                <a:cs typeface="Poppins"/>
                <a:sym typeface="Poppins"/>
              </a:rPr>
              <a:t>able s</a:t>
            </a:r>
            <a:r>
              <a:rPr lang="en-US" sz="3400" spc="13" strike="noStrike" u="none">
                <a:solidFill>
                  <a:srgbClr val="070404"/>
                </a:solidFill>
                <a:latin typeface="Poppins"/>
                <a:ea typeface="Poppins"/>
                <a:cs typeface="Poppins"/>
                <a:sym typeface="Poppins"/>
              </a:rPr>
              <a:t>olu</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ion</a:t>
            </a:r>
            <a:r>
              <a:rPr lang="en-US" sz="3400" spc="13" strike="noStrike" u="none">
                <a:solidFill>
                  <a:srgbClr val="070404"/>
                </a:solidFill>
                <a:latin typeface="Poppins"/>
                <a:ea typeface="Poppins"/>
                <a:cs typeface="Poppins"/>
                <a:sym typeface="Poppins"/>
              </a:rPr>
              <a:t> for a</a:t>
            </a:r>
            <a:r>
              <a:rPr lang="en-US" sz="3400" spc="13" strike="noStrike" u="none">
                <a:solidFill>
                  <a:srgbClr val="070404"/>
                </a:solidFill>
                <a:latin typeface="Poppins"/>
                <a:ea typeface="Poppins"/>
                <a:cs typeface="Poppins"/>
                <a:sym typeface="Poppins"/>
              </a:rPr>
              <a:t>ut</a:t>
            </a:r>
            <a:r>
              <a:rPr lang="en-US" sz="3400" spc="13" strike="noStrike" u="none">
                <a:solidFill>
                  <a:srgbClr val="070404"/>
                </a:solidFill>
                <a:latin typeface="Poppins"/>
                <a:ea typeface="Poppins"/>
                <a:cs typeface="Poppins"/>
                <a:sym typeface="Poppins"/>
              </a:rPr>
              <a:t>o</a:t>
            </a:r>
            <a:r>
              <a:rPr lang="en-US" sz="3400" spc="13" strike="noStrike" u="none">
                <a:solidFill>
                  <a:srgbClr val="070404"/>
                </a:solidFill>
                <a:latin typeface="Poppins"/>
                <a:ea typeface="Poppins"/>
                <a:cs typeface="Poppins"/>
                <a:sym typeface="Poppins"/>
              </a:rPr>
              <a:t>mate</a:t>
            </a:r>
            <a:r>
              <a:rPr lang="en-US" sz="3400" spc="13" strike="noStrike" u="none">
                <a:solidFill>
                  <a:srgbClr val="070404"/>
                </a:solidFill>
                <a:latin typeface="Poppins"/>
                <a:ea typeface="Poppins"/>
                <a:cs typeface="Poppins"/>
                <a:sym typeface="Poppins"/>
              </a:rPr>
              <a:t>d in</a:t>
            </a:r>
            <a:r>
              <a:rPr lang="en-US" sz="3400" spc="13" strike="noStrike" u="none">
                <a:solidFill>
                  <a:srgbClr val="070404"/>
                </a:solidFill>
                <a:latin typeface="Poppins"/>
                <a:ea typeface="Poppins"/>
                <a:cs typeface="Poppins"/>
                <a:sym typeface="Poppins"/>
              </a:rPr>
              <a:t>f</a:t>
            </a:r>
            <a:r>
              <a:rPr lang="en-US" sz="3400" spc="13" strike="noStrike" u="none">
                <a:solidFill>
                  <a:srgbClr val="070404"/>
                </a:solidFill>
                <a:latin typeface="Poppins"/>
                <a:ea typeface="Poppins"/>
                <a:cs typeface="Poppins"/>
                <a:sym typeface="Poppins"/>
              </a:rPr>
              <a:t>ra</a:t>
            </a:r>
            <a:r>
              <a:rPr lang="en-US" sz="3400" spc="13" strike="noStrike" u="none">
                <a:solidFill>
                  <a:srgbClr val="070404"/>
                </a:solidFill>
                <a:latin typeface="Poppins"/>
                <a:ea typeface="Poppins"/>
                <a:cs typeface="Poppins"/>
                <a:sym typeface="Poppins"/>
              </a:rPr>
              <a:t>s</a:t>
            </a:r>
            <a:r>
              <a:rPr lang="en-US" sz="3400" spc="13" strike="noStrike" u="none">
                <a:solidFill>
                  <a:srgbClr val="070404"/>
                </a:solidFill>
                <a:latin typeface="Poppins"/>
                <a:ea typeface="Poppins"/>
                <a:cs typeface="Poppins"/>
                <a:sym typeface="Poppins"/>
              </a:rPr>
              <a:t>t</a:t>
            </a:r>
            <a:r>
              <a:rPr lang="en-US" sz="3400" spc="13" strike="noStrike" u="none">
                <a:solidFill>
                  <a:srgbClr val="070404"/>
                </a:solidFill>
                <a:latin typeface="Poppins"/>
                <a:ea typeface="Poppins"/>
                <a:cs typeface="Poppins"/>
                <a:sym typeface="Poppins"/>
              </a:rPr>
              <a:t>ructure mapp</a:t>
            </a:r>
            <a:r>
              <a:rPr lang="en-US" sz="3400" spc="13" strike="noStrike" u="none">
                <a:solidFill>
                  <a:srgbClr val="070404"/>
                </a:solidFill>
                <a:latin typeface="Poppins"/>
                <a:ea typeface="Poppins"/>
                <a:cs typeface="Poppins"/>
                <a:sym typeface="Poppins"/>
              </a:rPr>
              <a:t>i</a:t>
            </a:r>
            <a:r>
              <a:rPr lang="en-US" sz="3400" spc="13" strike="noStrike" u="none">
                <a:solidFill>
                  <a:srgbClr val="070404"/>
                </a:solidFill>
                <a:latin typeface="Poppins"/>
                <a:ea typeface="Poppins"/>
                <a:cs typeface="Poppins"/>
                <a:sym typeface="Poppins"/>
              </a:rPr>
              <a:t>ng a</a:t>
            </a:r>
            <a:r>
              <a:rPr lang="en-US" sz="3400" spc="13" strike="noStrike" u="none">
                <a:solidFill>
                  <a:srgbClr val="070404"/>
                </a:solidFill>
                <a:latin typeface="Poppins"/>
                <a:ea typeface="Poppins"/>
                <a:cs typeface="Poppins"/>
                <a:sym typeface="Poppins"/>
              </a:rPr>
              <a:t>n</a:t>
            </a:r>
            <a:r>
              <a:rPr lang="en-US" sz="3400" spc="13" strike="noStrike" u="none">
                <a:solidFill>
                  <a:srgbClr val="070404"/>
                </a:solidFill>
                <a:latin typeface="Poppins"/>
                <a:ea typeface="Poppins"/>
                <a:cs typeface="Poppins"/>
                <a:sym typeface="Poppins"/>
              </a:rPr>
              <a:t>d analysis.</a:t>
            </a:r>
          </a:p>
        </p:txBody>
      </p:sp>
      <p:sp>
        <p:nvSpPr>
          <p:cNvPr name="Freeform 4" id="4"/>
          <p:cNvSpPr/>
          <p:nvPr/>
        </p:nvSpPr>
        <p:spPr>
          <a:xfrm flipH="false" flipV="false" rot="0">
            <a:off x="15964064" y="556449"/>
            <a:ext cx="1529557" cy="944502"/>
          </a:xfrm>
          <a:custGeom>
            <a:avLst/>
            <a:gdLst/>
            <a:ahLst/>
            <a:cxnLst/>
            <a:rect r="r" b="b" t="t" l="l"/>
            <a:pathLst>
              <a:path h="944502" w="1529557">
                <a:moveTo>
                  <a:pt x="0" y="0"/>
                </a:moveTo>
                <a:lnTo>
                  <a:pt x="1529558" y="0"/>
                </a:lnTo>
                <a:lnTo>
                  <a:pt x="1529558" y="944502"/>
                </a:lnTo>
                <a:lnTo>
                  <a:pt x="0" y="944502"/>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p:cSld>
    <p:bg>
      <p:bgPr>
        <a:solidFill>
          <a:srgbClr val="F2ECE2"/>
        </a:solidFill>
      </p:bgPr>
    </p:bg>
    <p:spTree>
      <p:nvGrpSpPr>
        <p:cNvPr id="1" name=""/>
        <p:cNvGrpSpPr/>
        <p:nvPr/>
      </p:nvGrpSpPr>
      <p:grpSpPr>
        <a:xfrm>
          <a:off x="0" y="0"/>
          <a:ext cx="0" cy="0"/>
          <a:chOff x="0" y="0"/>
          <a:chExt cx="0" cy="0"/>
        </a:xfrm>
      </p:grpSpPr>
      <p:sp>
        <p:nvSpPr>
          <p:cNvPr name="TextBox 2" id="2"/>
          <p:cNvSpPr txBox="true"/>
          <p:nvPr/>
        </p:nvSpPr>
        <p:spPr>
          <a:xfrm rot="0">
            <a:off x="2012771" y="2389388"/>
            <a:ext cx="14262457" cy="2005966"/>
          </a:xfrm>
          <a:prstGeom prst="rect">
            <a:avLst/>
          </a:prstGeom>
        </p:spPr>
        <p:txBody>
          <a:bodyPr anchor="t" rtlCol="false" tIns="0" lIns="0" bIns="0" rIns="0">
            <a:spAutoFit/>
          </a:bodyPr>
          <a:lstStyle/>
          <a:p>
            <a:pPr algn="ctr" marL="0" indent="0" lvl="0">
              <a:lnSpc>
                <a:spcPts val="14280"/>
              </a:lnSpc>
              <a:spcBef>
                <a:spcPct val="0"/>
              </a:spcBef>
            </a:pPr>
            <a:r>
              <a:rPr lang="en-US" b="true" sz="14000">
                <a:solidFill>
                  <a:srgbClr val="000000"/>
                </a:solidFill>
                <a:latin typeface="Poppins Bold"/>
                <a:ea typeface="Poppins Bold"/>
                <a:cs typeface="Poppins Bold"/>
                <a:sym typeface="Poppins Bold"/>
              </a:rPr>
              <a:t>MODEL LINK</a:t>
            </a:r>
          </a:p>
        </p:txBody>
      </p:sp>
      <p:sp>
        <p:nvSpPr>
          <p:cNvPr name="TextBox 3" id="3"/>
          <p:cNvSpPr txBox="true"/>
          <p:nvPr/>
        </p:nvSpPr>
        <p:spPr>
          <a:xfrm rot="0">
            <a:off x="227929" y="6019385"/>
            <a:ext cx="18060071" cy="802005"/>
          </a:xfrm>
          <a:prstGeom prst="rect">
            <a:avLst/>
          </a:prstGeom>
        </p:spPr>
        <p:txBody>
          <a:bodyPr anchor="t" rtlCol="false" tIns="0" lIns="0" bIns="0" rIns="0">
            <a:spAutoFit/>
          </a:bodyPr>
          <a:lstStyle/>
          <a:p>
            <a:pPr algn="ctr">
              <a:lnSpc>
                <a:spcPts val="3060"/>
              </a:lnSpc>
              <a:spcBef>
                <a:spcPct val="0"/>
              </a:spcBef>
            </a:pPr>
            <a:r>
              <a:rPr lang="en-US" b="true" sz="3000" u="sng">
                <a:solidFill>
                  <a:srgbClr val="38B6FF"/>
                </a:solidFill>
                <a:latin typeface="Poppins Bold"/>
                <a:ea typeface="Poppins Bold"/>
                <a:cs typeface="Poppins Bold"/>
                <a:sym typeface="Poppins Bold"/>
              </a:rPr>
              <a:t>https://drive.google.com/drive/folders/13CdjYJoWWGTNg0ZHMIfmZsf_q7d29aU-?usp=sharing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DAHFcH4tuQI</dc:identifier>
  <dcterms:modified xsi:type="dcterms:W3CDTF">2011-08-01T06:04:30Z</dcterms:modified>
  <cp:revision>1</cp:revision>
  <dc:title>IIT GeoSpatial Hackathon - Jashwanth B</dc:title>
</cp:coreProperties>
</file>